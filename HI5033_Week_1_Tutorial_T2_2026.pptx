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926"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students warmly. Introduce yourself, invite brief introductions, and explain that today combines unit orientation, career relevance, setup and a first working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session flow. Ask students to keep their laptops ready because the last part is practical.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familiar examples. Emphasise that a database is not merely a collection of tables; it is a controlled model of a real organisation.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Clarify that earnings are occupation-group medians, not guaranteed graduate salaries. Discuss how database design supports both specialist database roles and wider software/data careers.</a:t>
            </a:r>
          </a:p>
          <a:p>
            <a:endParaRPr/>
          </a:p>
          <a:p>
            <a:r>
              <a:t>[Sources]</a:t>
            </a:r>
          </a:p>
          <a:p>
            <a:r>
              <a:t>- Jobs and Skills Australia, Database and Systems Administrators and ICT Security Specialists, accessed 31 July 2026: https://www.jobsandskills.gov.au/data/occupation-and-industry-profiles/occupations/2621-database-and-systems-administrators-and-ict-security-specialists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the unit to employability: students must reason about data quality and business rules, not only produce syntax.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outcomes in plain language and show that they progress from understanding to evaluation, communication and creation.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students to identify which capability is most important for their intended role.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12-week learning sequence. Explain that Week 1 establishes the vocabulary and tool environment used later.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speculate about test dates. Show students where the assessment folder is located. The published unit outline describes four lab deliverables, while the current T2 key dates page lists two online tests; the current Blackboard instructions govern delivery.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implementation without justification is incomplete, and academic writing without critical comparison is also incomplete.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server versus client clearly: PostgreSQL does the database work; DBeaver is one interface used to communicate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installation if lab permissions allow. Warn students not to forget the postgres password. PostgreSQL 18 is the latest stable major release shown by the official installer page as of July 2026; do not install PostgreSQL 19 beta for class.</a:t>
            </a:r>
          </a:p>
          <a:p>
            <a:endParaRPr/>
          </a:p>
          <a:p>
            <a:r>
              <a:t>[Sources]</a:t>
            </a:r>
          </a:p>
          <a:p>
            <a:r>
              <a:t>- PostgreSQL official Windows download page, accessed 31 July 2026: https://www.postgresql.org/download/windows/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DBeaver is tested on Windows 10+, macOS 11+ and Linux. If a driver download prompt appears during the first connection, allow DBeaver to download the PostgreSQL driver.</a:t>
            </a:r>
          </a:p>
          <a:p>
            <a:endParaRPr/>
          </a:p>
          <a:p>
            <a:r>
              <a:t>[Sources]</a:t>
            </a:r>
          </a:p>
          <a:p>
            <a:r>
              <a:t>- DBeaver Community official download and installation page, accessed 31 July 2026: https://dbeaver.io/download/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Troubleshoot in this order: service running, host/port, username/password, then driver. Ask students to pair up and help check settings without sharing passwords.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 the three entities on the board. Ask why storing unit details repeatedly inside a student row would create duplication and update problems.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Create the database, reconnect to it in DBeaver, open a new SQL editor and execute each statement. Point out PRIMARY KEY, NOT NULL and UNIQUE as business rules enforced by the database.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composite primary key and foreign keys. Ask students what error should occur if an enrolment references a student who does not exist.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Execute the inserts and query. Let students identify aliases, join conditions, selected columns and ordering. Discuss why result belongs to enrolment rather than student or unit.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about 25 minutes. Circulate and ask diagnostic questions rather than immediately correcting syntax. Finish with two students showing a successful constraint failure.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expectations: regular attendance, preparation, independent practice, respectful collaboration, academic integrity and checking Blackboard announcements.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Prioritise the current Blackboard instructions and official documentation. Explain that tutorial websites are supplements and may use a different SQL dialect.</a:t>
            </a:r>
          </a:p>
          <a:p>
            <a:endParaRPr/>
          </a:p>
          <a:p>
            <a:r>
              <a:t>[Sources]</a:t>
            </a:r>
          </a:p>
          <a:p>
            <a:r>
              <a:t>- PostgreSQL documentation: https://www.postgresql.org/docs/</a:t>
            </a:r>
          </a:p>
          <a:p>
            <a:r>
              <a:t>- DBeaver documentation: https://dbeaver.com/docs/dbeaver/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Advise students not to pay for a certification immediately. First build fundamental skills and a demonstrable project. Certification offerings change, so always check official current pages.</a:t>
            </a:r>
          </a:p>
          <a:p>
            <a:endParaRPr/>
          </a:p>
          <a:p>
            <a:r>
              <a:t>[Sources]</a:t>
            </a:r>
          </a:p>
          <a:p>
            <a:r>
              <a:t>- Microsoft Azure Database Administrator Associate, updated 24 April 2026: https://learn.microsoft.com/en-us/credentials/certifications/azure-database-administrator-associate/</a:t>
            </a:r>
          </a:p>
          <a:p>
            <a:r>
              <a:t>- MongoDB Database Administrator Exam: https://learn.mongodb.com/pages/mongodb-associate-database-administrator-exam</a:t>
            </a:r>
          </a:p>
          <a:p>
            <a:r>
              <a:t>- EDB training and certification: https://www.enterprisedb.com/training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as a facilitated Q&amp;A. Do not promise extensions or interpret individual special consideration evidence in class; direct students to the formal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this as general policy guidance only. Encourage students to read the current policy and contact Student Services for individual procedural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Week 1 is primarily orientation and preparation. The short practical example is an early confidence-building demonstration; the formal sequence of tutorial activities begins in Week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PostgreSQL is available in Holmes Institute computer laboratories and can also be installed on personal computers. Avoid relying on the historical database popularity ranking because rankings change; focus on capabilities and industry use.</a:t>
            </a:r>
          </a:p>
          <a:p>
            <a:endParaRPr/>
          </a:p>
          <a:p>
            <a:r>
              <a:t>[Sources]</a:t>
            </a:r>
          </a:p>
          <a:p>
            <a:r>
              <a:t>- PostgreSQL official site: https://www.postgresql.org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server/client distinction using a simple analogy: PostgreSQL is the organised data service; DBeaver is the workspace through which we give instructions and inspect results.</a:t>
            </a:r>
          </a:p>
          <a:p>
            <a:endParaRPr/>
          </a:p>
          <a:p>
            <a:r>
              <a:t>[Sources]</a:t>
            </a:r>
          </a:p>
          <a:p>
            <a:r>
              <a:t>- DBeaver Community: https://dbeaver.io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that students cannot go back after progressing from a question. If an error appears, they must take a screenshot and email Blackboard Helpdesk within the test availability period. The email subject must include student number and HI5033. Connectivity problems, device updates, early submission or failure to follow instructions are not normally grounds for special consideration.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detailed assessment specification and rubric remain authoritative. This workflow explains how to approach the case study but does not replace the attached instructions. Encourage groups to integrate their work continuously rather than divide isolated sections immediately before submission.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live Blackboard group rules allow up to four students, although the generic unit outline describes groups of three or as determined by the coordinator. Students must follow the current Blackboard configuration and instructions.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Encourage groups to keep a simple contribution log and evidence of communication. Clarify that omitting a student from the cover sheet is a serious action and should be based on genuine non-contribution and documented attempts to communicate.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Warn students that Word format is mandatory. Not accepted or penalised submissions include missing/invalid cover sheets, another student's details, photos or handwritten answers, emailed answers, incorrect unit/assessment files, blank documents, invalid referencing, VPN/overseas IP submission, and non-Word formats. Mac Pages users must convert to Word.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students where Subject Content, Student Support, Class Timetable, Assessments, Group FAQs, Group Case Study Instructions, PROQUEST and Subject Contacts appear in Blackboard.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checking that every student knows what to install and where to find official assessment information. Invite final questions and remind them of the Week 2 topic.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51B68BD-9D24-44BD-BF15-0A1722B7C654}"/>
              </a:ext>
            </a:extLst>
          </p:cNvPr>
          <p:cNvSpPr>
            <a:spLocks noGrp="1"/>
          </p:cNvSpPr>
          <p:nvPr/>
        </p:nvSpPr>
        <p:spPr>
          <a:xfrm>
            <a:off x="666750" y="685800"/>
            <a:ext cx="2857500" cy="381000"/>
          </a:xfrm>
          <a:prstGeom prst="rect">
            <a:avLst/>
          </a:prstGeom>
          <a:noFill/>
          <a:ln w="0">
            <a:noFill/>
            <a:prstDash val="solid"/>
          </a:ln>
        </p:spPr>
        <p:txBody>
          <a:bodyPr/>
          <a:lstStyle/>
          <a:p>
            <a:pPr algn="l">
              <a:defRPr sz="1800" b="1">
                <a:solidFill>
                  <a:srgbClr val="18A6B8"/>
                </a:solidFill>
              </a:defRPr>
            </a:pPr>
            <a:r>
              <a:rPr sz="1800" b="1">
                <a:solidFill>
                  <a:srgbClr val="18A6B8"/>
                </a:solidFill>
              </a:rPr>
              <a:t>HI5033</a:t>
            </a:r>
          </a:p>
        </p:txBody>
      </p:sp>
      <p:sp>
        <p:nvSpPr>
          <p:cNvPr id="2" name="Rectangle 1">
            <a:extLst>
              <a:ext uri="{FF2B5EF4-FFF2-40B4-BE49-F238E27FC236}">
                <a16:creationId xmlns:a16="http://schemas.microsoft.com/office/drawing/2014/main" id="{FABCE01F-217D-45CC-BD68-797AE59FC74F}"/>
              </a:ext>
            </a:extLst>
          </p:cNvPr>
          <p:cNvSpPr>
            <a:spLocks noGrp="1"/>
          </p:cNvSpPr>
          <p:nvPr/>
        </p:nvSpPr>
        <p:spPr>
          <a:xfrm>
            <a:off x="666750" y="1790700"/>
            <a:ext cx="8572500" cy="904875"/>
          </a:xfrm>
          <a:prstGeom prst="rect">
            <a:avLst/>
          </a:prstGeom>
          <a:noFill/>
          <a:ln w="0">
            <a:noFill/>
            <a:prstDash val="solid"/>
          </a:ln>
        </p:spPr>
        <p:txBody>
          <a:bodyPr/>
          <a:lstStyle/>
          <a:p>
            <a:pPr algn="l">
              <a:defRPr sz="4350" b="1">
                <a:solidFill>
                  <a:srgbClr val="FFFFFF"/>
                </a:solidFill>
              </a:defRPr>
            </a:pPr>
            <a:r>
              <a:rPr sz="4350" b="1">
                <a:solidFill>
                  <a:srgbClr val="FFFFFF"/>
                </a:solidFill>
              </a:rPr>
              <a:t>Database Design</a:t>
            </a:r>
          </a:p>
        </p:txBody>
      </p:sp>
      <p:sp>
        <p:nvSpPr>
          <p:cNvPr id="3" name="Rectangle 2">
            <a:extLst>
              <a:ext uri="{FF2B5EF4-FFF2-40B4-BE49-F238E27FC236}">
                <a16:creationId xmlns:a16="http://schemas.microsoft.com/office/drawing/2014/main" id="{E61497CC-6F57-4183-A72C-E8F638E98EF8}"/>
              </a:ext>
            </a:extLst>
          </p:cNvPr>
          <p:cNvSpPr>
            <a:spLocks noGrp="1"/>
          </p:cNvSpPr>
          <p:nvPr/>
        </p:nvSpPr>
        <p:spPr>
          <a:xfrm>
            <a:off x="704850" y="2952750"/>
            <a:ext cx="7620000" cy="400050"/>
          </a:xfrm>
          <a:prstGeom prst="rect">
            <a:avLst/>
          </a:prstGeom>
          <a:noFill/>
          <a:ln w="0">
            <a:noFill/>
            <a:prstDash val="solid"/>
          </a:ln>
        </p:spPr>
        <p:txBody>
          <a:bodyPr/>
          <a:lstStyle/>
          <a:p>
            <a:pPr algn="l">
              <a:defRPr sz="1875" b="0">
                <a:solidFill>
                  <a:srgbClr val="CFE8F1"/>
                </a:solidFill>
              </a:defRPr>
            </a:pPr>
            <a:r>
              <a:rPr sz="1875" b="0">
                <a:solidFill>
                  <a:srgbClr val="CFE8F1"/>
                </a:solidFill>
              </a:rPr>
              <a:t>Week 1 Tutorial • Trimester 2, 2026</a:t>
            </a:r>
          </a:p>
        </p:txBody>
      </p:sp>
      <p:sp>
        <p:nvSpPr>
          <p:cNvPr id="4" name="Rectangle: Rounded Corners 3">
            <a:extLst>
              <a:ext uri="{FF2B5EF4-FFF2-40B4-BE49-F238E27FC236}">
                <a16:creationId xmlns:a16="http://schemas.microsoft.com/office/drawing/2014/main" id="{7C44B519-96E5-4DB2-82F0-7E3D0B7C3425}"/>
              </a:ext>
            </a:extLst>
          </p:cNvPr>
          <p:cNvSpPr>
            <a:spLocks noGrp="1"/>
          </p:cNvSpPr>
          <p:nvPr/>
        </p:nvSpPr>
        <p:spPr>
          <a:xfrm>
            <a:off x="704850" y="4524375"/>
            <a:ext cx="6477000" cy="952500"/>
          </a:xfrm>
          <a:prstGeom prst="roundRect">
            <a:avLst>
              <a:gd name="adj" fmla="val 12000"/>
            </a:avLst>
          </a:prstGeom>
          <a:solidFill>
            <a:srgbClr val="173C59"/>
          </a:solidFill>
          <a:ln w="9525">
            <a:solidFill>
              <a:srgbClr val="24516F"/>
            </a:solidFill>
            <a:prstDash val="solid"/>
          </a:ln>
        </p:spPr>
        <p:txBody>
          <a:bodyPr/>
          <a:lstStyle/>
          <a:p>
            <a:endParaRPr lang="en-US"/>
          </a:p>
        </p:txBody>
      </p:sp>
      <p:sp>
        <p:nvSpPr>
          <p:cNvPr id="5" name="Rectangle 4">
            <a:extLst>
              <a:ext uri="{FF2B5EF4-FFF2-40B4-BE49-F238E27FC236}">
                <a16:creationId xmlns:a16="http://schemas.microsoft.com/office/drawing/2014/main" id="{700AF3F4-2D1E-4208-9951-FDD8C2BFD7FB}"/>
              </a:ext>
            </a:extLst>
          </p:cNvPr>
          <p:cNvSpPr>
            <a:spLocks noGrp="1"/>
          </p:cNvSpPr>
          <p:nvPr/>
        </p:nvSpPr>
        <p:spPr>
          <a:xfrm>
            <a:off x="990600" y="4714875"/>
            <a:ext cx="5905500" cy="628650"/>
          </a:xfrm>
          <a:prstGeom prst="rect">
            <a:avLst/>
          </a:prstGeom>
          <a:noFill/>
          <a:ln w="0">
            <a:noFill/>
            <a:prstDash val="solid"/>
          </a:ln>
        </p:spPr>
        <p:txBody>
          <a:bodyPr/>
          <a:lstStyle/>
          <a:p>
            <a:pPr algn="l">
              <a:defRPr sz="1875" b="1">
                <a:solidFill>
                  <a:srgbClr val="FFFFFF"/>
                </a:solidFill>
              </a:defRPr>
            </a:pPr>
            <a:r>
              <a:rPr sz="1875" b="1">
                <a:solidFill>
                  <a:srgbClr val="FFFFFF"/>
                </a:solidFill>
              </a:rPr>
              <a:t>Design reliable data systems.</a:t>
            </a:r>
          </a:p>
          <a:p>
            <a:pPr algn="l">
              <a:defRPr sz="1875" b="1">
                <a:solidFill>
                  <a:srgbClr val="FFFFFF"/>
                </a:solidFill>
              </a:defRPr>
            </a:pPr>
            <a:r>
              <a:rPr sz="1875" b="1">
                <a:solidFill>
                  <a:srgbClr val="FFFFFF"/>
                </a:solidFill>
              </a:rPr>
              <a:t>Turn business needs into working databases.</a:t>
            </a:r>
          </a:p>
        </p:txBody>
      </p:sp>
      <p:sp>
        <p:nvSpPr>
          <p:cNvPr id="6" name="Rectangle 5">
            <a:extLst>
              <a:ext uri="{FF2B5EF4-FFF2-40B4-BE49-F238E27FC236}">
                <a16:creationId xmlns:a16="http://schemas.microsoft.com/office/drawing/2014/main" id="{8725A682-3F0E-441C-B6EA-1B82FD7ABC92}"/>
              </a:ext>
            </a:extLst>
          </p:cNvPr>
          <p:cNvSpPr>
            <a:spLocks noGrp="1"/>
          </p:cNvSpPr>
          <p:nvPr/>
        </p:nvSpPr>
        <p:spPr>
          <a:xfrm>
            <a:off x="8477250" y="5905500"/>
            <a:ext cx="2857500" cy="323850"/>
          </a:xfrm>
          <a:prstGeom prst="rect">
            <a:avLst/>
          </a:prstGeom>
          <a:noFill/>
          <a:ln w="0">
            <a:noFill/>
            <a:prstDash val="solid"/>
          </a:ln>
        </p:spPr>
        <p:txBody>
          <a:bodyPr/>
          <a:lstStyle/>
          <a:p>
            <a:pPr algn="r">
              <a:defRPr sz="1500" b="1">
                <a:solidFill>
                  <a:srgbClr val="FFFFFF"/>
                </a:solidFill>
              </a:defRPr>
            </a:pPr>
            <a:r>
              <a:rPr sz="1500" b="1">
                <a:solidFill>
                  <a:srgbClr val="FFFFFF"/>
                </a:solidFill>
              </a:rPr>
              <a:t>Dr Farshid Keivanian</a:t>
            </a:r>
          </a:p>
        </p:txBody>
      </p:sp>
      <p:pic>
        <p:nvPicPr>
          <p:cNvPr id="9" name="Picture 8">
            <a:extLst>
              <a:ext uri="{FF2B5EF4-FFF2-40B4-BE49-F238E27FC236}">
                <a16:creationId xmlns:a16="http://schemas.microsoft.com/office/drawing/2014/main" id="{7BF81E87-A30A-3655-FEED-1CDC5EE3A7E3}"/>
              </a:ext>
            </a:extLst>
          </p:cNvPr>
          <p:cNvPicPr>
            <a:picLocks noChangeAspect="1"/>
          </p:cNvPicPr>
          <p:nvPr/>
        </p:nvPicPr>
        <p:blipFill>
          <a:blip r:embed="rId3">
            <a:extLst>
              <a:ext uri="{28A0092B-C50C-407E-A947-70E740481C1C}">
                <a14:useLocalDpi xmlns:a14="http://schemas.microsoft.com/office/drawing/2010/main" val="0"/>
              </a:ext>
            </a:extLst>
          </a:blip>
          <a:srcRect l="4968" r="24813" b="1"/>
          <a:stretch>
            <a:fillRect/>
          </a:stretch>
        </p:blipFill>
        <p:spPr>
          <a:xfrm>
            <a:off x="8761588" y="774547"/>
            <a:ext cx="3043238" cy="4526280"/>
          </a:xfrm>
          <a:prstGeom prst="rect">
            <a:avLst/>
          </a:prstGeom>
        </p:spPr>
      </p:pic>
    </p:spTree>
    <p:extLst>
      <p:ext uri="{BB962C8B-B14F-4D97-AF65-F5344CB8AC3E}">
        <p14:creationId xmlns:p14="http://schemas.microsoft.com/office/powerpoint/2010/main" val="43371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7BFBD9F-E8FE-4495-8C27-43AD7BB23B4F}"/>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Today, you will build your first database</a:t>
            </a:r>
          </a:p>
        </p:txBody>
      </p:sp>
      <p:sp>
        <p:nvSpPr>
          <p:cNvPr id="2" name="Rectangle 1">
            <a:extLst>
              <a:ext uri="{FF2B5EF4-FFF2-40B4-BE49-F238E27FC236}">
                <a16:creationId xmlns:a16="http://schemas.microsoft.com/office/drawing/2014/main" id="{2DCD33FE-258A-4FA1-B330-F11D308C107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C55894C4-9C76-4067-8299-85E8556E6A1F}"/>
              </a:ext>
            </a:extLst>
          </p:cNvPr>
          <p:cNvSpPr>
            <a:spLocks noGrp="1"/>
          </p:cNvSpPr>
          <p:nvPr/>
        </p:nvSpPr>
        <p:spPr>
          <a:xfrm>
            <a:off x="762000" y="1619250"/>
            <a:ext cx="571500" cy="342900"/>
          </a:xfrm>
          <a:prstGeom prst="rect">
            <a:avLst/>
          </a:prstGeom>
          <a:noFill/>
          <a:ln w="0">
            <a:noFill/>
            <a:prstDash val="solid"/>
          </a:ln>
        </p:spPr>
        <p:txBody>
          <a:bodyPr/>
          <a:lstStyle/>
          <a:p>
            <a:pPr algn="l">
              <a:defRPr sz="1350" b="1">
                <a:solidFill>
                  <a:srgbClr val="18A6B8"/>
                </a:solidFill>
              </a:defRPr>
            </a:pPr>
            <a:r>
              <a:rPr sz="1350" b="1">
                <a:solidFill>
                  <a:srgbClr val="18A6B8"/>
                </a:solidFill>
              </a:rPr>
              <a:t>01</a:t>
            </a:r>
          </a:p>
        </p:txBody>
      </p:sp>
      <p:sp>
        <p:nvSpPr>
          <p:cNvPr id="4" name="Rectangle 3">
            <a:extLst>
              <a:ext uri="{FF2B5EF4-FFF2-40B4-BE49-F238E27FC236}">
                <a16:creationId xmlns:a16="http://schemas.microsoft.com/office/drawing/2014/main" id="{7847D6E4-F50C-4B0F-9003-382EB1FCFEC0}"/>
              </a:ext>
            </a:extLst>
          </p:cNvPr>
          <p:cNvSpPr>
            <a:spLocks noGrp="1"/>
          </p:cNvSpPr>
          <p:nvPr/>
        </p:nvSpPr>
        <p:spPr>
          <a:xfrm>
            <a:off x="1476375" y="1581150"/>
            <a:ext cx="8382000" cy="381000"/>
          </a:xfrm>
          <a:prstGeom prst="rect">
            <a:avLst/>
          </a:prstGeom>
          <a:noFill/>
          <a:ln w="0">
            <a:noFill/>
            <a:prstDash val="solid"/>
          </a:ln>
        </p:spPr>
        <p:txBody>
          <a:bodyPr/>
          <a:lstStyle/>
          <a:p>
            <a:pPr algn="l">
              <a:defRPr sz="1875" b="0">
                <a:solidFill>
                  <a:srgbClr val="102A43"/>
                </a:solidFill>
              </a:defRPr>
            </a:pPr>
            <a:r>
              <a:rPr sz="1875" b="0">
                <a:solidFill>
                  <a:srgbClr val="102A43"/>
                </a:solidFill>
              </a:rPr>
              <a:t>Meet the unit</a:t>
            </a:r>
          </a:p>
        </p:txBody>
      </p:sp>
      <p:sp>
        <p:nvSpPr>
          <p:cNvPr id="5" name="Rectangle 4">
            <a:extLst>
              <a:ext uri="{FF2B5EF4-FFF2-40B4-BE49-F238E27FC236}">
                <a16:creationId xmlns:a16="http://schemas.microsoft.com/office/drawing/2014/main" id="{F356B1A1-525C-49E9-AFC7-A0C141D2FE81}"/>
              </a:ext>
            </a:extLst>
          </p:cNvPr>
          <p:cNvSpPr>
            <a:spLocks noGrp="1"/>
          </p:cNvSpPr>
          <p:nvPr/>
        </p:nvSpPr>
        <p:spPr>
          <a:xfrm>
            <a:off x="1476375" y="2009775"/>
            <a:ext cx="8572500" cy="9525"/>
          </a:xfrm>
          <a:prstGeom prst="rect">
            <a:avLst/>
          </a:prstGeom>
          <a:solidFill>
            <a:srgbClr val="C9D8E3"/>
          </a:solidFill>
          <a:ln w="0">
            <a:solidFill>
              <a:srgbClr val="C9D8E3"/>
            </a:solidFill>
            <a:prstDash val="solid"/>
          </a:ln>
        </p:spPr>
        <p:txBody>
          <a:bodyPr/>
          <a:lstStyle/>
          <a:p>
            <a:endParaRPr lang="en-US"/>
          </a:p>
        </p:txBody>
      </p:sp>
      <p:sp>
        <p:nvSpPr>
          <p:cNvPr id="6" name="Rectangle 5">
            <a:extLst>
              <a:ext uri="{FF2B5EF4-FFF2-40B4-BE49-F238E27FC236}">
                <a16:creationId xmlns:a16="http://schemas.microsoft.com/office/drawing/2014/main" id="{81798DC6-BD91-4BAD-A732-1576091F1244}"/>
              </a:ext>
            </a:extLst>
          </p:cNvPr>
          <p:cNvSpPr>
            <a:spLocks noGrp="1"/>
          </p:cNvSpPr>
          <p:nvPr/>
        </p:nvSpPr>
        <p:spPr>
          <a:xfrm>
            <a:off x="762000" y="2400300"/>
            <a:ext cx="571500" cy="342900"/>
          </a:xfrm>
          <a:prstGeom prst="rect">
            <a:avLst/>
          </a:prstGeom>
          <a:noFill/>
          <a:ln w="0">
            <a:noFill/>
            <a:prstDash val="solid"/>
          </a:ln>
        </p:spPr>
        <p:txBody>
          <a:bodyPr/>
          <a:lstStyle/>
          <a:p>
            <a:pPr algn="l">
              <a:defRPr sz="1350" b="1">
                <a:solidFill>
                  <a:srgbClr val="18A6B8"/>
                </a:solidFill>
              </a:defRPr>
            </a:pPr>
            <a:r>
              <a:rPr sz="1350" b="1">
                <a:solidFill>
                  <a:srgbClr val="18A6B8"/>
                </a:solidFill>
              </a:rPr>
              <a:t>02</a:t>
            </a:r>
          </a:p>
        </p:txBody>
      </p:sp>
      <p:sp>
        <p:nvSpPr>
          <p:cNvPr id="7" name="Rectangle 6">
            <a:extLst>
              <a:ext uri="{FF2B5EF4-FFF2-40B4-BE49-F238E27FC236}">
                <a16:creationId xmlns:a16="http://schemas.microsoft.com/office/drawing/2014/main" id="{9968E09A-5DA1-4990-AC70-1180AC45EAAA}"/>
              </a:ext>
            </a:extLst>
          </p:cNvPr>
          <p:cNvSpPr>
            <a:spLocks noGrp="1"/>
          </p:cNvSpPr>
          <p:nvPr/>
        </p:nvSpPr>
        <p:spPr>
          <a:xfrm>
            <a:off x="1476375" y="2362200"/>
            <a:ext cx="8382000" cy="381000"/>
          </a:xfrm>
          <a:prstGeom prst="rect">
            <a:avLst/>
          </a:prstGeom>
          <a:noFill/>
          <a:ln w="0">
            <a:noFill/>
            <a:prstDash val="solid"/>
          </a:ln>
        </p:spPr>
        <p:txBody>
          <a:bodyPr/>
          <a:lstStyle/>
          <a:p>
            <a:pPr algn="l">
              <a:defRPr sz="1875" b="0">
                <a:solidFill>
                  <a:srgbClr val="102A43"/>
                </a:solidFill>
              </a:defRPr>
            </a:pPr>
            <a:r>
              <a:rPr sz="1875" b="0" dirty="0">
                <a:solidFill>
                  <a:srgbClr val="102A43"/>
                </a:solidFill>
              </a:rPr>
              <a:t>See where database skills lead</a:t>
            </a:r>
          </a:p>
        </p:txBody>
      </p:sp>
      <p:sp>
        <p:nvSpPr>
          <p:cNvPr id="8" name="Rectangle 7">
            <a:extLst>
              <a:ext uri="{FF2B5EF4-FFF2-40B4-BE49-F238E27FC236}">
                <a16:creationId xmlns:a16="http://schemas.microsoft.com/office/drawing/2014/main" id="{54E04ABF-3219-42BD-AC74-54AC8CEA6DED}"/>
              </a:ext>
            </a:extLst>
          </p:cNvPr>
          <p:cNvSpPr>
            <a:spLocks noGrp="1"/>
          </p:cNvSpPr>
          <p:nvPr/>
        </p:nvSpPr>
        <p:spPr>
          <a:xfrm>
            <a:off x="1476375" y="2790825"/>
            <a:ext cx="8572500" cy="9525"/>
          </a:xfrm>
          <a:prstGeom prst="rect">
            <a:avLst/>
          </a:prstGeom>
          <a:solidFill>
            <a:srgbClr val="C9D8E3"/>
          </a:solidFill>
          <a:ln w="0">
            <a:solidFill>
              <a:srgbClr val="C9D8E3"/>
            </a:solidFill>
            <a:prstDash val="solid"/>
          </a:ln>
        </p:spPr>
        <p:txBody>
          <a:bodyPr/>
          <a:lstStyle/>
          <a:p>
            <a:endParaRPr lang="en-US"/>
          </a:p>
        </p:txBody>
      </p:sp>
      <p:sp>
        <p:nvSpPr>
          <p:cNvPr id="9" name="Rectangle 8">
            <a:extLst>
              <a:ext uri="{FF2B5EF4-FFF2-40B4-BE49-F238E27FC236}">
                <a16:creationId xmlns:a16="http://schemas.microsoft.com/office/drawing/2014/main" id="{AB03A0DD-0240-4661-A06B-4DAF3EAFF8B7}"/>
              </a:ext>
            </a:extLst>
          </p:cNvPr>
          <p:cNvSpPr>
            <a:spLocks noGrp="1"/>
          </p:cNvSpPr>
          <p:nvPr/>
        </p:nvSpPr>
        <p:spPr>
          <a:xfrm>
            <a:off x="762000" y="3181350"/>
            <a:ext cx="571500" cy="342900"/>
          </a:xfrm>
          <a:prstGeom prst="rect">
            <a:avLst/>
          </a:prstGeom>
          <a:noFill/>
          <a:ln w="0">
            <a:noFill/>
            <a:prstDash val="solid"/>
          </a:ln>
        </p:spPr>
        <p:txBody>
          <a:bodyPr/>
          <a:lstStyle/>
          <a:p>
            <a:pPr algn="l">
              <a:defRPr sz="1350" b="1">
                <a:solidFill>
                  <a:srgbClr val="18A6B8"/>
                </a:solidFill>
              </a:defRPr>
            </a:pPr>
            <a:r>
              <a:rPr sz="1350" b="1">
                <a:solidFill>
                  <a:srgbClr val="18A6B8"/>
                </a:solidFill>
              </a:rPr>
              <a:t>03</a:t>
            </a:r>
          </a:p>
        </p:txBody>
      </p:sp>
      <p:sp>
        <p:nvSpPr>
          <p:cNvPr id="10" name="Rectangle 9">
            <a:extLst>
              <a:ext uri="{FF2B5EF4-FFF2-40B4-BE49-F238E27FC236}">
                <a16:creationId xmlns:a16="http://schemas.microsoft.com/office/drawing/2014/main" id="{88C29EFB-F611-4B26-893D-F2FCB07989E5}"/>
              </a:ext>
            </a:extLst>
          </p:cNvPr>
          <p:cNvSpPr>
            <a:spLocks noGrp="1"/>
          </p:cNvSpPr>
          <p:nvPr/>
        </p:nvSpPr>
        <p:spPr>
          <a:xfrm>
            <a:off x="1476375" y="3143250"/>
            <a:ext cx="8382000" cy="381000"/>
          </a:xfrm>
          <a:prstGeom prst="rect">
            <a:avLst/>
          </a:prstGeom>
          <a:noFill/>
          <a:ln w="0">
            <a:noFill/>
            <a:prstDash val="solid"/>
          </a:ln>
        </p:spPr>
        <p:txBody>
          <a:bodyPr/>
          <a:lstStyle/>
          <a:p>
            <a:pPr algn="l">
              <a:defRPr sz="1875" b="0">
                <a:solidFill>
                  <a:srgbClr val="102A43"/>
                </a:solidFill>
              </a:defRPr>
            </a:pPr>
            <a:r>
              <a:rPr sz="1875" b="0">
                <a:solidFill>
                  <a:srgbClr val="102A43"/>
                </a:solidFill>
              </a:rPr>
              <a:t>Understand assessment</a:t>
            </a:r>
          </a:p>
        </p:txBody>
      </p:sp>
      <p:sp>
        <p:nvSpPr>
          <p:cNvPr id="11" name="Rectangle 10">
            <a:extLst>
              <a:ext uri="{FF2B5EF4-FFF2-40B4-BE49-F238E27FC236}">
                <a16:creationId xmlns:a16="http://schemas.microsoft.com/office/drawing/2014/main" id="{60B4543E-4721-4439-B196-FA66357C9F3E}"/>
              </a:ext>
            </a:extLst>
          </p:cNvPr>
          <p:cNvSpPr>
            <a:spLocks noGrp="1"/>
          </p:cNvSpPr>
          <p:nvPr/>
        </p:nvSpPr>
        <p:spPr>
          <a:xfrm>
            <a:off x="1476375" y="3571875"/>
            <a:ext cx="8572500" cy="9525"/>
          </a:xfrm>
          <a:prstGeom prst="rect">
            <a:avLst/>
          </a:prstGeom>
          <a:solidFill>
            <a:srgbClr val="C9D8E3"/>
          </a:solidFill>
          <a:ln w="0">
            <a:solidFill>
              <a:srgbClr val="C9D8E3"/>
            </a:solidFill>
            <a:prstDash val="solid"/>
          </a:ln>
        </p:spPr>
        <p:txBody>
          <a:bodyPr/>
          <a:lstStyle/>
          <a:p>
            <a:endParaRPr lang="en-US"/>
          </a:p>
        </p:txBody>
      </p:sp>
      <p:sp>
        <p:nvSpPr>
          <p:cNvPr id="12" name="Rectangle 11">
            <a:extLst>
              <a:ext uri="{FF2B5EF4-FFF2-40B4-BE49-F238E27FC236}">
                <a16:creationId xmlns:a16="http://schemas.microsoft.com/office/drawing/2014/main" id="{64068CF3-F340-4002-990D-5FBBE06DB1C2}"/>
              </a:ext>
            </a:extLst>
          </p:cNvPr>
          <p:cNvSpPr>
            <a:spLocks noGrp="1"/>
          </p:cNvSpPr>
          <p:nvPr/>
        </p:nvSpPr>
        <p:spPr>
          <a:xfrm>
            <a:off x="762000" y="3962400"/>
            <a:ext cx="571500" cy="342900"/>
          </a:xfrm>
          <a:prstGeom prst="rect">
            <a:avLst/>
          </a:prstGeom>
          <a:noFill/>
          <a:ln w="0">
            <a:noFill/>
            <a:prstDash val="solid"/>
          </a:ln>
        </p:spPr>
        <p:txBody>
          <a:bodyPr/>
          <a:lstStyle/>
          <a:p>
            <a:pPr algn="l">
              <a:defRPr sz="1350" b="1">
                <a:solidFill>
                  <a:srgbClr val="18A6B8"/>
                </a:solidFill>
              </a:defRPr>
            </a:pPr>
            <a:r>
              <a:rPr sz="1350" b="1">
                <a:solidFill>
                  <a:srgbClr val="18A6B8"/>
                </a:solidFill>
              </a:rPr>
              <a:t>04</a:t>
            </a:r>
          </a:p>
        </p:txBody>
      </p:sp>
      <p:sp>
        <p:nvSpPr>
          <p:cNvPr id="13" name="Rectangle 12">
            <a:extLst>
              <a:ext uri="{FF2B5EF4-FFF2-40B4-BE49-F238E27FC236}">
                <a16:creationId xmlns:a16="http://schemas.microsoft.com/office/drawing/2014/main" id="{CF68A60B-18F5-4DF9-8757-E721F7D5AF88}"/>
              </a:ext>
            </a:extLst>
          </p:cNvPr>
          <p:cNvSpPr>
            <a:spLocks noGrp="1"/>
          </p:cNvSpPr>
          <p:nvPr/>
        </p:nvSpPr>
        <p:spPr>
          <a:xfrm>
            <a:off x="1476375" y="3924300"/>
            <a:ext cx="8382000" cy="381000"/>
          </a:xfrm>
          <a:prstGeom prst="rect">
            <a:avLst/>
          </a:prstGeom>
          <a:noFill/>
          <a:ln w="0">
            <a:noFill/>
            <a:prstDash val="solid"/>
          </a:ln>
        </p:spPr>
        <p:txBody>
          <a:bodyPr/>
          <a:lstStyle/>
          <a:p>
            <a:pPr algn="l">
              <a:defRPr sz="1875" b="0">
                <a:solidFill>
                  <a:srgbClr val="102A43"/>
                </a:solidFill>
              </a:defRPr>
            </a:pPr>
            <a:r>
              <a:rPr sz="1875" b="0">
                <a:solidFill>
                  <a:srgbClr val="102A43"/>
                </a:solidFill>
              </a:rPr>
              <a:t>Install the tools</a:t>
            </a:r>
          </a:p>
        </p:txBody>
      </p:sp>
      <p:sp>
        <p:nvSpPr>
          <p:cNvPr id="14" name="Rectangle 13">
            <a:extLst>
              <a:ext uri="{FF2B5EF4-FFF2-40B4-BE49-F238E27FC236}">
                <a16:creationId xmlns:a16="http://schemas.microsoft.com/office/drawing/2014/main" id="{FAAD6896-42B8-4F89-8061-7396BD42EF09}"/>
              </a:ext>
            </a:extLst>
          </p:cNvPr>
          <p:cNvSpPr>
            <a:spLocks noGrp="1"/>
          </p:cNvSpPr>
          <p:nvPr/>
        </p:nvSpPr>
        <p:spPr>
          <a:xfrm>
            <a:off x="1476375" y="4352925"/>
            <a:ext cx="8572500" cy="9525"/>
          </a:xfrm>
          <a:prstGeom prst="rect">
            <a:avLst/>
          </a:prstGeom>
          <a:solidFill>
            <a:srgbClr val="C9D8E3"/>
          </a:solidFill>
          <a:ln w="0">
            <a:solidFill>
              <a:srgbClr val="C9D8E3"/>
            </a:solidFill>
            <a:prstDash val="solid"/>
          </a:ln>
        </p:spPr>
        <p:txBody>
          <a:bodyPr/>
          <a:lstStyle/>
          <a:p>
            <a:endParaRPr lang="en-US"/>
          </a:p>
        </p:txBody>
      </p:sp>
      <p:sp>
        <p:nvSpPr>
          <p:cNvPr id="15" name="Rectangle 14">
            <a:extLst>
              <a:ext uri="{FF2B5EF4-FFF2-40B4-BE49-F238E27FC236}">
                <a16:creationId xmlns:a16="http://schemas.microsoft.com/office/drawing/2014/main" id="{0984B9BE-2537-44A9-A841-015FB09E5E46}"/>
              </a:ext>
            </a:extLst>
          </p:cNvPr>
          <p:cNvSpPr>
            <a:spLocks noGrp="1"/>
          </p:cNvSpPr>
          <p:nvPr/>
        </p:nvSpPr>
        <p:spPr>
          <a:xfrm>
            <a:off x="762000" y="4743450"/>
            <a:ext cx="571500" cy="342900"/>
          </a:xfrm>
          <a:prstGeom prst="rect">
            <a:avLst/>
          </a:prstGeom>
          <a:noFill/>
          <a:ln w="0">
            <a:noFill/>
            <a:prstDash val="solid"/>
          </a:ln>
        </p:spPr>
        <p:txBody>
          <a:bodyPr/>
          <a:lstStyle/>
          <a:p>
            <a:pPr algn="l">
              <a:defRPr sz="1350" b="1">
                <a:solidFill>
                  <a:srgbClr val="18A6B8"/>
                </a:solidFill>
              </a:defRPr>
            </a:pPr>
            <a:r>
              <a:rPr sz="1350" b="1">
                <a:solidFill>
                  <a:srgbClr val="18A6B8"/>
                </a:solidFill>
              </a:rPr>
              <a:t>05</a:t>
            </a:r>
          </a:p>
        </p:txBody>
      </p:sp>
      <p:sp>
        <p:nvSpPr>
          <p:cNvPr id="16" name="Rectangle 15">
            <a:extLst>
              <a:ext uri="{FF2B5EF4-FFF2-40B4-BE49-F238E27FC236}">
                <a16:creationId xmlns:a16="http://schemas.microsoft.com/office/drawing/2014/main" id="{93D76894-2758-430C-B978-8575A09BD106}"/>
              </a:ext>
            </a:extLst>
          </p:cNvPr>
          <p:cNvSpPr>
            <a:spLocks noGrp="1"/>
          </p:cNvSpPr>
          <p:nvPr/>
        </p:nvSpPr>
        <p:spPr>
          <a:xfrm>
            <a:off x="1476375" y="4705350"/>
            <a:ext cx="8382000" cy="381000"/>
          </a:xfrm>
          <a:prstGeom prst="rect">
            <a:avLst/>
          </a:prstGeom>
          <a:noFill/>
          <a:ln w="0">
            <a:noFill/>
            <a:prstDash val="solid"/>
          </a:ln>
        </p:spPr>
        <p:txBody>
          <a:bodyPr/>
          <a:lstStyle/>
          <a:p>
            <a:pPr algn="l">
              <a:defRPr sz="1875" b="1">
                <a:solidFill>
                  <a:srgbClr val="102A43"/>
                </a:solidFill>
              </a:defRPr>
            </a:pPr>
            <a:r>
              <a:rPr sz="1875" b="1">
                <a:solidFill>
                  <a:srgbClr val="102A43"/>
                </a:solidFill>
              </a:rPr>
              <a:t>Create, query and improve a database</a:t>
            </a:r>
          </a:p>
        </p:txBody>
      </p:sp>
      <p:sp>
        <p:nvSpPr>
          <p:cNvPr id="17" name="Rectangle 16">
            <a:extLst>
              <a:ext uri="{FF2B5EF4-FFF2-40B4-BE49-F238E27FC236}">
                <a16:creationId xmlns:a16="http://schemas.microsoft.com/office/drawing/2014/main" id="{E3284F8B-A244-4272-82D7-3E606EA8E073}"/>
              </a:ext>
            </a:extLst>
          </p:cNvPr>
          <p:cNvSpPr>
            <a:spLocks noGrp="1"/>
          </p:cNvSpPr>
          <p:nvPr/>
        </p:nvSpPr>
        <p:spPr>
          <a:xfrm>
            <a:off x="1476375" y="5133975"/>
            <a:ext cx="8572500" cy="9525"/>
          </a:xfrm>
          <a:prstGeom prst="rect">
            <a:avLst/>
          </a:prstGeom>
          <a:solidFill>
            <a:srgbClr val="C9D8E3"/>
          </a:solidFill>
          <a:ln w="0">
            <a:solidFill>
              <a:srgbClr val="C9D8E3"/>
            </a:solidFill>
            <a:prstDash val="solid"/>
          </a:ln>
        </p:spPr>
        <p:txBody>
          <a:bodyPr/>
          <a:lstStyle/>
          <a:p>
            <a:endParaRPr lang="en-US"/>
          </a:p>
        </p:txBody>
      </p:sp>
      <p:sp>
        <p:nvSpPr>
          <p:cNvPr id="18" name="Rectangle 17">
            <a:extLst>
              <a:ext uri="{FF2B5EF4-FFF2-40B4-BE49-F238E27FC236}">
                <a16:creationId xmlns:a16="http://schemas.microsoft.com/office/drawing/2014/main" id="{34706A4B-3C04-44B3-A754-F949472185B9}"/>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a:t>
            </a:r>
          </a:p>
        </p:txBody>
      </p:sp>
    </p:spTree>
    <p:extLst>
      <p:ext uri="{BB962C8B-B14F-4D97-AF65-F5344CB8AC3E}">
        <p14:creationId xmlns:p14="http://schemas.microsoft.com/office/powerpoint/2010/main" val="183289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3C990F-F858-4818-9748-3EDF6E982C0A}"/>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Databases sit behind almost every digital service</a:t>
            </a:r>
          </a:p>
        </p:txBody>
      </p:sp>
      <p:sp>
        <p:nvSpPr>
          <p:cNvPr id="2" name="Rectangle 1">
            <a:extLst>
              <a:ext uri="{FF2B5EF4-FFF2-40B4-BE49-F238E27FC236}">
                <a16:creationId xmlns:a16="http://schemas.microsoft.com/office/drawing/2014/main" id="{A60892AF-0704-4AD7-B014-DF7B8A838F2E}"/>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E51CC9EF-11E6-4A09-ABFA-DAEE903D152B}"/>
              </a:ext>
            </a:extLst>
          </p:cNvPr>
          <p:cNvSpPr>
            <a:spLocks noGrp="1"/>
          </p:cNvSpPr>
          <p:nvPr/>
        </p:nvSpPr>
        <p:spPr>
          <a:xfrm>
            <a:off x="714375" y="1666875"/>
            <a:ext cx="5619750" cy="3333750"/>
          </a:xfrm>
          <a:prstGeom prst="rect">
            <a:avLst/>
          </a:prstGeom>
          <a:noFill/>
          <a:ln w="0">
            <a:noFill/>
            <a:prstDash val="solid"/>
          </a:ln>
        </p:spPr>
        <p:txBody>
          <a:bodyPr/>
          <a:lstStyle/>
          <a:p>
            <a:pPr algn="l">
              <a:defRPr sz="1875" b="0">
                <a:solidFill>
                  <a:srgbClr val="102A43"/>
                </a:solidFill>
              </a:defRPr>
            </a:pPr>
            <a:r>
              <a:rPr sz="1875" b="0">
                <a:solidFill>
                  <a:srgbClr val="102A43"/>
                </a:solidFill>
              </a:rPr>
              <a:t>• Banking transactions and fraud monitoring</a:t>
            </a:r>
          </a:p>
          <a:p>
            <a:pPr algn="l">
              <a:defRPr sz="1875" b="0">
                <a:solidFill>
                  <a:srgbClr val="102A43"/>
                </a:solidFill>
              </a:defRPr>
            </a:pPr>
            <a:r>
              <a:rPr sz="1875" b="0">
                <a:solidFill>
                  <a:srgbClr val="102A43"/>
                </a:solidFill>
              </a:rPr>
              <a:t>• Retail inventory, orders and customer records</a:t>
            </a:r>
          </a:p>
          <a:p>
            <a:pPr algn="l">
              <a:defRPr sz="1875" b="0">
                <a:solidFill>
                  <a:srgbClr val="102A43"/>
                </a:solidFill>
              </a:defRPr>
            </a:pPr>
            <a:r>
              <a:rPr sz="1875" b="0">
                <a:solidFill>
                  <a:srgbClr val="102A43"/>
                </a:solidFill>
              </a:rPr>
              <a:t>• Healthcare appointments and clinical information</a:t>
            </a:r>
          </a:p>
          <a:p>
            <a:pPr algn="l">
              <a:defRPr sz="1875" b="0">
                <a:solidFill>
                  <a:srgbClr val="102A43"/>
                </a:solidFill>
              </a:defRPr>
            </a:pPr>
            <a:r>
              <a:rPr sz="1875" b="0">
                <a:solidFill>
                  <a:srgbClr val="102A43"/>
                </a:solidFill>
              </a:rPr>
              <a:t>• Government services and regulatory reporting</a:t>
            </a:r>
          </a:p>
          <a:p>
            <a:pPr algn="l">
              <a:defRPr sz="1875" b="0">
                <a:solidFill>
                  <a:srgbClr val="102A43"/>
                </a:solidFill>
              </a:defRPr>
            </a:pPr>
            <a:r>
              <a:rPr sz="1875" b="0">
                <a:solidFill>
                  <a:srgbClr val="102A43"/>
                </a:solidFill>
              </a:rPr>
              <a:t>• Apps, websites, analytics and AI systems</a:t>
            </a:r>
          </a:p>
        </p:txBody>
      </p:sp>
      <p:sp>
        <p:nvSpPr>
          <p:cNvPr id="4" name="Rectangle: Rounded Corners 3">
            <a:extLst>
              <a:ext uri="{FF2B5EF4-FFF2-40B4-BE49-F238E27FC236}">
                <a16:creationId xmlns:a16="http://schemas.microsoft.com/office/drawing/2014/main" id="{30563122-CC2E-445A-9787-A7F077233739}"/>
              </a:ext>
            </a:extLst>
          </p:cNvPr>
          <p:cNvSpPr>
            <a:spLocks noGrp="1"/>
          </p:cNvSpPr>
          <p:nvPr/>
        </p:nvSpPr>
        <p:spPr>
          <a:xfrm>
            <a:off x="6953250" y="1619250"/>
            <a:ext cx="4000500" cy="3238500"/>
          </a:xfrm>
          <a:prstGeom prst="roundRect">
            <a:avLst>
              <a:gd name="adj" fmla="val 3529"/>
            </a:avLst>
          </a:prstGeom>
          <a:solidFill>
            <a:srgbClr val="EAF4F8"/>
          </a:solidFill>
          <a:ln w="9525">
            <a:solidFill>
              <a:srgbClr val="EAF4F8"/>
            </a:solidFill>
            <a:prstDash val="solid"/>
          </a:ln>
        </p:spPr>
        <p:txBody>
          <a:bodyPr/>
          <a:lstStyle/>
          <a:p>
            <a:endParaRPr lang="en-US"/>
          </a:p>
        </p:txBody>
      </p:sp>
      <p:sp>
        <p:nvSpPr>
          <p:cNvPr id="5" name="Rectangle 4">
            <a:extLst>
              <a:ext uri="{FF2B5EF4-FFF2-40B4-BE49-F238E27FC236}">
                <a16:creationId xmlns:a16="http://schemas.microsoft.com/office/drawing/2014/main" id="{5D0F313E-6D43-4D1D-998C-98A329B1E4AD}"/>
              </a:ext>
            </a:extLst>
          </p:cNvPr>
          <p:cNvSpPr>
            <a:spLocks noGrp="1"/>
          </p:cNvSpPr>
          <p:nvPr/>
        </p:nvSpPr>
        <p:spPr>
          <a:xfrm>
            <a:off x="7334250" y="1952625"/>
            <a:ext cx="3238500" cy="333375"/>
          </a:xfrm>
          <a:prstGeom prst="rect">
            <a:avLst/>
          </a:prstGeom>
          <a:noFill/>
          <a:ln w="0">
            <a:noFill/>
            <a:prstDash val="solid"/>
          </a:ln>
        </p:spPr>
        <p:txBody>
          <a:bodyPr/>
          <a:lstStyle/>
          <a:p>
            <a:pPr algn="l">
              <a:defRPr sz="1650" b="1">
                <a:solidFill>
                  <a:srgbClr val="1261A0"/>
                </a:solidFill>
              </a:defRPr>
            </a:pPr>
            <a:r>
              <a:rPr sz="1650" b="1">
                <a:solidFill>
                  <a:srgbClr val="1261A0"/>
                </a:solidFill>
              </a:rPr>
              <a:t>Business question</a:t>
            </a:r>
          </a:p>
        </p:txBody>
      </p:sp>
      <p:sp>
        <p:nvSpPr>
          <p:cNvPr id="6" name="Rectangle 5">
            <a:extLst>
              <a:ext uri="{FF2B5EF4-FFF2-40B4-BE49-F238E27FC236}">
                <a16:creationId xmlns:a16="http://schemas.microsoft.com/office/drawing/2014/main" id="{A5CA765D-7265-4867-B92E-77CF045B4557}"/>
              </a:ext>
            </a:extLst>
          </p:cNvPr>
          <p:cNvSpPr>
            <a:spLocks noGrp="1"/>
          </p:cNvSpPr>
          <p:nvPr/>
        </p:nvSpPr>
        <p:spPr>
          <a:xfrm>
            <a:off x="7334250" y="2571750"/>
            <a:ext cx="3238500" cy="1809750"/>
          </a:xfrm>
          <a:prstGeom prst="rect">
            <a:avLst/>
          </a:prstGeom>
          <a:noFill/>
          <a:ln w="0">
            <a:noFill/>
            <a:prstDash val="solid"/>
          </a:ln>
        </p:spPr>
        <p:txBody>
          <a:bodyPr/>
          <a:lstStyle/>
          <a:p>
            <a:pPr algn="l">
              <a:defRPr sz="2250" b="1">
                <a:solidFill>
                  <a:srgbClr val="102A43"/>
                </a:solidFill>
              </a:defRPr>
            </a:pPr>
            <a:r>
              <a:rPr sz="2250" b="1">
                <a:solidFill>
                  <a:srgbClr val="102A43"/>
                </a:solidFill>
              </a:rPr>
              <a:t>What happened?</a:t>
            </a:r>
          </a:p>
          <a:p>
            <a:pPr algn="l">
              <a:defRPr sz="2250" b="1">
                <a:solidFill>
                  <a:srgbClr val="102A43"/>
                </a:solidFill>
              </a:defRPr>
            </a:pPr>
            <a:r>
              <a:rPr sz="2250" b="1">
                <a:solidFill>
                  <a:srgbClr val="102A43"/>
                </a:solidFill>
              </a:rPr>
              <a:t>Why did it happen?</a:t>
            </a:r>
          </a:p>
          <a:p>
            <a:pPr algn="l">
              <a:defRPr sz="2250" b="1">
                <a:solidFill>
                  <a:srgbClr val="102A43"/>
                </a:solidFill>
              </a:defRPr>
            </a:pPr>
            <a:r>
              <a:rPr sz="2250" b="1">
                <a:solidFill>
                  <a:srgbClr val="102A43"/>
                </a:solidFill>
              </a:rPr>
              <a:t>What happens next?</a:t>
            </a:r>
          </a:p>
          <a:p>
            <a:pPr algn="l">
              <a:defRPr sz="2250" b="1">
                <a:solidFill>
                  <a:srgbClr val="102A43"/>
                </a:solidFill>
              </a:defRPr>
            </a:pPr>
            <a:r>
              <a:rPr sz="2250" b="1">
                <a:solidFill>
                  <a:srgbClr val="102A43"/>
                </a:solidFill>
              </a:rPr>
              <a:t>Who may access the data?</a:t>
            </a:r>
          </a:p>
        </p:txBody>
      </p:sp>
      <p:sp>
        <p:nvSpPr>
          <p:cNvPr id="7" name="Rectangle 6">
            <a:extLst>
              <a:ext uri="{FF2B5EF4-FFF2-40B4-BE49-F238E27FC236}">
                <a16:creationId xmlns:a16="http://schemas.microsoft.com/office/drawing/2014/main" id="{68963AFA-2530-4079-895A-E2603F902BB8}"/>
              </a:ext>
            </a:extLst>
          </p:cNvPr>
          <p:cNvSpPr>
            <a:spLocks noGrp="1"/>
          </p:cNvSpPr>
          <p:nvPr/>
        </p:nvSpPr>
        <p:spPr>
          <a:xfrm>
            <a:off x="7334250" y="4762500"/>
            <a:ext cx="3238500" cy="476250"/>
          </a:xfrm>
          <a:prstGeom prst="rect">
            <a:avLst/>
          </a:prstGeom>
          <a:noFill/>
          <a:ln w="0">
            <a:noFill/>
            <a:prstDash val="solid"/>
          </a:ln>
        </p:spPr>
        <p:txBody>
          <a:bodyPr/>
          <a:lstStyle/>
          <a:p>
            <a:pPr algn="l">
              <a:defRPr sz="1500" b="1">
                <a:solidFill>
                  <a:srgbClr val="17845C"/>
                </a:solidFill>
              </a:defRPr>
            </a:pPr>
            <a:r>
              <a:rPr sz="1500" b="1">
                <a:solidFill>
                  <a:srgbClr val="17845C"/>
                </a:solidFill>
              </a:rPr>
              <a:t>Good answers begin with good data design.</a:t>
            </a:r>
          </a:p>
        </p:txBody>
      </p:sp>
      <p:sp>
        <p:nvSpPr>
          <p:cNvPr id="8" name="Rectangle 7">
            <a:extLst>
              <a:ext uri="{FF2B5EF4-FFF2-40B4-BE49-F238E27FC236}">
                <a16:creationId xmlns:a16="http://schemas.microsoft.com/office/drawing/2014/main" id="{32C68555-D624-4B3E-8FDE-DF41D820A5E8}"/>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3</a:t>
            </a:r>
          </a:p>
        </p:txBody>
      </p:sp>
    </p:spTree>
    <p:extLst>
      <p:ext uri="{BB962C8B-B14F-4D97-AF65-F5344CB8AC3E}">
        <p14:creationId xmlns:p14="http://schemas.microsoft.com/office/powerpoint/2010/main" val="244279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C0D27D8-4551-4D55-9CFD-D71602EC9B23}"/>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Australian employers need secure, reliable data systems</a:t>
            </a:r>
          </a:p>
        </p:txBody>
      </p:sp>
      <p:sp>
        <p:nvSpPr>
          <p:cNvPr id="2" name="Rectangle 1">
            <a:extLst>
              <a:ext uri="{FF2B5EF4-FFF2-40B4-BE49-F238E27FC236}">
                <a16:creationId xmlns:a16="http://schemas.microsoft.com/office/drawing/2014/main" id="{55260557-CF98-4E36-B850-BC603CDE86C7}"/>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0BC410D4-7021-4D91-9243-FA78A8FFBB09}"/>
              </a:ext>
            </a:extLst>
          </p:cNvPr>
          <p:cNvSpPr>
            <a:spLocks noGrp="1"/>
          </p:cNvSpPr>
          <p:nvPr/>
        </p:nvSpPr>
        <p:spPr>
          <a:xfrm>
            <a:off x="609600" y="1257300"/>
            <a:ext cx="10858500" cy="361950"/>
          </a:xfrm>
          <a:prstGeom prst="rect">
            <a:avLst/>
          </a:prstGeom>
          <a:noFill/>
          <a:ln w="0">
            <a:noFill/>
            <a:prstDash val="solid"/>
          </a:ln>
        </p:spPr>
        <p:txBody>
          <a:bodyPr/>
          <a:lstStyle/>
          <a:p>
            <a:pPr algn="l">
              <a:defRPr sz="1350" b="0">
                <a:solidFill>
                  <a:srgbClr val="526777"/>
                </a:solidFill>
              </a:defRPr>
            </a:pPr>
            <a:r>
              <a:rPr sz="1350" b="0">
                <a:solidFill>
                  <a:srgbClr val="526777"/>
                </a:solidFill>
              </a:rPr>
              <a:t>Jobs and Skills Australia occupation profile</a:t>
            </a:r>
          </a:p>
        </p:txBody>
      </p:sp>
      <p:sp>
        <p:nvSpPr>
          <p:cNvPr id="4" name="Rectangle: Rounded Corners 3">
            <a:extLst>
              <a:ext uri="{FF2B5EF4-FFF2-40B4-BE49-F238E27FC236}">
                <a16:creationId xmlns:a16="http://schemas.microsoft.com/office/drawing/2014/main" id="{C21BDBDA-3046-4AF2-8B65-A99A3BDA71D0}"/>
              </a:ext>
            </a:extLst>
          </p:cNvPr>
          <p:cNvSpPr>
            <a:spLocks noGrp="1"/>
          </p:cNvSpPr>
          <p:nvPr/>
        </p:nvSpPr>
        <p:spPr>
          <a:xfrm>
            <a:off x="685800" y="1952625"/>
            <a:ext cx="2476500" cy="1714500"/>
          </a:xfrm>
          <a:prstGeom prst="roundRect">
            <a:avLst>
              <a:gd name="adj" fmla="val 6667"/>
            </a:avLst>
          </a:prstGeom>
          <a:solidFill>
            <a:srgbClr val="FFFFFF"/>
          </a:solidFill>
          <a:ln w="9525">
            <a:solidFill>
              <a:srgbClr val="C9D8E3"/>
            </a:solidFill>
            <a:prstDash val="solid"/>
          </a:ln>
        </p:spPr>
        <p:txBody>
          <a:bodyPr/>
          <a:lstStyle/>
          <a:p>
            <a:endParaRPr lang="en-US"/>
          </a:p>
        </p:txBody>
      </p:sp>
      <p:sp>
        <p:nvSpPr>
          <p:cNvPr id="5" name="Rectangle 4">
            <a:extLst>
              <a:ext uri="{FF2B5EF4-FFF2-40B4-BE49-F238E27FC236}">
                <a16:creationId xmlns:a16="http://schemas.microsoft.com/office/drawing/2014/main" id="{1BFFF477-B959-4518-8DDA-D8767D68D83A}"/>
              </a:ext>
            </a:extLst>
          </p:cNvPr>
          <p:cNvSpPr>
            <a:spLocks noGrp="1"/>
          </p:cNvSpPr>
          <p:nvPr/>
        </p:nvSpPr>
        <p:spPr>
          <a:xfrm>
            <a:off x="876300" y="2333625"/>
            <a:ext cx="2095500" cy="523875"/>
          </a:xfrm>
          <a:prstGeom prst="rect">
            <a:avLst/>
          </a:prstGeom>
          <a:noFill/>
          <a:ln w="0">
            <a:noFill/>
            <a:prstDash val="solid"/>
          </a:ln>
        </p:spPr>
        <p:txBody>
          <a:bodyPr/>
          <a:lstStyle/>
          <a:p>
            <a:pPr algn="ctr">
              <a:defRPr sz="2775" b="1">
                <a:solidFill>
                  <a:srgbClr val="1261A0"/>
                </a:solidFill>
              </a:defRPr>
            </a:pPr>
            <a:r>
              <a:rPr sz="2775" b="1">
                <a:solidFill>
                  <a:srgbClr val="1261A0"/>
                </a:solidFill>
              </a:rPr>
              <a:t>72,600</a:t>
            </a:r>
          </a:p>
        </p:txBody>
      </p:sp>
      <p:sp>
        <p:nvSpPr>
          <p:cNvPr id="6" name="Rectangle 5">
            <a:extLst>
              <a:ext uri="{FF2B5EF4-FFF2-40B4-BE49-F238E27FC236}">
                <a16:creationId xmlns:a16="http://schemas.microsoft.com/office/drawing/2014/main" id="{2EC4EC01-8C2E-493A-82DA-F0589F514EB2}"/>
              </a:ext>
            </a:extLst>
          </p:cNvPr>
          <p:cNvSpPr>
            <a:spLocks noGrp="1"/>
          </p:cNvSpPr>
          <p:nvPr/>
        </p:nvSpPr>
        <p:spPr>
          <a:xfrm>
            <a:off x="876300" y="3000375"/>
            <a:ext cx="2095500" cy="523875"/>
          </a:xfrm>
          <a:prstGeom prst="rect">
            <a:avLst/>
          </a:prstGeom>
          <a:noFill/>
          <a:ln w="0">
            <a:noFill/>
            <a:prstDash val="solid"/>
          </a:ln>
        </p:spPr>
        <p:txBody>
          <a:bodyPr/>
          <a:lstStyle/>
          <a:p>
            <a:pPr algn="ctr">
              <a:defRPr sz="1275" b="0">
                <a:solidFill>
                  <a:srgbClr val="526777"/>
                </a:solidFill>
              </a:defRPr>
            </a:pPr>
            <a:r>
              <a:rPr sz="1275" b="0">
                <a:solidFill>
                  <a:srgbClr val="526777"/>
                </a:solidFill>
              </a:rPr>
              <a:t>employed</a:t>
            </a:r>
          </a:p>
        </p:txBody>
      </p:sp>
      <p:sp>
        <p:nvSpPr>
          <p:cNvPr id="7" name="Rectangle: Rounded Corners 6">
            <a:extLst>
              <a:ext uri="{FF2B5EF4-FFF2-40B4-BE49-F238E27FC236}">
                <a16:creationId xmlns:a16="http://schemas.microsoft.com/office/drawing/2014/main" id="{DDFE0465-8CE3-4528-A39C-EA0B1D4A4D14}"/>
              </a:ext>
            </a:extLst>
          </p:cNvPr>
          <p:cNvSpPr>
            <a:spLocks noGrp="1"/>
          </p:cNvSpPr>
          <p:nvPr/>
        </p:nvSpPr>
        <p:spPr>
          <a:xfrm>
            <a:off x="3467100" y="1952625"/>
            <a:ext cx="2476500" cy="1714500"/>
          </a:xfrm>
          <a:prstGeom prst="roundRect">
            <a:avLst>
              <a:gd name="adj" fmla="val 6667"/>
            </a:avLst>
          </a:prstGeom>
          <a:solidFill>
            <a:srgbClr val="EAF4F8"/>
          </a:solidFill>
          <a:ln w="9525">
            <a:solidFill>
              <a:srgbClr val="C9D8E3"/>
            </a:solidFill>
            <a:prstDash val="solid"/>
          </a:ln>
        </p:spPr>
        <p:txBody>
          <a:bodyPr/>
          <a:lstStyle/>
          <a:p>
            <a:endParaRPr lang="en-US"/>
          </a:p>
        </p:txBody>
      </p:sp>
      <p:sp>
        <p:nvSpPr>
          <p:cNvPr id="8" name="Rectangle 7">
            <a:extLst>
              <a:ext uri="{FF2B5EF4-FFF2-40B4-BE49-F238E27FC236}">
                <a16:creationId xmlns:a16="http://schemas.microsoft.com/office/drawing/2014/main" id="{B7C6FB7C-5DDC-4390-BF82-36392F62D4B3}"/>
              </a:ext>
            </a:extLst>
          </p:cNvPr>
          <p:cNvSpPr>
            <a:spLocks noGrp="1"/>
          </p:cNvSpPr>
          <p:nvPr/>
        </p:nvSpPr>
        <p:spPr>
          <a:xfrm>
            <a:off x="3657600" y="2333625"/>
            <a:ext cx="2095500" cy="523875"/>
          </a:xfrm>
          <a:prstGeom prst="rect">
            <a:avLst/>
          </a:prstGeom>
          <a:noFill/>
          <a:ln w="0">
            <a:noFill/>
            <a:prstDash val="solid"/>
          </a:ln>
        </p:spPr>
        <p:txBody>
          <a:bodyPr/>
          <a:lstStyle/>
          <a:p>
            <a:pPr algn="ctr">
              <a:defRPr sz="2775" b="1">
                <a:solidFill>
                  <a:srgbClr val="17845C"/>
                </a:solidFill>
              </a:defRPr>
            </a:pPr>
            <a:r>
              <a:rPr sz="2775" b="1">
                <a:solidFill>
                  <a:srgbClr val="17845C"/>
                </a:solidFill>
              </a:rPr>
              <a:t>+$3,300</a:t>
            </a:r>
          </a:p>
        </p:txBody>
      </p:sp>
      <p:sp>
        <p:nvSpPr>
          <p:cNvPr id="9" name="Rectangle 8">
            <a:extLst>
              <a:ext uri="{FF2B5EF4-FFF2-40B4-BE49-F238E27FC236}">
                <a16:creationId xmlns:a16="http://schemas.microsoft.com/office/drawing/2014/main" id="{2EDE15DF-A315-45B2-A28A-A0A1210045DF}"/>
              </a:ext>
            </a:extLst>
          </p:cNvPr>
          <p:cNvSpPr>
            <a:spLocks noGrp="1"/>
          </p:cNvSpPr>
          <p:nvPr/>
        </p:nvSpPr>
        <p:spPr>
          <a:xfrm>
            <a:off x="3657600" y="3000375"/>
            <a:ext cx="2095500" cy="523875"/>
          </a:xfrm>
          <a:prstGeom prst="rect">
            <a:avLst/>
          </a:prstGeom>
          <a:noFill/>
          <a:ln w="0">
            <a:noFill/>
            <a:prstDash val="solid"/>
          </a:ln>
        </p:spPr>
        <p:txBody>
          <a:bodyPr/>
          <a:lstStyle/>
          <a:p>
            <a:pPr algn="ctr">
              <a:defRPr sz="1275" b="0">
                <a:solidFill>
                  <a:srgbClr val="526777"/>
                </a:solidFill>
              </a:defRPr>
            </a:pPr>
            <a:r>
              <a:rPr sz="1275" b="0">
                <a:solidFill>
                  <a:srgbClr val="526777"/>
                </a:solidFill>
              </a:rPr>
              <a:t>annual employment growth</a:t>
            </a:r>
          </a:p>
        </p:txBody>
      </p:sp>
      <p:sp>
        <p:nvSpPr>
          <p:cNvPr id="10" name="Rectangle: Rounded Corners 9">
            <a:extLst>
              <a:ext uri="{FF2B5EF4-FFF2-40B4-BE49-F238E27FC236}">
                <a16:creationId xmlns:a16="http://schemas.microsoft.com/office/drawing/2014/main" id="{766A7184-FC0B-4C04-A38B-11F8047348E0}"/>
              </a:ext>
            </a:extLst>
          </p:cNvPr>
          <p:cNvSpPr>
            <a:spLocks noGrp="1"/>
          </p:cNvSpPr>
          <p:nvPr/>
        </p:nvSpPr>
        <p:spPr>
          <a:xfrm>
            <a:off x="6248400" y="1952625"/>
            <a:ext cx="2476500" cy="1714500"/>
          </a:xfrm>
          <a:prstGeom prst="roundRect">
            <a:avLst>
              <a:gd name="adj" fmla="val 6667"/>
            </a:avLst>
          </a:prstGeom>
          <a:solidFill>
            <a:srgbClr val="FFFFFF"/>
          </a:solidFill>
          <a:ln w="9525">
            <a:solidFill>
              <a:srgbClr val="C9D8E3"/>
            </a:solidFill>
            <a:prstDash val="solid"/>
          </a:ln>
        </p:spPr>
        <p:txBody>
          <a:bodyPr/>
          <a:lstStyle/>
          <a:p>
            <a:endParaRPr lang="en-US"/>
          </a:p>
        </p:txBody>
      </p:sp>
      <p:sp>
        <p:nvSpPr>
          <p:cNvPr id="11" name="Rectangle 10">
            <a:extLst>
              <a:ext uri="{FF2B5EF4-FFF2-40B4-BE49-F238E27FC236}">
                <a16:creationId xmlns:a16="http://schemas.microsoft.com/office/drawing/2014/main" id="{535CB613-8E87-41D5-AAED-156948189C58}"/>
              </a:ext>
            </a:extLst>
          </p:cNvPr>
          <p:cNvSpPr>
            <a:spLocks noGrp="1"/>
          </p:cNvSpPr>
          <p:nvPr/>
        </p:nvSpPr>
        <p:spPr>
          <a:xfrm>
            <a:off x="6438900" y="2333625"/>
            <a:ext cx="2095500" cy="523875"/>
          </a:xfrm>
          <a:prstGeom prst="rect">
            <a:avLst/>
          </a:prstGeom>
          <a:noFill/>
          <a:ln w="0">
            <a:noFill/>
            <a:prstDash val="solid"/>
          </a:ln>
        </p:spPr>
        <p:txBody>
          <a:bodyPr/>
          <a:lstStyle/>
          <a:p>
            <a:pPr algn="ctr">
              <a:defRPr sz="2775" b="1">
                <a:solidFill>
                  <a:srgbClr val="1261A0"/>
                </a:solidFill>
              </a:defRPr>
            </a:pPr>
            <a:r>
              <a:rPr sz="2775" b="1">
                <a:solidFill>
                  <a:srgbClr val="1261A0"/>
                </a:solidFill>
              </a:rPr>
              <a:t>$2,461</a:t>
            </a:r>
          </a:p>
        </p:txBody>
      </p:sp>
      <p:sp>
        <p:nvSpPr>
          <p:cNvPr id="12" name="Rectangle 11">
            <a:extLst>
              <a:ext uri="{FF2B5EF4-FFF2-40B4-BE49-F238E27FC236}">
                <a16:creationId xmlns:a16="http://schemas.microsoft.com/office/drawing/2014/main" id="{C53DAEB5-7078-4279-8E61-AF77A2F97B56}"/>
              </a:ext>
            </a:extLst>
          </p:cNvPr>
          <p:cNvSpPr>
            <a:spLocks noGrp="1"/>
          </p:cNvSpPr>
          <p:nvPr/>
        </p:nvSpPr>
        <p:spPr>
          <a:xfrm>
            <a:off x="6438900" y="3000375"/>
            <a:ext cx="2095500" cy="523875"/>
          </a:xfrm>
          <a:prstGeom prst="rect">
            <a:avLst/>
          </a:prstGeom>
          <a:noFill/>
          <a:ln w="0">
            <a:noFill/>
            <a:prstDash val="solid"/>
          </a:ln>
        </p:spPr>
        <p:txBody>
          <a:bodyPr/>
          <a:lstStyle/>
          <a:p>
            <a:pPr algn="ctr">
              <a:defRPr sz="1275" b="0">
                <a:solidFill>
                  <a:srgbClr val="526777"/>
                </a:solidFill>
              </a:defRPr>
            </a:pPr>
            <a:r>
              <a:rPr sz="1275" b="0">
                <a:solidFill>
                  <a:srgbClr val="526777"/>
                </a:solidFill>
              </a:rPr>
              <a:t>median weekly earnings</a:t>
            </a:r>
          </a:p>
        </p:txBody>
      </p:sp>
      <p:sp>
        <p:nvSpPr>
          <p:cNvPr id="13" name="Rectangle: Rounded Corners 12">
            <a:extLst>
              <a:ext uri="{FF2B5EF4-FFF2-40B4-BE49-F238E27FC236}">
                <a16:creationId xmlns:a16="http://schemas.microsoft.com/office/drawing/2014/main" id="{EA450956-13F9-45D6-9D0B-5B8EA2EFD4E5}"/>
              </a:ext>
            </a:extLst>
          </p:cNvPr>
          <p:cNvSpPr>
            <a:spLocks noGrp="1"/>
          </p:cNvSpPr>
          <p:nvPr/>
        </p:nvSpPr>
        <p:spPr>
          <a:xfrm>
            <a:off x="9029700" y="1952625"/>
            <a:ext cx="2476500" cy="1714500"/>
          </a:xfrm>
          <a:prstGeom prst="roundRect">
            <a:avLst>
              <a:gd name="adj" fmla="val 6667"/>
            </a:avLst>
          </a:prstGeom>
          <a:solidFill>
            <a:srgbClr val="EAF4F8"/>
          </a:solidFill>
          <a:ln w="9525">
            <a:solidFill>
              <a:srgbClr val="C9D8E3"/>
            </a:solidFill>
            <a:prstDash val="solid"/>
          </a:ln>
        </p:spPr>
        <p:txBody>
          <a:bodyPr/>
          <a:lstStyle/>
          <a:p>
            <a:endParaRPr lang="en-US"/>
          </a:p>
        </p:txBody>
      </p:sp>
      <p:sp>
        <p:nvSpPr>
          <p:cNvPr id="14" name="Rectangle 13">
            <a:extLst>
              <a:ext uri="{FF2B5EF4-FFF2-40B4-BE49-F238E27FC236}">
                <a16:creationId xmlns:a16="http://schemas.microsoft.com/office/drawing/2014/main" id="{B4A540CC-A8BC-4FD6-91A7-84FAD051EE80}"/>
              </a:ext>
            </a:extLst>
          </p:cNvPr>
          <p:cNvSpPr>
            <a:spLocks noGrp="1"/>
          </p:cNvSpPr>
          <p:nvPr/>
        </p:nvSpPr>
        <p:spPr>
          <a:xfrm>
            <a:off x="9220200" y="2333625"/>
            <a:ext cx="2095500" cy="523875"/>
          </a:xfrm>
          <a:prstGeom prst="rect">
            <a:avLst/>
          </a:prstGeom>
          <a:noFill/>
          <a:ln w="0">
            <a:noFill/>
            <a:prstDash val="solid"/>
          </a:ln>
        </p:spPr>
        <p:txBody>
          <a:bodyPr/>
          <a:lstStyle/>
          <a:p>
            <a:pPr algn="ctr">
              <a:defRPr sz="2775" b="1">
                <a:solidFill>
                  <a:srgbClr val="1261A0"/>
                </a:solidFill>
              </a:defRPr>
            </a:pPr>
            <a:r>
              <a:rPr sz="2775" b="1">
                <a:solidFill>
                  <a:srgbClr val="1261A0"/>
                </a:solidFill>
              </a:rPr>
              <a:t>92%</a:t>
            </a:r>
          </a:p>
        </p:txBody>
      </p:sp>
      <p:sp>
        <p:nvSpPr>
          <p:cNvPr id="15" name="Rectangle 14">
            <a:extLst>
              <a:ext uri="{FF2B5EF4-FFF2-40B4-BE49-F238E27FC236}">
                <a16:creationId xmlns:a16="http://schemas.microsoft.com/office/drawing/2014/main" id="{666ECC84-1CD3-4996-BC15-6729886B6EEA}"/>
              </a:ext>
            </a:extLst>
          </p:cNvPr>
          <p:cNvSpPr>
            <a:spLocks noGrp="1"/>
          </p:cNvSpPr>
          <p:nvPr/>
        </p:nvSpPr>
        <p:spPr>
          <a:xfrm>
            <a:off x="9220200" y="3000375"/>
            <a:ext cx="2095500" cy="523875"/>
          </a:xfrm>
          <a:prstGeom prst="rect">
            <a:avLst/>
          </a:prstGeom>
          <a:noFill/>
          <a:ln w="0">
            <a:noFill/>
            <a:prstDash val="solid"/>
          </a:ln>
        </p:spPr>
        <p:txBody>
          <a:bodyPr/>
          <a:lstStyle/>
          <a:p>
            <a:pPr algn="ctr">
              <a:defRPr sz="1275" b="0">
                <a:solidFill>
                  <a:srgbClr val="526777"/>
                </a:solidFill>
              </a:defRPr>
            </a:pPr>
            <a:r>
              <a:rPr sz="1275" b="0">
                <a:solidFill>
                  <a:srgbClr val="526777"/>
                </a:solidFill>
              </a:rPr>
              <a:t>work full-time</a:t>
            </a:r>
          </a:p>
        </p:txBody>
      </p:sp>
      <p:sp>
        <p:nvSpPr>
          <p:cNvPr id="16" name="Rectangle 15">
            <a:extLst>
              <a:ext uri="{FF2B5EF4-FFF2-40B4-BE49-F238E27FC236}">
                <a16:creationId xmlns:a16="http://schemas.microsoft.com/office/drawing/2014/main" id="{062925C9-180F-42BA-A931-87AACCAF8135}"/>
              </a:ext>
            </a:extLst>
          </p:cNvPr>
          <p:cNvSpPr>
            <a:spLocks noGrp="1"/>
          </p:cNvSpPr>
          <p:nvPr/>
        </p:nvSpPr>
        <p:spPr>
          <a:xfrm>
            <a:off x="876300" y="4429125"/>
            <a:ext cx="10382250" cy="400050"/>
          </a:xfrm>
          <a:prstGeom prst="rect">
            <a:avLst/>
          </a:prstGeom>
          <a:noFill/>
          <a:ln w="0">
            <a:noFill/>
            <a:prstDash val="solid"/>
          </a:ln>
        </p:spPr>
        <p:txBody>
          <a:bodyPr/>
          <a:lstStyle/>
          <a:p>
            <a:pPr algn="ctr">
              <a:defRPr sz="1725" b="1">
                <a:solidFill>
                  <a:srgbClr val="102A43"/>
                </a:solidFill>
              </a:defRPr>
            </a:pPr>
            <a:r>
              <a:rPr sz="1725" b="1">
                <a:solidFill>
                  <a:srgbClr val="102A43"/>
                </a:solidFill>
              </a:rPr>
              <a:t>Strongest employment shares: NSW 31.3% • Victoria 31.1% • Queensland 16.0%</a:t>
            </a:r>
          </a:p>
        </p:txBody>
      </p:sp>
      <p:sp>
        <p:nvSpPr>
          <p:cNvPr id="17" name="Rectangle 16">
            <a:extLst>
              <a:ext uri="{FF2B5EF4-FFF2-40B4-BE49-F238E27FC236}">
                <a16:creationId xmlns:a16="http://schemas.microsoft.com/office/drawing/2014/main" id="{5EF564DF-F9E6-4466-A1E3-A12F3284F5A1}"/>
              </a:ext>
            </a:extLst>
          </p:cNvPr>
          <p:cNvSpPr>
            <a:spLocks noGrp="1"/>
          </p:cNvSpPr>
          <p:nvPr/>
        </p:nvSpPr>
        <p:spPr>
          <a:xfrm>
            <a:off x="952500" y="5095875"/>
            <a:ext cx="10287000" cy="552450"/>
          </a:xfrm>
          <a:prstGeom prst="rect">
            <a:avLst/>
          </a:prstGeom>
          <a:noFill/>
          <a:ln w="0">
            <a:noFill/>
            <a:prstDash val="solid"/>
          </a:ln>
        </p:spPr>
        <p:txBody>
          <a:bodyPr/>
          <a:lstStyle/>
          <a:p>
            <a:pPr algn="ctr">
              <a:defRPr sz="1575" b="0">
                <a:solidFill>
                  <a:srgbClr val="526777"/>
                </a:solidFill>
              </a:defRPr>
            </a:pPr>
            <a:r>
              <a:rPr sz="1575" b="0">
                <a:solidFill>
                  <a:srgbClr val="526777"/>
                </a:solidFill>
              </a:rPr>
              <a:t>Relevant roles: database administrator • data modeller • SQL developer • data engineer • systems/business analyst</a:t>
            </a:r>
          </a:p>
        </p:txBody>
      </p:sp>
      <p:sp>
        <p:nvSpPr>
          <p:cNvPr id="18" name="Rectangle 17">
            <a:extLst>
              <a:ext uri="{FF2B5EF4-FFF2-40B4-BE49-F238E27FC236}">
                <a16:creationId xmlns:a16="http://schemas.microsoft.com/office/drawing/2014/main" id="{1BBA26FB-6292-495C-9C41-80BC59EDF5D3}"/>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4</a:t>
            </a:r>
          </a:p>
        </p:txBody>
      </p:sp>
    </p:spTree>
    <p:extLst>
      <p:ext uri="{BB962C8B-B14F-4D97-AF65-F5344CB8AC3E}">
        <p14:creationId xmlns:p14="http://schemas.microsoft.com/office/powerpoint/2010/main" val="90979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24F074A-C697-4059-BC5A-8D2334691E3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The skill trend is broader than writing SQL</a:t>
            </a:r>
          </a:p>
        </p:txBody>
      </p:sp>
      <p:sp>
        <p:nvSpPr>
          <p:cNvPr id="2" name="Rectangle 1">
            <a:extLst>
              <a:ext uri="{FF2B5EF4-FFF2-40B4-BE49-F238E27FC236}">
                <a16:creationId xmlns:a16="http://schemas.microsoft.com/office/drawing/2014/main" id="{5393E2BD-0331-456D-8841-BD6F6023650F}"/>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3552DCFB-0931-4A3C-9023-10FEAB8CDDAC}"/>
              </a:ext>
            </a:extLst>
          </p:cNvPr>
          <p:cNvSpPr>
            <a:spLocks noGrp="1"/>
          </p:cNvSpPr>
          <p:nvPr/>
        </p:nvSpPr>
        <p:spPr>
          <a:xfrm>
            <a:off x="571500" y="1714500"/>
            <a:ext cx="2571750" cy="361950"/>
          </a:xfrm>
          <a:prstGeom prst="rect">
            <a:avLst/>
          </a:prstGeom>
          <a:noFill/>
          <a:ln w="0">
            <a:noFill/>
            <a:prstDash val="solid"/>
          </a:ln>
        </p:spPr>
        <p:txBody>
          <a:bodyPr/>
          <a:lstStyle/>
          <a:p>
            <a:pPr algn="l">
              <a:defRPr sz="1800" b="1">
                <a:solidFill>
                  <a:srgbClr val="1261A0"/>
                </a:solidFill>
              </a:defRPr>
            </a:pPr>
            <a:r>
              <a:rPr sz="1800" b="1">
                <a:solidFill>
                  <a:srgbClr val="1261A0"/>
                </a:solidFill>
              </a:rPr>
              <a:t>Design</a:t>
            </a:r>
          </a:p>
        </p:txBody>
      </p:sp>
      <p:sp>
        <p:nvSpPr>
          <p:cNvPr id="4" name="Rectangle 3">
            <a:extLst>
              <a:ext uri="{FF2B5EF4-FFF2-40B4-BE49-F238E27FC236}">
                <a16:creationId xmlns:a16="http://schemas.microsoft.com/office/drawing/2014/main" id="{0BF77E60-4A2E-4140-8E4B-819FE98E2ACD}"/>
              </a:ext>
            </a:extLst>
          </p:cNvPr>
          <p:cNvSpPr>
            <a:spLocks noGrp="1"/>
          </p:cNvSpPr>
          <p:nvPr/>
        </p:nvSpPr>
        <p:spPr>
          <a:xfrm>
            <a:off x="571500" y="2333625"/>
            <a:ext cx="2571750" cy="2095500"/>
          </a:xfrm>
          <a:prstGeom prst="rect">
            <a:avLst/>
          </a:prstGeom>
          <a:noFill/>
          <a:ln w="0">
            <a:noFill/>
            <a:prstDash val="solid"/>
          </a:ln>
        </p:spPr>
        <p:txBody>
          <a:bodyPr/>
          <a:lstStyle/>
          <a:p>
            <a:pPr algn="l">
              <a:defRPr sz="1725" b="0">
                <a:solidFill>
                  <a:srgbClr val="102A43"/>
                </a:solidFill>
              </a:defRPr>
            </a:pPr>
            <a:r>
              <a:rPr sz="1725" b="0">
                <a:solidFill>
                  <a:srgbClr val="102A43"/>
                </a:solidFill>
              </a:rPr>
              <a:t>Requirements</a:t>
            </a:r>
          </a:p>
          <a:p>
            <a:pPr algn="l">
              <a:defRPr sz="1725" b="0">
                <a:solidFill>
                  <a:srgbClr val="102A43"/>
                </a:solidFill>
              </a:defRPr>
            </a:pPr>
            <a:r>
              <a:rPr sz="1725" b="0">
                <a:solidFill>
                  <a:srgbClr val="102A43"/>
                </a:solidFill>
              </a:rPr>
              <a:t>ER modelling</a:t>
            </a:r>
          </a:p>
          <a:p>
            <a:pPr algn="l">
              <a:defRPr sz="1725" b="0">
                <a:solidFill>
                  <a:srgbClr val="102A43"/>
                </a:solidFill>
              </a:defRPr>
            </a:pPr>
            <a:r>
              <a:rPr sz="1725" b="0">
                <a:solidFill>
                  <a:srgbClr val="102A43"/>
                </a:solidFill>
              </a:rPr>
              <a:t>Keys &amp; constraints</a:t>
            </a:r>
          </a:p>
          <a:p>
            <a:pPr algn="l">
              <a:defRPr sz="1725" b="0">
                <a:solidFill>
                  <a:srgbClr val="102A43"/>
                </a:solidFill>
              </a:defRPr>
            </a:pPr>
            <a:r>
              <a:rPr sz="1725" b="0">
                <a:solidFill>
                  <a:srgbClr val="102A43"/>
                </a:solidFill>
              </a:rPr>
              <a:t>Normalisation</a:t>
            </a:r>
          </a:p>
        </p:txBody>
      </p:sp>
      <p:sp>
        <p:nvSpPr>
          <p:cNvPr id="5" name="Rectangle 4">
            <a:extLst>
              <a:ext uri="{FF2B5EF4-FFF2-40B4-BE49-F238E27FC236}">
                <a16:creationId xmlns:a16="http://schemas.microsoft.com/office/drawing/2014/main" id="{3ADA96E6-8FF2-41D7-AC44-0F202E2ACD06}"/>
              </a:ext>
            </a:extLst>
          </p:cNvPr>
          <p:cNvSpPr>
            <a:spLocks noGrp="1"/>
          </p:cNvSpPr>
          <p:nvPr/>
        </p:nvSpPr>
        <p:spPr>
          <a:xfrm>
            <a:off x="3448050" y="1714500"/>
            <a:ext cx="2571750" cy="361950"/>
          </a:xfrm>
          <a:prstGeom prst="rect">
            <a:avLst/>
          </a:prstGeom>
          <a:noFill/>
          <a:ln w="0">
            <a:noFill/>
            <a:prstDash val="solid"/>
          </a:ln>
        </p:spPr>
        <p:txBody>
          <a:bodyPr/>
          <a:lstStyle/>
          <a:p>
            <a:pPr algn="l">
              <a:defRPr sz="1800" b="1">
                <a:solidFill>
                  <a:srgbClr val="18A6B8"/>
                </a:solidFill>
              </a:defRPr>
            </a:pPr>
            <a:r>
              <a:rPr sz="1800" b="1">
                <a:solidFill>
                  <a:srgbClr val="18A6B8"/>
                </a:solidFill>
              </a:rPr>
              <a:t>Build</a:t>
            </a:r>
          </a:p>
        </p:txBody>
      </p:sp>
      <p:sp>
        <p:nvSpPr>
          <p:cNvPr id="6" name="Rectangle 5">
            <a:extLst>
              <a:ext uri="{FF2B5EF4-FFF2-40B4-BE49-F238E27FC236}">
                <a16:creationId xmlns:a16="http://schemas.microsoft.com/office/drawing/2014/main" id="{7F01BE43-4E0B-40C6-AFC5-D6F57B8B2999}"/>
              </a:ext>
            </a:extLst>
          </p:cNvPr>
          <p:cNvSpPr>
            <a:spLocks noGrp="1"/>
          </p:cNvSpPr>
          <p:nvPr/>
        </p:nvSpPr>
        <p:spPr>
          <a:xfrm>
            <a:off x="3448050" y="2333625"/>
            <a:ext cx="2571750" cy="2095500"/>
          </a:xfrm>
          <a:prstGeom prst="rect">
            <a:avLst/>
          </a:prstGeom>
          <a:noFill/>
          <a:ln w="0">
            <a:noFill/>
            <a:prstDash val="solid"/>
          </a:ln>
        </p:spPr>
        <p:txBody>
          <a:bodyPr/>
          <a:lstStyle/>
          <a:p>
            <a:pPr algn="l">
              <a:defRPr sz="1725" b="0">
                <a:solidFill>
                  <a:srgbClr val="102A43"/>
                </a:solidFill>
              </a:defRPr>
            </a:pPr>
            <a:r>
              <a:rPr sz="1725" b="0">
                <a:solidFill>
                  <a:srgbClr val="102A43"/>
                </a:solidFill>
              </a:rPr>
              <a:t>PostgreSQL</a:t>
            </a:r>
          </a:p>
          <a:p>
            <a:pPr algn="l">
              <a:defRPr sz="1725" b="0">
                <a:solidFill>
                  <a:srgbClr val="102A43"/>
                </a:solidFill>
              </a:defRPr>
            </a:pPr>
            <a:r>
              <a:rPr sz="1725" b="0">
                <a:solidFill>
                  <a:srgbClr val="102A43"/>
                </a:solidFill>
              </a:rPr>
              <a:t>DDL &amp; DML</a:t>
            </a:r>
          </a:p>
          <a:p>
            <a:pPr algn="l">
              <a:defRPr sz="1725" b="0">
                <a:solidFill>
                  <a:srgbClr val="102A43"/>
                </a:solidFill>
              </a:defRPr>
            </a:pPr>
            <a:r>
              <a:rPr sz="1725" b="0">
                <a:solidFill>
                  <a:srgbClr val="102A43"/>
                </a:solidFill>
              </a:rPr>
              <a:t>Views &amp; functions</a:t>
            </a:r>
          </a:p>
          <a:p>
            <a:pPr algn="l">
              <a:defRPr sz="1725" b="0">
                <a:solidFill>
                  <a:srgbClr val="102A43"/>
                </a:solidFill>
              </a:defRPr>
            </a:pPr>
            <a:r>
              <a:rPr sz="1725" b="0">
                <a:solidFill>
                  <a:srgbClr val="102A43"/>
                </a:solidFill>
              </a:rPr>
              <a:t>Testing</a:t>
            </a:r>
          </a:p>
        </p:txBody>
      </p:sp>
      <p:sp>
        <p:nvSpPr>
          <p:cNvPr id="7" name="Rectangle 6">
            <a:extLst>
              <a:ext uri="{FF2B5EF4-FFF2-40B4-BE49-F238E27FC236}">
                <a16:creationId xmlns:a16="http://schemas.microsoft.com/office/drawing/2014/main" id="{A42941EC-D7FA-4857-9EC3-D6F3052153E0}"/>
              </a:ext>
            </a:extLst>
          </p:cNvPr>
          <p:cNvSpPr>
            <a:spLocks noGrp="1"/>
          </p:cNvSpPr>
          <p:nvPr/>
        </p:nvSpPr>
        <p:spPr>
          <a:xfrm>
            <a:off x="6324600" y="1714500"/>
            <a:ext cx="2571750" cy="361950"/>
          </a:xfrm>
          <a:prstGeom prst="rect">
            <a:avLst/>
          </a:prstGeom>
          <a:noFill/>
          <a:ln w="0">
            <a:noFill/>
            <a:prstDash val="solid"/>
          </a:ln>
        </p:spPr>
        <p:txBody>
          <a:bodyPr/>
          <a:lstStyle/>
          <a:p>
            <a:pPr algn="l">
              <a:defRPr sz="1800" b="1">
                <a:solidFill>
                  <a:srgbClr val="17845C"/>
                </a:solidFill>
              </a:defRPr>
            </a:pPr>
            <a:r>
              <a:rPr sz="1800" b="1">
                <a:solidFill>
                  <a:srgbClr val="17845C"/>
                </a:solidFill>
              </a:rPr>
              <a:t>Operate</a:t>
            </a:r>
          </a:p>
        </p:txBody>
      </p:sp>
      <p:sp>
        <p:nvSpPr>
          <p:cNvPr id="8" name="Rectangle 7">
            <a:extLst>
              <a:ext uri="{FF2B5EF4-FFF2-40B4-BE49-F238E27FC236}">
                <a16:creationId xmlns:a16="http://schemas.microsoft.com/office/drawing/2014/main" id="{A03A6088-E130-43CB-A548-B50AB379E5F8}"/>
              </a:ext>
            </a:extLst>
          </p:cNvPr>
          <p:cNvSpPr>
            <a:spLocks noGrp="1"/>
          </p:cNvSpPr>
          <p:nvPr/>
        </p:nvSpPr>
        <p:spPr>
          <a:xfrm>
            <a:off x="6324600" y="2333625"/>
            <a:ext cx="2571750" cy="2095500"/>
          </a:xfrm>
          <a:prstGeom prst="rect">
            <a:avLst/>
          </a:prstGeom>
          <a:noFill/>
          <a:ln w="0">
            <a:noFill/>
            <a:prstDash val="solid"/>
          </a:ln>
        </p:spPr>
        <p:txBody>
          <a:bodyPr/>
          <a:lstStyle/>
          <a:p>
            <a:pPr algn="l">
              <a:defRPr sz="1725" b="0">
                <a:solidFill>
                  <a:srgbClr val="102A43"/>
                </a:solidFill>
              </a:defRPr>
            </a:pPr>
            <a:r>
              <a:rPr sz="1725" b="0">
                <a:solidFill>
                  <a:srgbClr val="102A43"/>
                </a:solidFill>
              </a:rPr>
              <a:t>Security</a:t>
            </a:r>
          </a:p>
          <a:p>
            <a:pPr algn="l">
              <a:defRPr sz="1725" b="0">
                <a:solidFill>
                  <a:srgbClr val="102A43"/>
                </a:solidFill>
              </a:defRPr>
            </a:pPr>
            <a:r>
              <a:rPr sz="1725" b="0">
                <a:solidFill>
                  <a:srgbClr val="102A43"/>
                </a:solidFill>
              </a:rPr>
              <a:t>Transactions</a:t>
            </a:r>
          </a:p>
          <a:p>
            <a:pPr algn="l">
              <a:defRPr sz="1725" b="0">
                <a:solidFill>
                  <a:srgbClr val="102A43"/>
                </a:solidFill>
              </a:defRPr>
            </a:pPr>
            <a:r>
              <a:rPr sz="1725" b="0">
                <a:solidFill>
                  <a:srgbClr val="102A43"/>
                </a:solidFill>
              </a:rPr>
              <a:t>Optimisation</a:t>
            </a:r>
          </a:p>
          <a:p>
            <a:pPr algn="l">
              <a:defRPr sz="1725" b="0">
                <a:solidFill>
                  <a:srgbClr val="102A43"/>
                </a:solidFill>
              </a:defRPr>
            </a:pPr>
            <a:r>
              <a:rPr sz="1725" b="0">
                <a:solidFill>
                  <a:srgbClr val="102A43"/>
                </a:solidFill>
              </a:rPr>
              <a:t>Backup &amp; recovery</a:t>
            </a:r>
          </a:p>
        </p:txBody>
      </p:sp>
      <p:sp>
        <p:nvSpPr>
          <p:cNvPr id="9" name="Rectangle 8">
            <a:extLst>
              <a:ext uri="{FF2B5EF4-FFF2-40B4-BE49-F238E27FC236}">
                <a16:creationId xmlns:a16="http://schemas.microsoft.com/office/drawing/2014/main" id="{41EFA5F0-BD07-4C48-A9D2-2266C563A2F8}"/>
              </a:ext>
            </a:extLst>
          </p:cNvPr>
          <p:cNvSpPr>
            <a:spLocks noGrp="1"/>
          </p:cNvSpPr>
          <p:nvPr/>
        </p:nvSpPr>
        <p:spPr>
          <a:xfrm>
            <a:off x="9201150" y="1714500"/>
            <a:ext cx="2571750" cy="361950"/>
          </a:xfrm>
          <a:prstGeom prst="rect">
            <a:avLst/>
          </a:prstGeom>
          <a:noFill/>
          <a:ln w="0">
            <a:noFill/>
            <a:prstDash val="solid"/>
          </a:ln>
        </p:spPr>
        <p:txBody>
          <a:bodyPr/>
          <a:lstStyle/>
          <a:p>
            <a:pPr algn="l">
              <a:defRPr sz="1800" b="1">
                <a:solidFill>
                  <a:srgbClr val="F2B134"/>
                </a:solidFill>
              </a:defRPr>
            </a:pPr>
            <a:r>
              <a:rPr sz="1800" b="1">
                <a:solidFill>
                  <a:srgbClr val="F2B134"/>
                </a:solidFill>
              </a:rPr>
              <a:t>Communicate</a:t>
            </a:r>
          </a:p>
        </p:txBody>
      </p:sp>
      <p:sp>
        <p:nvSpPr>
          <p:cNvPr id="10" name="Rectangle 9">
            <a:extLst>
              <a:ext uri="{FF2B5EF4-FFF2-40B4-BE49-F238E27FC236}">
                <a16:creationId xmlns:a16="http://schemas.microsoft.com/office/drawing/2014/main" id="{433591DC-8611-43AB-877E-E5EA27989936}"/>
              </a:ext>
            </a:extLst>
          </p:cNvPr>
          <p:cNvSpPr>
            <a:spLocks noGrp="1"/>
          </p:cNvSpPr>
          <p:nvPr/>
        </p:nvSpPr>
        <p:spPr>
          <a:xfrm>
            <a:off x="9201150" y="2333625"/>
            <a:ext cx="2571750" cy="2095500"/>
          </a:xfrm>
          <a:prstGeom prst="rect">
            <a:avLst/>
          </a:prstGeom>
          <a:noFill/>
          <a:ln w="0">
            <a:noFill/>
            <a:prstDash val="solid"/>
          </a:ln>
        </p:spPr>
        <p:txBody>
          <a:bodyPr/>
          <a:lstStyle/>
          <a:p>
            <a:pPr algn="l">
              <a:defRPr sz="1725" b="0">
                <a:solidFill>
                  <a:srgbClr val="102A43"/>
                </a:solidFill>
              </a:defRPr>
            </a:pPr>
            <a:r>
              <a:rPr sz="1725" b="0">
                <a:solidFill>
                  <a:srgbClr val="102A43"/>
                </a:solidFill>
              </a:rPr>
              <a:t>Documentation</a:t>
            </a:r>
          </a:p>
          <a:p>
            <a:pPr algn="l">
              <a:defRPr sz="1725" b="0">
                <a:solidFill>
                  <a:srgbClr val="102A43"/>
                </a:solidFill>
              </a:defRPr>
            </a:pPr>
            <a:r>
              <a:rPr sz="1725" b="0">
                <a:solidFill>
                  <a:srgbClr val="102A43"/>
                </a:solidFill>
              </a:rPr>
              <a:t>Business context</a:t>
            </a:r>
          </a:p>
          <a:p>
            <a:pPr algn="l">
              <a:defRPr sz="1725" b="0">
                <a:solidFill>
                  <a:srgbClr val="102A43"/>
                </a:solidFill>
              </a:defRPr>
            </a:pPr>
            <a:r>
              <a:rPr sz="1725" b="0">
                <a:solidFill>
                  <a:srgbClr val="102A43"/>
                </a:solidFill>
              </a:rPr>
              <a:t>Team decisions</a:t>
            </a:r>
          </a:p>
          <a:p>
            <a:pPr algn="l">
              <a:defRPr sz="1725" b="0">
                <a:solidFill>
                  <a:srgbClr val="102A43"/>
                </a:solidFill>
              </a:defRPr>
            </a:pPr>
            <a:r>
              <a:rPr sz="1725" b="0">
                <a:solidFill>
                  <a:srgbClr val="102A43"/>
                </a:solidFill>
              </a:rPr>
              <a:t>Evidence-based advice</a:t>
            </a:r>
          </a:p>
        </p:txBody>
      </p:sp>
      <p:sp>
        <p:nvSpPr>
          <p:cNvPr id="11" name="Rectangle 10">
            <a:extLst>
              <a:ext uri="{FF2B5EF4-FFF2-40B4-BE49-F238E27FC236}">
                <a16:creationId xmlns:a16="http://schemas.microsoft.com/office/drawing/2014/main" id="{F0F8A2D5-CA2C-44F2-9F00-190043065A34}"/>
              </a:ext>
            </a:extLst>
          </p:cNvPr>
          <p:cNvSpPr>
            <a:spLocks noGrp="1"/>
          </p:cNvSpPr>
          <p:nvPr/>
        </p:nvSpPr>
        <p:spPr>
          <a:xfrm>
            <a:off x="952500" y="5143500"/>
            <a:ext cx="10287000" cy="571500"/>
          </a:xfrm>
          <a:prstGeom prst="rect">
            <a:avLst/>
          </a:prstGeom>
          <a:noFill/>
          <a:ln w="0">
            <a:noFill/>
            <a:prstDash val="solid"/>
          </a:ln>
        </p:spPr>
        <p:txBody>
          <a:bodyPr/>
          <a:lstStyle/>
          <a:p>
            <a:pPr algn="ctr">
              <a:defRPr sz="1950" b="1">
                <a:solidFill>
                  <a:srgbClr val="B33A3A"/>
                </a:solidFill>
              </a:defRPr>
            </a:pPr>
            <a:r>
              <a:rPr sz="1950" b="1">
                <a:solidFill>
                  <a:srgbClr val="B33A3A"/>
                </a:solidFill>
              </a:rPr>
              <a:t>AI can draft a query. Professionals must verify correctness, security, performance and meaning.</a:t>
            </a:r>
          </a:p>
        </p:txBody>
      </p:sp>
      <p:sp>
        <p:nvSpPr>
          <p:cNvPr id="12" name="Rectangle 11">
            <a:extLst>
              <a:ext uri="{FF2B5EF4-FFF2-40B4-BE49-F238E27FC236}">
                <a16:creationId xmlns:a16="http://schemas.microsoft.com/office/drawing/2014/main" id="{632B4B26-6A23-41C6-A0DA-26163627CE55}"/>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5</a:t>
            </a:r>
          </a:p>
        </p:txBody>
      </p:sp>
    </p:spTree>
    <p:extLst>
      <p:ext uri="{BB962C8B-B14F-4D97-AF65-F5344CB8AC3E}">
        <p14:creationId xmlns:p14="http://schemas.microsoft.com/office/powerpoint/2010/main" val="2019024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B418E57-F32F-4C16-9A86-63BF6F3FA116}"/>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By the end of HI5033, you should be able to…</a:t>
            </a:r>
          </a:p>
        </p:txBody>
      </p:sp>
      <p:sp>
        <p:nvSpPr>
          <p:cNvPr id="2" name="Rectangle 1">
            <a:extLst>
              <a:ext uri="{FF2B5EF4-FFF2-40B4-BE49-F238E27FC236}">
                <a16:creationId xmlns:a16="http://schemas.microsoft.com/office/drawing/2014/main" id="{7E6643EA-E36A-4211-96BD-6B1CBECCEFCB}"/>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DED3A1BA-E896-4BFE-B179-31436E05E1A6}"/>
              </a:ext>
            </a:extLst>
          </p:cNvPr>
          <p:cNvSpPr>
            <a:spLocks noGrp="1"/>
          </p:cNvSpPr>
          <p:nvPr/>
        </p:nvSpPr>
        <p:spPr>
          <a:xfrm>
            <a:off x="685800" y="1562100"/>
            <a:ext cx="552450" cy="552450"/>
          </a:xfrm>
          <a:prstGeom prst="roundRect">
            <a:avLst>
              <a:gd name="adj" fmla="val 20690"/>
            </a:avLst>
          </a:prstGeom>
          <a:solidFill>
            <a:srgbClr val="1261A0"/>
          </a:solidFill>
          <a:ln w="9525">
            <a:solidFill>
              <a:srgbClr val="1261A0"/>
            </a:solidFill>
            <a:prstDash val="solid"/>
          </a:ln>
        </p:spPr>
        <p:txBody>
          <a:bodyPr/>
          <a:lstStyle/>
          <a:p>
            <a:endParaRPr lang="en-US"/>
          </a:p>
        </p:txBody>
      </p:sp>
      <p:sp>
        <p:nvSpPr>
          <p:cNvPr id="4" name="Rectangle 3">
            <a:extLst>
              <a:ext uri="{FF2B5EF4-FFF2-40B4-BE49-F238E27FC236}">
                <a16:creationId xmlns:a16="http://schemas.microsoft.com/office/drawing/2014/main" id="{8327C399-9578-4DB1-92AA-BD46C54BBE51}"/>
              </a:ext>
            </a:extLst>
          </p:cNvPr>
          <p:cNvSpPr>
            <a:spLocks noGrp="1"/>
          </p:cNvSpPr>
          <p:nvPr/>
        </p:nvSpPr>
        <p:spPr>
          <a:xfrm>
            <a:off x="685800" y="1676400"/>
            <a:ext cx="552450" cy="285750"/>
          </a:xfrm>
          <a:prstGeom prst="rect">
            <a:avLst/>
          </a:prstGeom>
          <a:noFill/>
          <a:ln w="0">
            <a:noFill/>
            <a:prstDash val="solid"/>
          </a:ln>
        </p:spPr>
        <p:txBody>
          <a:bodyPr/>
          <a:lstStyle/>
          <a:p>
            <a:pPr algn="ctr">
              <a:defRPr sz="1500" b="1">
                <a:solidFill>
                  <a:srgbClr val="FFFFFF"/>
                </a:solidFill>
              </a:defRPr>
            </a:pPr>
            <a:r>
              <a:rPr sz="1500" b="1">
                <a:solidFill>
                  <a:srgbClr val="FFFFFF"/>
                </a:solidFill>
              </a:rPr>
              <a:t>1</a:t>
            </a:r>
          </a:p>
        </p:txBody>
      </p:sp>
      <p:sp>
        <p:nvSpPr>
          <p:cNvPr id="5" name="Rectangle 4">
            <a:extLst>
              <a:ext uri="{FF2B5EF4-FFF2-40B4-BE49-F238E27FC236}">
                <a16:creationId xmlns:a16="http://schemas.microsoft.com/office/drawing/2014/main" id="{919F37C3-0D6E-491F-AEAF-9C785042677D}"/>
              </a:ext>
            </a:extLst>
          </p:cNvPr>
          <p:cNvSpPr>
            <a:spLocks noGrp="1"/>
          </p:cNvSpPr>
          <p:nvPr/>
        </p:nvSpPr>
        <p:spPr>
          <a:xfrm>
            <a:off x="1466850" y="1571625"/>
            <a:ext cx="9810750" cy="552450"/>
          </a:xfrm>
          <a:prstGeom prst="rect">
            <a:avLst/>
          </a:prstGeom>
          <a:noFill/>
          <a:ln w="0">
            <a:noFill/>
            <a:prstDash val="solid"/>
          </a:ln>
        </p:spPr>
        <p:txBody>
          <a:bodyPr/>
          <a:lstStyle/>
          <a:p>
            <a:pPr algn="l">
              <a:defRPr sz="1575" b="0">
                <a:solidFill>
                  <a:srgbClr val="102A43"/>
                </a:solidFill>
              </a:defRPr>
            </a:pPr>
            <a:r>
              <a:rPr sz="1575" b="0">
                <a:solidFill>
                  <a:srgbClr val="102A43"/>
                </a:solidFill>
              </a:rPr>
              <a:t>Evaluate core data and database concepts critically</a:t>
            </a:r>
          </a:p>
        </p:txBody>
      </p:sp>
      <p:sp>
        <p:nvSpPr>
          <p:cNvPr id="6" name="Rectangle: Rounded Corners 5">
            <a:extLst>
              <a:ext uri="{FF2B5EF4-FFF2-40B4-BE49-F238E27FC236}">
                <a16:creationId xmlns:a16="http://schemas.microsoft.com/office/drawing/2014/main" id="{74249588-212F-4708-815B-10019281A52A}"/>
              </a:ext>
            </a:extLst>
          </p:cNvPr>
          <p:cNvSpPr>
            <a:spLocks noGrp="1"/>
          </p:cNvSpPr>
          <p:nvPr/>
        </p:nvSpPr>
        <p:spPr>
          <a:xfrm>
            <a:off x="685800" y="2438400"/>
            <a:ext cx="552450" cy="552450"/>
          </a:xfrm>
          <a:prstGeom prst="roundRect">
            <a:avLst>
              <a:gd name="adj" fmla="val 20690"/>
            </a:avLst>
          </a:prstGeom>
          <a:solidFill>
            <a:srgbClr val="1261A0"/>
          </a:solidFill>
          <a:ln w="9525">
            <a:solidFill>
              <a:srgbClr val="1261A0"/>
            </a:solidFill>
            <a:prstDash val="solid"/>
          </a:ln>
        </p:spPr>
        <p:txBody>
          <a:bodyPr/>
          <a:lstStyle/>
          <a:p>
            <a:endParaRPr lang="en-US"/>
          </a:p>
        </p:txBody>
      </p:sp>
      <p:sp>
        <p:nvSpPr>
          <p:cNvPr id="7" name="Rectangle 6">
            <a:extLst>
              <a:ext uri="{FF2B5EF4-FFF2-40B4-BE49-F238E27FC236}">
                <a16:creationId xmlns:a16="http://schemas.microsoft.com/office/drawing/2014/main" id="{6A47D9C7-05EA-4BD9-A569-2542C8580A38}"/>
              </a:ext>
            </a:extLst>
          </p:cNvPr>
          <p:cNvSpPr>
            <a:spLocks noGrp="1"/>
          </p:cNvSpPr>
          <p:nvPr/>
        </p:nvSpPr>
        <p:spPr>
          <a:xfrm>
            <a:off x="685800" y="2552700"/>
            <a:ext cx="552450" cy="285750"/>
          </a:xfrm>
          <a:prstGeom prst="rect">
            <a:avLst/>
          </a:prstGeom>
          <a:noFill/>
          <a:ln w="0">
            <a:noFill/>
            <a:prstDash val="solid"/>
          </a:ln>
        </p:spPr>
        <p:txBody>
          <a:bodyPr/>
          <a:lstStyle/>
          <a:p>
            <a:pPr algn="ctr">
              <a:defRPr sz="1500" b="1">
                <a:solidFill>
                  <a:srgbClr val="FFFFFF"/>
                </a:solidFill>
              </a:defRPr>
            </a:pPr>
            <a:r>
              <a:rPr sz="1500" b="1">
                <a:solidFill>
                  <a:srgbClr val="FFFFFF"/>
                </a:solidFill>
              </a:rPr>
              <a:t>2</a:t>
            </a:r>
          </a:p>
        </p:txBody>
      </p:sp>
      <p:sp>
        <p:nvSpPr>
          <p:cNvPr id="8" name="Rectangle 7">
            <a:extLst>
              <a:ext uri="{FF2B5EF4-FFF2-40B4-BE49-F238E27FC236}">
                <a16:creationId xmlns:a16="http://schemas.microsoft.com/office/drawing/2014/main" id="{6AFD1F4B-85B4-4B36-9989-D40745637210}"/>
              </a:ext>
            </a:extLst>
          </p:cNvPr>
          <p:cNvSpPr>
            <a:spLocks noGrp="1"/>
          </p:cNvSpPr>
          <p:nvPr/>
        </p:nvSpPr>
        <p:spPr>
          <a:xfrm>
            <a:off x="1466850" y="2447925"/>
            <a:ext cx="9810750" cy="552450"/>
          </a:xfrm>
          <a:prstGeom prst="rect">
            <a:avLst/>
          </a:prstGeom>
          <a:noFill/>
          <a:ln w="0">
            <a:noFill/>
            <a:prstDash val="solid"/>
          </a:ln>
        </p:spPr>
        <p:txBody>
          <a:bodyPr/>
          <a:lstStyle/>
          <a:p>
            <a:pPr algn="l">
              <a:defRPr sz="1575" b="0">
                <a:solidFill>
                  <a:srgbClr val="102A43"/>
                </a:solidFill>
              </a:defRPr>
            </a:pPr>
            <a:r>
              <a:rPr sz="1575" b="0">
                <a:solidFill>
                  <a:srgbClr val="102A43"/>
                </a:solidFill>
              </a:rPr>
              <a:t>Assess relational designs using dependencies and normal forms</a:t>
            </a:r>
          </a:p>
        </p:txBody>
      </p:sp>
      <p:sp>
        <p:nvSpPr>
          <p:cNvPr id="9" name="Rectangle: Rounded Corners 8">
            <a:extLst>
              <a:ext uri="{FF2B5EF4-FFF2-40B4-BE49-F238E27FC236}">
                <a16:creationId xmlns:a16="http://schemas.microsoft.com/office/drawing/2014/main" id="{999B169B-F0B4-49A4-B7FA-AC9F16D4F345}"/>
              </a:ext>
            </a:extLst>
          </p:cNvPr>
          <p:cNvSpPr>
            <a:spLocks noGrp="1"/>
          </p:cNvSpPr>
          <p:nvPr/>
        </p:nvSpPr>
        <p:spPr>
          <a:xfrm>
            <a:off x="685800" y="3314700"/>
            <a:ext cx="552450" cy="552450"/>
          </a:xfrm>
          <a:prstGeom prst="roundRect">
            <a:avLst>
              <a:gd name="adj" fmla="val 20690"/>
            </a:avLst>
          </a:prstGeom>
          <a:solidFill>
            <a:srgbClr val="1261A0"/>
          </a:solidFill>
          <a:ln w="9525">
            <a:solidFill>
              <a:srgbClr val="1261A0"/>
            </a:solidFill>
            <a:prstDash val="solid"/>
          </a:ln>
        </p:spPr>
        <p:txBody>
          <a:bodyPr/>
          <a:lstStyle/>
          <a:p>
            <a:endParaRPr lang="en-US"/>
          </a:p>
        </p:txBody>
      </p:sp>
      <p:sp>
        <p:nvSpPr>
          <p:cNvPr id="10" name="Rectangle 9">
            <a:extLst>
              <a:ext uri="{FF2B5EF4-FFF2-40B4-BE49-F238E27FC236}">
                <a16:creationId xmlns:a16="http://schemas.microsoft.com/office/drawing/2014/main" id="{37CA0040-45C6-499F-BB41-7E29BC2E8AF4}"/>
              </a:ext>
            </a:extLst>
          </p:cNvPr>
          <p:cNvSpPr>
            <a:spLocks noGrp="1"/>
          </p:cNvSpPr>
          <p:nvPr/>
        </p:nvSpPr>
        <p:spPr>
          <a:xfrm>
            <a:off x="685800" y="3429000"/>
            <a:ext cx="552450" cy="285750"/>
          </a:xfrm>
          <a:prstGeom prst="rect">
            <a:avLst/>
          </a:prstGeom>
          <a:noFill/>
          <a:ln w="0">
            <a:noFill/>
            <a:prstDash val="solid"/>
          </a:ln>
        </p:spPr>
        <p:txBody>
          <a:bodyPr/>
          <a:lstStyle/>
          <a:p>
            <a:pPr algn="ctr">
              <a:defRPr sz="1500" b="1">
                <a:solidFill>
                  <a:srgbClr val="FFFFFF"/>
                </a:solidFill>
              </a:defRPr>
            </a:pPr>
            <a:r>
              <a:rPr sz="1500" b="1">
                <a:solidFill>
                  <a:srgbClr val="FFFFFF"/>
                </a:solidFill>
              </a:rPr>
              <a:t>3</a:t>
            </a:r>
          </a:p>
        </p:txBody>
      </p:sp>
      <p:sp>
        <p:nvSpPr>
          <p:cNvPr id="11" name="Rectangle 10">
            <a:extLst>
              <a:ext uri="{FF2B5EF4-FFF2-40B4-BE49-F238E27FC236}">
                <a16:creationId xmlns:a16="http://schemas.microsoft.com/office/drawing/2014/main" id="{5DDEBF00-8A59-49EF-A0FA-0897DE9B88EF}"/>
              </a:ext>
            </a:extLst>
          </p:cNvPr>
          <p:cNvSpPr>
            <a:spLocks noGrp="1"/>
          </p:cNvSpPr>
          <p:nvPr/>
        </p:nvSpPr>
        <p:spPr>
          <a:xfrm>
            <a:off x="1466850" y="3324225"/>
            <a:ext cx="9810750" cy="552450"/>
          </a:xfrm>
          <a:prstGeom prst="rect">
            <a:avLst/>
          </a:prstGeom>
          <a:noFill/>
          <a:ln w="0">
            <a:noFill/>
            <a:prstDash val="solid"/>
          </a:ln>
        </p:spPr>
        <p:txBody>
          <a:bodyPr/>
          <a:lstStyle/>
          <a:p>
            <a:pPr algn="l">
              <a:defRPr sz="1575" b="0">
                <a:solidFill>
                  <a:srgbClr val="102A43"/>
                </a:solidFill>
              </a:defRPr>
            </a:pPr>
            <a:r>
              <a:rPr sz="1575" b="0">
                <a:solidFill>
                  <a:srgbClr val="102A43"/>
                </a:solidFill>
              </a:rPr>
              <a:t>Apply query processing, optimisation, transaction and security concepts</a:t>
            </a:r>
          </a:p>
        </p:txBody>
      </p:sp>
      <p:sp>
        <p:nvSpPr>
          <p:cNvPr id="12" name="Rectangle: Rounded Corners 11">
            <a:extLst>
              <a:ext uri="{FF2B5EF4-FFF2-40B4-BE49-F238E27FC236}">
                <a16:creationId xmlns:a16="http://schemas.microsoft.com/office/drawing/2014/main" id="{E49CE477-187A-4F6F-A8AA-41A47CCD4EE0}"/>
              </a:ext>
            </a:extLst>
          </p:cNvPr>
          <p:cNvSpPr>
            <a:spLocks noGrp="1"/>
          </p:cNvSpPr>
          <p:nvPr/>
        </p:nvSpPr>
        <p:spPr>
          <a:xfrm>
            <a:off x="685800" y="4191000"/>
            <a:ext cx="552450" cy="552450"/>
          </a:xfrm>
          <a:prstGeom prst="roundRect">
            <a:avLst>
              <a:gd name="adj" fmla="val 20690"/>
            </a:avLst>
          </a:prstGeom>
          <a:solidFill>
            <a:srgbClr val="18A6B8"/>
          </a:solidFill>
          <a:ln w="9525">
            <a:solidFill>
              <a:srgbClr val="18A6B8"/>
            </a:solidFill>
            <a:prstDash val="solid"/>
          </a:ln>
        </p:spPr>
        <p:txBody>
          <a:bodyPr/>
          <a:lstStyle/>
          <a:p>
            <a:endParaRPr lang="en-US"/>
          </a:p>
        </p:txBody>
      </p:sp>
      <p:sp>
        <p:nvSpPr>
          <p:cNvPr id="13" name="Rectangle 12">
            <a:extLst>
              <a:ext uri="{FF2B5EF4-FFF2-40B4-BE49-F238E27FC236}">
                <a16:creationId xmlns:a16="http://schemas.microsoft.com/office/drawing/2014/main" id="{9BD805D4-3434-4189-A096-803C6642EDD3}"/>
              </a:ext>
            </a:extLst>
          </p:cNvPr>
          <p:cNvSpPr>
            <a:spLocks noGrp="1"/>
          </p:cNvSpPr>
          <p:nvPr/>
        </p:nvSpPr>
        <p:spPr>
          <a:xfrm>
            <a:off x="685800" y="4305300"/>
            <a:ext cx="552450" cy="285750"/>
          </a:xfrm>
          <a:prstGeom prst="rect">
            <a:avLst/>
          </a:prstGeom>
          <a:noFill/>
          <a:ln w="0">
            <a:noFill/>
            <a:prstDash val="solid"/>
          </a:ln>
        </p:spPr>
        <p:txBody>
          <a:bodyPr/>
          <a:lstStyle/>
          <a:p>
            <a:pPr algn="ctr">
              <a:defRPr sz="1500" b="1">
                <a:solidFill>
                  <a:srgbClr val="FFFFFF"/>
                </a:solidFill>
              </a:defRPr>
            </a:pPr>
            <a:r>
              <a:rPr sz="1500" b="1">
                <a:solidFill>
                  <a:srgbClr val="FFFFFF"/>
                </a:solidFill>
              </a:rPr>
              <a:t>4</a:t>
            </a:r>
          </a:p>
        </p:txBody>
      </p:sp>
      <p:sp>
        <p:nvSpPr>
          <p:cNvPr id="14" name="Rectangle 13">
            <a:extLst>
              <a:ext uri="{FF2B5EF4-FFF2-40B4-BE49-F238E27FC236}">
                <a16:creationId xmlns:a16="http://schemas.microsoft.com/office/drawing/2014/main" id="{8AE542CC-E5C4-4FD3-91CE-F5002C5D1127}"/>
              </a:ext>
            </a:extLst>
          </p:cNvPr>
          <p:cNvSpPr>
            <a:spLocks noGrp="1"/>
          </p:cNvSpPr>
          <p:nvPr/>
        </p:nvSpPr>
        <p:spPr>
          <a:xfrm>
            <a:off x="1466850" y="4200525"/>
            <a:ext cx="9810750" cy="552450"/>
          </a:xfrm>
          <a:prstGeom prst="rect">
            <a:avLst/>
          </a:prstGeom>
          <a:noFill/>
          <a:ln w="0">
            <a:noFill/>
            <a:prstDash val="solid"/>
          </a:ln>
        </p:spPr>
        <p:txBody>
          <a:bodyPr/>
          <a:lstStyle/>
          <a:p>
            <a:pPr algn="l">
              <a:defRPr sz="1575" b="0">
                <a:solidFill>
                  <a:srgbClr val="102A43"/>
                </a:solidFill>
              </a:defRPr>
            </a:pPr>
            <a:r>
              <a:rPr sz="1575" b="0">
                <a:solidFill>
                  <a:srgbClr val="102A43"/>
                </a:solidFill>
              </a:rPr>
              <a:t>Explain distributed and in-memory databases to technical and non-technical audiences</a:t>
            </a:r>
          </a:p>
        </p:txBody>
      </p:sp>
      <p:sp>
        <p:nvSpPr>
          <p:cNvPr id="15" name="Rectangle: Rounded Corners 14">
            <a:extLst>
              <a:ext uri="{FF2B5EF4-FFF2-40B4-BE49-F238E27FC236}">
                <a16:creationId xmlns:a16="http://schemas.microsoft.com/office/drawing/2014/main" id="{A56CFF08-C314-4CFE-99E5-9448F4FFDFD6}"/>
              </a:ext>
            </a:extLst>
          </p:cNvPr>
          <p:cNvSpPr>
            <a:spLocks noGrp="1"/>
          </p:cNvSpPr>
          <p:nvPr/>
        </p:nvSpPr>
        <p:spPr>
          <a:xfrm>
            <a:off x="685800" y="5067300"/>
            <a:ext cx="552450" cy="552450"/>
          </a:xfrm>
          <a:prstGeom prst="roundRect">
            <a:avLst>
              <a:gd name="adj" fmla="val 20690"/>
            </a:avLst>
          </a:prstGeom>
          <a:solidFill>
            <a:srgbClr val="18A6B8"/>
          </a:solidFill>
          <a:ln w="9525">
            <a:solidFill>
              <a:srgbClr val="18A6B8"/>
            </a:solidFill>
            <a:prstDash val="solid"/>
          </a:ln>
        </p:spPr>
        <p:txBody>
          <a:bodyPr/>
          <a:lstStyle/>
          <a:p>
            <a:endParaRPr lang="en-US"/>
          </a:p>
        </p:txBody>
      </p:sp>
      <p:sp>
        <p:nvSpPr>
          <p:cNvPr id="16" name="Rectangle 15">
            <a:extLst>
              <a:ext uri="{FF2B5EF4-FFF2-40B4-BE49-F238E27FC236}">
                <a16:creationId xmlns:a16="http://schemas.microsoft.com/office/drawing/2014/main" id="{B0BAB2BC-815C-40B8-B061-B7D8B5DEB1AA}"/>
              </a:ext>
            </a:extLst>
          </p:cNvPr>
          <p:cNvSpPr>
            <a:spLocks noGrp="1"/>
          </p:cNvSpPr>
          <p:nvPr/>
        </p:nvSpPr>
        <p:spPr>
          <a:xfrm>
            <a:off x="685800" y="5181600"/>
            <a:ext cx="552450" cy="285750"/>
          </a:xfrm>
          <a:prstGeom prst="rect">
            <a:avLst/>
          </a:prstGeom>
          <a:noFill/>
          <a:ln w="0">
            <a:noFill/>
            <a:prstDash val="solid"/>
          </a:ln>
        </p:spPr>
        <p:txBody>
          <a:bodyPr/>
          <a:lstStyle/>
          <a:p>
            <a:pPr algn="ctr">
              <a:defRPr sz="1500" b="1">
                <a:solidFill>
                  <a:srgbClr val="FFFFFF"/>
                </a:solidFill>
              </a:defRPr>
            </a:pPr>
            <a:r>
              <a:rPr sz="1500" b="1">
                <a:solidFill>
                  <a:srgbClr val="FFFFFF"/>
                </a:solidFill>
              </a:rPr>
              <a:t>5</a:t>
            </a:r>
          </a:p>
        </p:txBody>
      </p:sp>
      <p:sp>
        <p:nvSpPr>
          <p:cNvPr id="17" name="Rectangle 16">
            <a:extLst>
              <a:ext uri="{FF2B5EF4-FFF2-40B4-BE49-F238E27FC236}">
                <a16:creationId xmlns:a16="http://schemas.microsoft.com/office/drawing/2014/main" id="{13053C30-3D8E-4C78-8840-E7FEA30195EE}"/>
              </a:ext>
            </a:extLst>
          </p:cNvPr>
          <p:cNvSpPr>
            <a:spLocks noGrp="1"/>
          </p:cNvSpPr>
          <p:nvPr/>
        </p:nvSpPr>
        <p:spPr>
          <a:xfrm>
            <a:off x="1466850" y="5076825"/>
            <a:ext cx="9810750" cy="552450"/>
          </a:xfrm>
          <a:prstGeom prst="rect">
            <a:avLst/>
          </a:prstGeom>
          <a:noFill/>
          <a:ln w="0">
            <a:noFill/>
            <a:prstDash val="solid"/>
          </a:ln>
        </p:spPr>
        <p:txBody>
          <a:bodyPr/>
          <a:lstStyle/>
          <a:p>
            <a:pPr algn="l">
              <a:defRPr sz="1575" b="1">
                <a:solidFill>
                  <a:srgbClr val="102A43"/>
                </a:solidFill>
              </a:defRPr>
            </a:pPr>
            <a:r>
              <a:rPr sz="1575" b="1">
                <a:solidFill>
                  <a:srgbClr val="102A43"/>
                </a:solidFill>
              </a:rPr>
              <a:t>Develop practical solutions using modern database tools and modelling</a:t>
            </a:r>
          </a:p>
        </p:txBody>
      </p:sp>
      <p:sp>
        <p:nvSpPr>
          <p:cNvPr id="18" name="Rectangle 17">
            <a:extLst>
              <a:ext uri="{FF2B5EF4-FFF2-40B4-BE49-F238E27FC236}">
                <a16:creationId xmlns:a16="http://schemas.microsoft.com/office/drawing/2014/main" id="{B09DB619-3BFE-4843-A533-DDD531992A24}"/>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6</a:t>
            </a:r>
          </a:p>
        </p:txBody>
      </p:sp>
    </p:spTree>
    <p:extLst>
      <p:ext uri="{BB962C8B-B14F-4D97-AF65-F5344CB8AC3E}">
        <p14:creationId xmlns:p14="http://schemas.microsoft.com/office/powerpoint/2010/main" val="1734479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D3AB33-7660-40C0-9945-D15790B5DA39}"/>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Graduate capabilities you will practise</a:t>
            </a:r>
          </a:p>
        </p:txBody>
      </p:sp>
      <p:sp>
        <p:nvSpPr>
          <p:cNvPr id="2" name="Rectangle 1">
            <a:extLst>
              <a:ext uri="{FF2B5EF4-FFF2-40B4-BE49-F238E27FC236}">
                <a16:creationId xmlns:a16="http://schemas.microsoft.com/office/drawing/2014/main" id="{633A3596-2A45-442F-888B-87866BA27DC7}"/>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A462A8E1-07B1-4ABC-87A6-761DED712F49}"/>
              </a:ext>
            </a:extLst>
          </p:cNvPr>
          <p:cNvSpPr>
            <a:spLocks noGrp="1"/>
          </p:cNvSpPr>
          <p:nvPr/>
        </p:nvSpPr>
        <p:spPr>
          <a:xfrm>
            <a:off x="666750" y="1571625"/>
            <a:ext cx="4953000" cy="323850"/>
          </a:xfrm>
          <a:prstGeom prst="rect">
            <a:avLst/>
          </a:prstGeom>
          <a:noFill/>
          <a:ln w="0">
            <a:noFill/>
            <a:prstDash val="solid"/>
          </a:ln>
        </p:spPr>
        <p:txBody>
          <a:bodyPr/>
          <a:lstStyle/>
          <a:p>
            <a:pPr algn="l">
              <a:defRPr sz="1725" b="1">
                <a:solidFill>
                  <a:srgbClr val="1261A0"/>
                </a:solidFill>
              </a:defRPr>
            </a:pPr>
            <a:r>
              <a:rPr sz="1725" b="1">
                <a:solidFill>
                  <a:srgbClr val="1261A0"/>
                </a:solidFill>
              </a:rPr>
              <a:t>Critical thinking</a:t>
            </a:r>
          </a:p>
        </p:txBody>
      </p:sp>
      <p:sp>
        <p:nvSpPr>
          <p:cNvPr id="4" name="Rectangle 3">
            <a:extLst>
              <a:ext uri="{FF2B5EF4-FFF2-40B4-BE49-F238E27FC236}">
                <a16:creationId xmlns:a16="http://schemas.microsoft.com/office/drawing/2014/main" id="{3E76E158-265C-41FA-9AC7-EF8F6F589E56}"/>
              </a:ext>
            </a:extLst>
          </p:cNvPr>
          <p:cNvSpPr>
            <a:spLocks noGrp="1"/>
          </p:cNvSpPr>
          <p:nvPr/>
        </p:nvSpPr>
        <p:spPr>
          <a:xfrm>
            <a:off x="666750" y="2000250"/>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Judge whether a design is correct, efficient and defensible.</a:t>
            </a:r>
          </a:p>
        </p:txBody>
      </p:sp>
      <p:sp>
        <p:nvSpPr>
          <p:cNvPr id="5" name="Rectangle 4">
            <a:extLst>
              <a:ext uri="{FF2B5EF4-FFF2-40B4-BE49-F238E27FC236}">
                <a16:creationId xmlns:a16="http://schemas.microsoft.com/office/drawing/2014/main" id="{B1894A54-87BD-449F-AD42-62C55D9B5993}"/>
              </a:ext>
            </a:extLst>
          </p:cNvPr>
          <p:cNvSpPr>
            <a:spLocks noGrp="1"/>
          </p:cNvSpPr>
          <p:nvPr/>
        </p:nvSpPr>
        <p:spPr>
          <a:xfrm>
            <a:off x="6286500" y="1571625"/>
            <a:ext cx="4953000" cy="323850"/>
          </a:xfrm>
          <a:prstGeom prst="rect">
            <a:avLst/>
          </a:prstGeom>
          <a:noFill/>
          <a:ln w="0">
            <a:noFill/>
            <a:prstDash val="solid"/>
          </a:ln>
        </p:spPr>
        <p:txBody>
          <a:bodyPr/>
          <a:lstStyle/>
          <a:p>
            <a:pPr algn="l">
              <a:defRPr sz="1725" b="1">
                <a:solidFill>
                  <a:srgbClr val="18A6B8"/>
                </a:solidFill>
              </a:defRPr>
            </a:pPr>
            <a:r>
              <a:rPr sz="1725" b="1">
                <a:solidFill>
                  <a:srgbClr val="18A6B8"/>
                </a:solidFill>
              </a:rPr>
              <a:t>Problem solving</a:t>
            </a:r>
          </a:p>
        </p:txBody>
      </p:sp>
      <p:sp>
        <p:nvSpPr>
          <p:cNvPr id="6" name="Rectangle 5">
            <a:extLst>
              <a:ext uri="{FF2B5EF4-FFF2-40B4-BE49-F238E27FC236}">
                <a16:creationId xmlns:a16="http://schemas.microsoft.com/office/drawing/2014/main" id="{7FF7F555-0BC2-4DF2-9792-6969E4D0C480}"/>
              </a:ext>
            </a:extLst>
          </p:cNvPr>
          <p:cNvSpPr>
            <a:spLocks noGrp="1"/>
          </p:cNvSpPr>
          <p:nvPr/>
        </p:nvSpPr>
        <p:spPr>
          <a:xfrm>
            <a:off x="6286500" y="2000250"/>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Translate messy business needs into implementable structures.</a:t>
            </a:r>
          </a:p>
        </p:txBody>
      </p:sp>
      <p:sp>
        <p:nvSpPr>
          <p:cNvPr id="7" name="Rectangle 6">
            <a:extLst>
              <a:ext uri="{FF2B5EF4-FFF2-40B4-BE49-F238E27FC236}">
                <a16:creationId xmlns:a16="http://schemas.microsoft.com/office/drawing/2014/main" id="{A2FEE240-9BA1-4C0C-A2BB-AA4C7FF0D3F5}"/>
              </a:ext>
            </a:extLst>
          </p:cNvPr>
          <p:cNvSpPr>
            <a:spLocks noGrp="1"/>
          </p:cNvSpPr>
          <p:nvPr/>
        </p:nvSpPr>
        <p:spPr>
          <a:xfrm>
            <a:off x="666750" y="3048000"/>
            <a:ext cx="4953000" cy="323850"/>
          </a:xfrm>
          <a:prstGeom prst="rect">
            <a:avLst/>
          </a:prstGeom>
          <a:noFill/>
          <a:ln w="0">
            <a:noFill/>
            <a:prstDash val="solid"/>
          </a:ln>
        </p:spPr>
        <p:txBody>
          <a:bodyPr/>
          <a:lstStyle/>
          <a:p>
            <a:pPr algn="l">
              <a:defRPr sz="1725" b="1">
                <a:solidFill>
                  <a:srgbClr val="1261A0"/>
                </a:solidFill>
              </a:defRPr>
            </a:pPr>
            <a:r>
              <a:rPr sz="1725" b="1">
                <a:solidFill>
                  <a:srgbClr val="1261A0"/>
                </a:solidFill>
              </a:rPr>
              <a:t>Digital capability</a:t>
            </a:r>
          </a:p>
        </p:txBody>
      </p:sp>
      <p:sp>
        <p:nvSpPr>
          <p:cNvPr id="8" name="Rectangle 7">
            <a:extLst>
              <a:ext uri="{FF2B5EF4-FFF2-40B4-BE49-F238E27FC236}">
                <a16:creationId xmlns:a16="http://schemas.microsoft.com/office/drawing/2014/main" id="{678DEC50-5DDD-4EFA-B04B-55BFD74A1FAC}"/>
              </a:ext>
            </a:extLst>
          </p:cNvPr>
          <p:cNvSpPr>
            <a:spLocks noGrp="1"/>
          </p:cNvSpPr>
          <p:nvPr/>
        </p:nvSpPr>
        <p:spPr>
          <a:xfrm>
            <a:off x="666750" y="3476625"/>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Use PostgreSQL, DBeaver, SQL and modelling techniques.</a:t>
            </a:r>
          </a:p>
        </p:txBody>
      </p:sp>
      <p:sp>
        <p:nvSpPr>
          <p:cNvPr id="9" name="Rectangle 8">
            <a:extLst>
              <a:ext uri="{FF2B5EF4-FFF2-40B4-BE49-F238E27FC236}">
                <a16:creationId xmlns:a16="http://schemas.microsoft.com/office/drawing/2014/main" id="{338169CE-F0F4-4983-AA8F-5F66D5ABA3FF}"/>
              </a:ext>
            </a:extLst>
          </p:cNvPr>
          <p:cNvSpPr>
            <a:spLocks noGrp="1"/>
          </p:cNvSpPr>
          <p:nvPr/>
        </p:nvSpPr>
        <p:spPr>
          <a:xfrm>
            <a:off x="6286500" y="3048000"/>
            <a:ext cx="4953000" cy="323850"/>
          </a:xfrm>
          <a:prstGeom prst="rect">
            <a:avLst/>
          </a:prstGeom>
          <a:noFill/>
          <a:ln w="0">
            <a:noFill/>
            <a:prstDash val="solid"/>
          </a:ln>
        </p:spPr>
        <p:txBody>
          <a:bodyPr/>
          <a:lstStyle/>
          <a:p>
            <a:pPr algn="l">
              <a:defRPr sz="1725" b="1">
                <a:solidFill>
                  <a:srgbClr val="18A6B8"/>
                </a:solidFill>
              </a:defRPr>
            </a:pPr>
            <a:r>
              <a:rPr sz="1725" b="1">
                <a:solidFill>
                  <a:srgbClr val="18A6B8"/>
                </a:solidFill>
              </a:rPr>
              <a:t>Communication</a:t>
            </a:r>
          </a:p>
        </p:txBody>
      </p:sp>
      <p:sp>
        <p:nvSpPr>
          <p:cNvPr id="10" name="Rectangle 9">
            <a:extLst>
              <a:ext uri="{FF2B5EF4-FFF2-40B4-BE49-F238E27FC236}">
                <a16:creationId xmlns:a16="http://schemas.microsoft.com/office/drawing/2014/main" id="{D0558116-CFCE-47DB-9EE6-DB13BE2892E6}"/>
              </a:ext>
            </a:extLst>
          </p:cNvPr>
          <p:cNvSpPr>
            <a:spLocks noGrp="1"/>
          </p:cNvSpPr>
          <p:nvPr/>
        </p:nvSpPr>
        <p:spPr>
          <a:xfrm>
            <a:off x="6286500" y="3476625"/>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Explain designs to both technical and business stakeholders.</a:t>
            </a:r>
          </a:p>
        </p:txBody>
      </p:sp>
      <p:sp>
        <p:nvSpPr>
          <p:cNvPr id="11" name="Rectangle 10">
            <a:extLst>
              <a:ext uri="{FF2B5EF4-FFF2-40B4-BE49-F238E27FC236}">
                <a16:creationId xmlns:a16="http://schemas.microsoft.com/office/drawing/2014/main" id="{18ECF3F3-5618-4AD1-96FA-AAE3EE9630C1}"/>
              </a:ext>
            </a:extLst>
          </p:cNvPr>
          <p:cNvSpPr>
            <a:spLocks noGrp="1"/>
          </p:cNvSpPr>
          <p:nvPr/>
        </p:nvSpPr>
        <p:spPr>
          <a:xfrm>
            <a:off x="666750" y="4524375"/>
            <a:ext cx="4953000" cy="323850"/>
          </a:xfrm>
          <a:prstGeom prst="rect">
            <a:avLst/>
          </a:prstGeom>
          <a:noFill/>
          <a:ln w="0">
            <a:noFill/>
            <a:prstDash val="solid"/>
          </a:ln>
        </p:spPr>
        <p:txBody>
          <a:bodyPr/>
          <a:lstStyle/>
          <a:p>
            <a:pPr algn="l">
              <a:defRPr sz="1725" b="1">
                <a:solidFill>
                  <a:srgbClr val="1261A0"/>
                </a:solidFill>
              </a:defRPr>
            </a:pPr>
            <a:r>
              <a:rPr sz="1725" b="1">
                <a:solidFill>
                  <a:srgbClr val="1261A0"/>
                </a:solidFill>
              </a:rPr>
              <a:t>Teamwork &amp; professionalism</a:t>
            </a:r>
          </a:p>
        </p:txBody>
      </p:sp>
      <p:sp>
        <p:nvSpPr>
          <p:cNvPr id="12" name="Rectangle 11">
            <a:extLst>
              <a:ext uri="{FF2B5EF4-FFF2-40B4-BE49-F238E27FC236}">
                <a16:creationId xmlns:a16="http://schemas.microsoft.com/office/drawing/2014/main" id="{6DEACBCA-26AD-477B-A8DA-BD737C69B45E}"/>
              </a:ext>
            </a:extLst>
          </p:cNvPr>
          <p:cNvSpPr>
            <a:spLocks noGrp="1"/>
          </p:cNvSpPr>
          <p:nvPr/>
        </p:nvSpPr>
        <p:spPr>
          <a:xfrm>
            <a:off x="666750" y="4953000"/>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Collaborate, document decisions and protect data responsibly.</a:t>
            </a:r>
          </a:p>
        </p:txBody>
      </p:sp>
      <p:sp>
        <p:nvSpPr>
          <p:cNvPr id="13" name="Rectangle 12">
            <a:extLst>
              <a:ext uri="{FF2B5EF4-FFF2-40B4-BE49-F238E27FC236}">
                <a16:creationId xmlns:a16="http://schemas.microsoft.com/office/drawing/2014/main" id="{E030ACB9-D4C2-4991-A779-282CF9496787}"/>
              </a:ext>
            </a:extLst>
          </p:cNvPr>
          <p:cNvSpPr>
            <a:spLocks noGrp="1"/>
          </p:cNvSpPr>
          <p:nvPr/>
        </p:nvSpPr>
        <p:spPr>
          <a:xfrm>
            <a:off x="6286500" y="4524375"/>
            <a:ext cx="4953000" cy="323850"/>
          </a:xfrm>
          <a:prstGeom prst="rect">
            <a:avLst/>
          </a:prstGeom>
          <a:noFill/>
          <a:ln w="0">
            <a:noFill/>
            <a:prstDash val="solid"/>
          </a:ln>
        </p:spPr>
        <p:txBody>
          <a:bodyPr/>
          <a:lstStyle/>
          <a:p>
            <a:pPr algn="l">
              <a:defRPr sz="1725" b="1">
                <a:solidFill>
                  <a:srgbClr val="18A6B8"/>
                </a:solidFill>
              </a:defRPr>
            </a:pPr>
            <a:r>
              <a:rPr sz="1725" b="1">
                <a:solidFill>
                  <a:srgbClr val="18A6B8"/>
                </a:solidFill>
              </a:rPr>
              <a:t>Research literacy</a:t>
            </a:r>
          </a:p>
        </p:txBody>
      </p:sp>
      <p:sp>
        <p:nvSpPr>
          <p:cNvPr id="14" name="Rectangle 13">
            <a:extLst>
              <a:ext uri="{FF2B5EF4-FFF2-40B4-BE49-F238E27FC236}">
                <a16:creationId xmlns:a16="http://schemas.microsoft.com/office/drawing/2014/main" id="{58FEF529-40DB-4C60-A18D-35EE13A126B0}"/>
              </a:ext>
            </a:extLst>
          </p:cNvPr>
          <p:cNvSpPr>
            <a:spLocks noGrp="1"/>
          </p:cNvSpPr>
          <p:nvPr/>
        </p:nvSpPr>
        <p:spPr>
          <a:xfrm>
            <a:off x="6286500" y="4953000"/>
            <a:ext cx="4953000" cy="685800"/>
          </a:xfrm>
          <a:prstGeom prst="rect">
            <a:avLst/>
          </a:prstGeom>
          <a:noFill/>
          <a:ln w="0">
            <a:noFill/>
            <a:prstDash val="solid"/>
          </a:ln>
        </p:spPr>
        <p:txBody>
          <a:bodyPr/>
          <a:lstStyle/>
          <a:p>
            <a:pPr algn="l">
              <a:defRPr sz="1425" b="0">
                <a:solidFill>
                  <a:srgbClr val="102A43"/>
                </a:solidFill>
              </a:defRPr>
            </a:pPr>
            <a:r>
              <a:rPr sz="1425" b="0">
                <a:solidFill>
                  <a:srgbClr val="102A43"/>
                </a:solidFill>
              </a:rPr>
              <a:t>Evaluate academic and professional database evidence.</a:t>
            </a:r>
          </a:p>
        </p:txBody>
      </p:sp>
      <p:sp>
        <p:nvSpPr>
          <p:cNvPr id="15" name="Rectangle 14">
            <a:extLst>
              <a:ext uri="{FF2B5EF4-FFF2-40B4-BE49-F238E27FC236}">
                <a16:creationId xmlns:a16="http://schemas.microsoft.com/office/drawing/2014/main" id="{18B227DF-5212-42AC-A9E7-43F556CD8597}"/>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7</a:t>
            </a:r>
          </a:p>
        </p:txBody>
      </p:sp>
    </p:spTree>
    <p:extLst>
      <p:ext uri="{BB962C8B-B14F-4D97-AF65-F5344CB8AC3E}">
        <p14:creationId xmlns:p14="http://schemas.microsoft.com/office/powerpoint/2010/main" val="271496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FCB7953-9D0E-423F-9221-6BBCCC836DCB}"/>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The unit moves from foundations to modern platforms</a:t>
            </a:r>
          </a:p>
        </p:txBody>
      </p:sp>
      <p:sp>
        <p:nvSpPr>
          <p:cNvPr id="2" name="Rectangle 1">
            <a:extLst>
              <a:ext uri="{FF2B5EF4-FFF2-40B4-BE49-F238E27FC236}">
                <a16:creationId xmlns:a16="http://schemas.microsoft.com/office/drawing/2014/main" id="{7D4FCEC5-7809-4913-9C73-656C576E655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F8A76EC9-648D-4D5D-8AC6-7236E2A2F76A}"/>
              </a:ext>
            </a:extLst>
          </p:cNvPr>
          <p:cNvSpPr>
            <a:spLocks noGrp="1"/>
          </p:cNvSpPr>
          <p:nvPr/>
        </p:nvSpPr>
        <p:spPr>
          <a:xfrm>
            <a:off x="619125" y="2095500"/>
            <a:ext cx="2047875" cy="2381250"/>
          </a:xfrm>
          <a:prstGeom prst="roundRect">
            <a:avLst>
              <a:gd name="adj" fmla="val 5581"/>
            </a:avLst>
          </a:prstGeom>
          <a:solidFill>
            <a:srgbClr val="FFFFFF"/>
          </a:solidFill>
          <a:ln w="9525">
            <a:solidFill>
              <a:srgbClr val="C9D8E3"/>
            </a:solidFill>
            <a:prstDash val="solid"/>
          </a:ln>
        </p:spPr>
        <p:txBody>
          <a:bodyPr/>
          <a:lstStyle/>
          <a:p>
            <a:endParaRPr lang="en-US"/>
          </a:p>
        </p:txBody>
      </p:sp>
      <p:sp>
        <p:nvSpPr>
          <p:cNvPr id="4" name="Rectangle 3">
            <a:extLst>
              <a:ext uri="{FF2B5EF4-FFF2-40B4-BE49-F238E27FC236}">
                <a16:creationId xmlns:a16="http://schemas.microsoft.com/office/drawing/2014/main" id="{7AFBEE41-E0D9-4178-89BE-4334700FED3C}"/>
              </a:ext>
            </a:extLst>
          </p:cNvPr>
          <p:cNvSpPr>
            <a:spLocks noGrp="1"/>
          </p:cNvSpPr>
          <p:nvPr/>
        </p:nvSpPr>
        <p:spPr>
          <a:xfrm>
            <a:off x="809625" y="2333625"/>
            <a:ext cx="1666875" cy="361950"/>
          </a:xfrm>
          <a:prstGeom prst="rect">
            <a:avLst/>
          </a:prstGeom>
          <a:noFill/>
          <a:ln w="0">
            <a:noFill/>
            <a:prstDash val="solid"/>
          </a:ln>
        </p:spPr>
        <p:txBody>
          <a:bodyPr/>
          <a:lstStyle/>
          <a:p>
            <a:pPr algn="l">
              <a:defRPr sz="2025" b="1">
                <a:solidFill>
                  <a:srgbClr val="1261A0"/>
                </a:solidFill>
              </a:defRPr>
            </a:pPr>
            <a:r>
              <a:rPr sz="2025" b="1">
                <a:solidFill>
                  <a:srgbClr val="1261A0"/>
                </a:solidFill>
              </a:rPr>
              <a:t>1–3</a:t>
            </a:r>
          </a:p>
        </p:txBody>
      </p:sp>
      <p:sp>
        <p:nvSpPr>
          <p:cNvPr id="5" name="Rectangle 4">
            <a:extLst>
              <a:ext uri="{FF2B5EF4-FFF2-40B4-BE49-F238E27FC236}">
                <a16:creationId xmlns:a16="http://schemas.microsoft.com/office/drawing/2014/main" id="{C42025E7-724E-4309-8FC3-F300F581E508}"/>
              </a:ext>
            </a:extLst>
          </p:cNvPr>
          <p:cNvSpPr>
            <a:spLocks noGrp="1"/>
          </p:cNvSpPr>
          <p:nvPr/>
        </p:nvSpPr>
        <p:spPr>
          <a:xfrm>
            <a:off x="809625" y="2952750"/>
            <a:ext cx="1666875" cy="1047750"/>
          </a:xfrm>
          <a:prstGeom prst="rect">
            <a:avLst/>
          </a:prstGeom>
          <a:noFill/>
          <a:ln w="0">
            <a:noFill/>
            <a:prstDash val="solid"/>
          </a:ln>
        </p:spPr>
        <p:txBody>
          <a:bodyPr/>
          <a:lstStyle/>
          <a:p>
            <a:pPr algn="l">
              <a:defRPr sz="1575" b="1">
                <a:solidFill>
                  <a:srgbClr val="102A43"/>
                </a:solidFill>
              </a:defRPr>
            </a:pPr>
            <a:r>
              <a:rPr sz="1575" b="1">
                <a:solidFill>
                  <a:srgbClr val="102A43"/>
                </a:solidFill>
              </a:rPr>
              <a:t>Concepts • modelling • relational model</a:t>
            </a:r>
          </a:p>
        </p:txBody>
      </p:sp>
      <p:sp>
        <p:nvSpPr>
          <p:cNvPr id="6" name="Rectangle: Rounded Corners 5">
            <a:extLst>
              <a:ext uri="{FF2B5EF4-FFF2-40B4-BE49-F238E27FC236}">
                <a16:creationId xmlns:a16="http://schemas.microsoft.com/office/drawing/2014/main" id="{C962D871-F78B-4C62-9F35-F0E055D24F6C}"/>
              </a:ext>
            </a:extLst>
          </p:cNvPr>
          <p:cNvSpPr>
            <a:spLocks noGrp="1"/>
          </p:cNvSpPr>
          <p:nvPr/>
        </p:nvSpPr>
        <p:spPr>
          <a:xfrm>
            <a:off x="2905125" y="2095500"/>
            <a:ext cx="2047875" cy="2381250"/>
          </a:xfrm>
          <a:prstGeom prst="roundRect">
            <a:avLst>
              <a:gd name="adj" fmla="val 5581"/>
            </a:avLst>
          </a:prstGeom>
          <a:solidFill>
            <a:srgbClr val="FFFFFF"/>
          </a:solidFill>
          <a:ln w="9525">
            <a:solidFill>
              <a:srgbClr val="C9D8E3"/>
            </a:solidFill>
            <a:prstDash val="solid"/>
          </a:ln>
        </p:spPr>
        <p:txBody>
          <a:bodyPr/>
          <a:lstStyle/>
          <a:p>
            <a:endParaRPr lang="en-US"/>
          </a:p>
        </p:txBody>
      </p:sp>
      <p:sp>
        <p:nvSpPr>
          <p:cNvPr id="7" name="Rectangle 6">
            <a:extLst>
              <a:ext uri="{FF2B5EF4-FFF2-40B4-BE49-F238E27FC236}">
                <a16:creationId xmlns:a16="http://schemas.microsoft.com/office/drawing/2014/main" id="{C30F62B7-15C2-4415-878E-A451A44BD0C6}"/>
              </a:ext>
            </a:extLst>
          </p:cNvPr>
          <p:cNvSpPr>
            <a:spLocks noGrp="1"/>
          </p:cNvSpPr>
          <p:nvPr/>
        </p:nvSpPr>
        <p:spPr>
          <a:xfrm>
            <a:off x="3095625" y="2333625"/>
            <a:ext cx="1666875" cy="361950"/>
          </a:xfrm>
          <a:prstGeom prst="rect">
            <a:avLst/>
          </a:prstGeom>
          <a:noFill/>
          <a:ln w="0">
            <a:noFill/>
            <a:prstDash val="solid"/>
          </a:ln>
        </p:spPr>
        <p:txBody>
          <a:bodyPr/>
          <a:lstStyle/>
          <a:p>
            <a:pPr algn="l">
              <a:defRPr sz="2025" b="1">
                <a:solidFill>
                  <a:srgbClr val="1261A0"/>
                </a:solidFill>
              </a:defRPr>
            </a:pPr>
            <a:r>
              <a:rPr sz="2025" b="1">
                <a:solidFill>
                  <a:srgbClr val="1261A0"/>
                </a:solidFill>
              </a:rPr>
              <a:t>4–5</a:t>
            </a:r>
          </a:p>
        </p:txBody>
      </p:sp>
      <p:sp>
        <p:nvSpPr>
          <p:cNvPr id="8" name="Rectangle 7">
            <a:extLst>
              <a:ext uri="{FF2B5EF4-FFF2-40B4-BE49-F238E27FC236}">
                <a16:creationId xmlns:a16="http://schemas.microsoft.com/office/drawing/2014/main" id="{D064238B-30D2-4A01-993C-7C5F40DCCDD9}"/>
              </a:ext>
            </a:extLst>
          </p:cNvPr>
          <p:cNvSpPr>
            <a:spLocks noGrp="1"/>
          </p:cNvSpPr>
          <p:nvPr/>
        </p:nvSpPr>
        <p:spPr>
          <a:xfrm>
            <a:off x="3095625" y="2952750"/>
            <a:ext cx="1666875" cy="1047750"/>
          </a:xfrm>
          <a:prstGeom prst="rect">
            <a:avLst/>
          </a:prstGeom>
          <a:noFill/>
          <a:ln w="0">
            <a:noFill/>
            <a:prstDash val="solid"/>
          </a:ln>
        </p:spPr>
        <p:txBody>
          <a:bodyPr/>
          <a:lstStyle/>
          <a:p>
            <a:pPr algn="l">
              <a:defRPr sz="1575" b="1">
                <a:solidFill>
                  <a:srgbClr val="102A43"/>
                </a:solidFill>
              </a:defRPr>
            </a:pPr>
            <a:r>
              <a:rPr sz="1575" b="1">
                <a:solidFill>
                  <a:srgbClr val="102A43"/>
                </a:solidFill>
              </a:rPr>
              <a:t>Basic and advanced SQL</a:t>
            </a:r>
          </a:p>
        </p:txBody>
      </p:sp>
      <p:sp>
        <p:nvSpPr>
          <p:cNvPr id="9" name="Rectangle: Rounded Corners 8">
            <a:extLst>
              <a:ext uri="{FF2B5EF4-FFF2-40B4-BE49-F238E27FC236}">
                <a16:creationId xmlns:a16="http://schemas.microsoft.com/office/drawing/2014/main" id="{1BE8F259-EF3E-41F6-9540-3F454498AA99}"/>
              </a:ext>
            </a:extLst>
          </p:cNvPr>
          <p:cNvSpPr>
            <a:spLocks noGrp="1"/>
          </p:cNvSpPr>
          <p:nvPr/>
        </p:nvSpPr>
        <p:spPr>
          <a:xfrm>
            <a:off x="5191125" y="2095500"/>
            <a:ext cx="2047875" cy="2381250"/>
          </a:xfrm>
          <a:prstGeom prst="roundRect">
            <a:avLst>
              <a:gd name="adj" fmla="val 5581"/>
            </a:avLst>
          </a:prstGeom>
          <a:solidFill>
            <a:srgbClr val="FFFFFF"/>
          </a:solidFill>
          <a:ln w="9525">
            <a:solidFill>
              <a:srgbClr val="C9D8E3"/>
            </a:solidFill>
            <a:prstDash val="solid"/>
          </a:ln>
        </p:spPr>
        <p:txBody>
          <a:bodyPr/>
          <a:lstStyle/>
          <a:p>
            <a:endParaRPr lang="en-US"/>
          </a:p>
        </p:txBody>
      </p:sp>
      <p:sp>
        <p:nvSpPr>
          <p:cNvPr id="10" name="Rectangle 9">
            <a:extLst>
              <a:ext uri="{FF2B5EF4-FFF2-40B4-BE49-F238E27FC236}">
                <a16:creationId xmlns:a16="http://schemas.microsoft.com/office/drawing/2014/main" id="{1BBE400C-B16C-47DF-B268-B7E1B8E6EA84}"/>
              </a:ext>
            </a:extLst>
          </p:cNvPr>
          <p:cNvSpPr>
            <a:spLocks noGrp="1"/>
          </p:cNvSpPr>
          <p:nvPr/>
        </p:nvSpPr>
        <p:spPr>
          <a:xfrm>
            <a:off x="5381625" y="2333625"/>
            <a:ext cx="1666875" cy="361950"/>
          </a:xfrm>
          <a:prstGeom prst="rect">
            <a:avLst/>
          </a:prstGeom>
          <a:noFill/>
          <a:ln w="0">
            <a:noFill/>
            <a:prstDash val="solid"/>
          </a:ln>
        </p:spPr>
        <p:txBody>
          <a:bodyPr/>
          <a:lstStyle/>
          <a:p>
            <a:pPr algn="l">
              <a:defRPr sz="2025" b="1">
                <a:solidFill>
                  <a:srgbClr val="1261A0"/>
                </a:solidFill>
              </a:defRPr>
            </a:pPr>
            <a:r>
              <a:rPr sz="2025" b="1">
                <a:solidFill>
                  <a:srgbClr val="1261A0"/>
                </a:solidFill>
              </a:rPr>
              <a:t>6–7</a:t>
            </a:r>
          </a:p>
        </p:txBody>
      </p:sp>
      <p:sp>
        <p:nvSpPr>
          <p:cNvPr id="11" name="Rectangle 10">
            <a:extLst>
              <a:ext uri="{FF2B5EF4-FFF2-40B4-BE49-F238E27FC236}">
                <a16:creationId xmlns:a16="http://schemas.microsoft.com/office/drawing/2014/main" id="{5BF7FAA6-F694-4235-8BC1-77D072D122E0}"/>
              </a:ext>
            </a:extLst>
          </p:cNvPr>
          <p:cNvSpPr>
            <a:spLocks noGrp="1"/>
          </p:cNvSpPr>
          <p:nvPr/>
        </p:nvSpPr>
        <p:spPr>
          <a:xfrm>
            <a:off x="5381625" y="2952750"/>
            <a:ext cx="1666875" cy="1047750"/>
          </a:xfrm>
          <a:prstGeom prst="rect">
            <a:avLst/>
          </a:prstGeom>
          <a:noFill/>
          <a:ln w="0">
            <a:noFill/>
            <a:prstDash val="solid"/>
          </a:ln>
        </p:spPr>
        <p:txBody>
          <a:bodyPr/>
          <a:lstStyle/>
          <a:p>
            <a:pPr algn="l">
              <a:defRPr sz="1575" b="1">
                <a:solidFill>
                  <a:srgbClr val="102A43"/>
                </a:solidFill>
              </a:defRPr>
            </a:pPr>
            <a:r>
              <a:rPr sz="1575" b="1">
                <a:solidFill>
                  <a:srgbClr val="102A43"/>
                </a:solidFill>
              </a:rPr>
              <a:t>Design • normalisation</a:t>
            </a:r>
          </a:p>
        </p:txBody>
      </p:sp>
      <p:sp>
        <p:nvSpPr>
          <p:cNvPr id="12" name="Rectangle: Rounded Corners 11">
            <a:extLst>
              <a:ext uri="{FF2B5EF4-FFF2-40B4-BE49-F238E27FC236}">
                <a16:creationId xmlns:a16="http://schemas.microsoft.com/office/drawing/2014/main" id="{51153CF2-DA44-4A53-96E7-A38FA3EAD715}"/>
              </a:ext>
            </a:extLst>
          </p:cNvPr>
          <p:cNvSpPr>
            <a:spLocks noGrp="1"/>
          </p:cNvSpPr>
          <p:nvPr/>
        </p:nvSpPr>
        <p:spPr>
          <a:xfrm>
            <a:off x="7477125" y="2095500"/>
            <a:ext cx="2047875" cy="2381250"/>
          </a:xfrm>
          <a:prstGeom prst="roundRect">
            <a:avLst>
              <a:gd name="adj" fmla="val 5581"/>
            </a:avLst>
          </a:prstGeom>
          <a:solidFill>
            <a:srgbClr val="FFFFFF"/>
          </a:solidFill>
          <a:ln w="9525">
            <a:solidFill>
              <a:srgbClr val="C9D8E3"/>
            </a:solidFill>
            <a:prstDash val="solid"/>
          </a:ln>
        </p:spPr>
        <p:txBody>
          <a:bodyPr/>
          <a:lstStyle/>
          <a:p>
            <a:endParaRPr lang="en-US"/>
          </a:p>
        </p:txBody>
      </p:sp>
      <p:sp>
        <p:nvSpPr>
          <p:cNvPr id="13" name="Rectangle 12">
            <a:extLst>
              <a:ext uri="{FF2B5EF4-FFF2-40B4-BE49-F238E27FC236}">
                <a16:creationId xmlns:a16="http://schemas.microsoft.com/office/drawing/2014/main" id="{AAACDBF1-0679-48F6-88BD-9C266AB68D5E}"/>
              </a:ext>
            </a:extLst>
          </p:cNvPr>
          <p:cNvSpPr>
            <a:spLocks noGrp="1"/>
          </p:cNvSpPr>
          <p:nvPr/>
        </p:nvSpPr>
        <p:spPr>
          <a:xfrm>
            <a:off x="7667625" y="2333625"/>
            <a:ext cx="1666875" cy="361950"/>
          </a:xfrm>
          <a:prstGeom prst="rect">
            <a:avLst/>
          </a:prstGeom>
          <a:noFill/>
          <a:ln w="0">
            <a:noFill/>
            <a:prstDash val="solid"/>
          </a:ln>
        </p:spPr>
        <p:txBody>
          <a:bodyPr/>
          <a:lstStyle/>
          <a:p>
            <a:pPr algn="l">
              <a:defRPr sz="2025" b="1">
                <a:solidFill>
                  <a:srgbClr val="1261A0"/>
                </a:solidFill>
              </a:defRPr>
            </a:pPr>
            <a:r>
              <a:rPr sz="2025" b="1">
                <a:solidFill>
                  <a:srgbClr val="1261A0"/>
                </a:solidFill>
              </a:rPr>
              <a:t>8–10</a:t>
            </a:r>
          </a:p>
        </p:txBody>
      </p:sp>
      <p:sp>
        <p:nvSpPr>
          <p:cNvPr id="14" name="Rectangle 13">
            <a:extLst>
              <a:ext uri="{FF2B5EF4-FFF2-40B4-BE49-F238E27FC236}">
                <a16:creationId xmlns:a16="http://schemas.microsoft.com/office/drawing/2014/main" id="{8AD4BFA0-DF68-4008-AA20-FF3F3B86BDA3}"/>
              </a:ext>
            </a:extLst>
          </p:cNvPr>
          <p:cNvSpPr>
            <a:spLocks noGrp="1"/>
          </p:cNvSpPr>
          <p:nvPr/>
        </p:nvSpPr>
        <p:spPr>
          <a:xfrm>
            <a:off x="7667625" y="2952750"/>
            <a:ext cx="1666875" cy="1047750"/>
          </a:xfrm>
          <a:prstGeom prst="rect">
            <a:avLst/>
          </a:prstGeom>
          <a:noFill/>
          <a:ln w="0">
            <a:noFill/>
            <a:prstDash val="solid"/>
          </a:ln>
        </p:spPr>
        <p:txBody>
          <a:bodyPr/>
          <a:lstStyle/>
          <a:p>
            <a:pPr algn="l">
              <a:defRPr sz="1575" b="1">
                <a:solidFill>
                  <a:srgbClr val="102A43"/>
                </a:solidFill>
              </a:defRPr>
            </a:pPr>
            <a:r>
              <a:rPr sz="1575" b="1">
                <a:solidFill>
                  <a:srgbClr val="102A43"/>
                </a:solidFill>
              </a:rPr>
              <a:t>Programming • security • engines</a:t>
            </a:r>
          </a:p>
        </p:txBody>
      </p:sp>
      <p:sp>
        <p:nvSpPr>
          <p:cNvPr id="15" name="Rectangle: Rounded Corners 14">
            <a:extLst>
              <a:ext uri="{FF2B5EF4-FFF2-40B4-BE49-F238E27FC236}">
                <a16:creationId xmlns:a16="http://schemas.microsoft.com/office/drawing/2014/main" id="{78666A50-6878-446C-A461-85E04CC7250E}"/>
              </a:ext>
            </a:extLst>
          </p:cNvPr>
          <p:cNvSpPr>
            <a:spLocks noGrp="1"/>
          </p:cNvSpPr>
          <p:nvPr/>
        </p:nvSpPr>
        <p:spPr>
          <a:xfrm>
            <a:off x="9763125" y="2095500"/>
            <a:ext cx="2047875" cy="2381250"/>
          </a:xfrm>
          <a:prstGeom prst="roundRect">
            <a:avLst>
              <a:gd name="adj" fmla="val 5581"/>
            </a:avLst>
          </a:prstGeom>
          <a:solidFill>
            <a:srgbClr val="EAF4F8"/>
          </a:solidFill>
          <a:ln w="9525">
            <a:solidFill>
              <a:srgbClr val="C9D8E3"/>
            </a:solidFill>
            <a:prstDash val="solid"/>
          </a:ln>
        </p:spPr>
        <p:txBody>
          <a:bodyPr/>
          <a:lstStyle/>
          <a:p>
            <a:endParaRPr lang="en-US"/>
          </a:p>
        </p:txBody>
      </p:sp>
      <p:sp>
        <p:nvSpPr>
          <p:cNvPr id="16" name="Rectangle 15">
            <a:extLst>
              <a:ext uri="{FF2B5EF4-FFF2-40B4-BE49-F238E27FC236}">
                <a16:creationId xmlns:a16="http://schemas.microsoft.com/office/drawing/2014/main" id="{B43D1B29-59F5-411A-90AC-F619D15A3E28}"/>
              </a:ext>
            </a:extLst>
          </p:cNvPr>
          <p:cNvSpPr>
            <a:spLocks noGrp="1"/>
          </p:cNvSpPr>
          <p:nvPr/>
        </p:nvSpPr>
        <p:spPr>
          <a:xfrm>
            <a:off x="9953625" y="2333625"/>
            <a:ext cx="1666875" cy="361950"/>
          </a:xfrm>
          <a:prstGeom prst="rect">
            <a:avLst/>
          </a:prstGeom>
          <a:noFill/>
          <a:ln w="0">
            <a:noFill/>
            <a:prstDash val="solid"/>
          </a:ln>
        </p:spPr>
        <p:txBody>
          <a:bodyPr/>
          <a:lstStyle/>
          <a:p>
            <a:pPr algn="l">
              <a:defRPr sz="2025" b="1">
                <a:solidFill>
                  <a:srgbClr val="18A6B8"/>
                </a:solidFill>
              </a:defRPr>
            </a:pPr>
            <a:r>
              <a:rPr sz="2025" b="1">
                <a:solidFill>
                  <a:srgbClr val="18A6B8"/>
                </a:solidFill>
              </a:rPr>
              <a:t>11–12</a:t>
            </a:r>
          </a:p>
        </p:txBody>
      </p:sp>
      <p:sp>
        <p:nvSpPr>
          <p:cNvPr id="17" name="Rectangle 16">
            <a:extLst>
              <a:ext uri="{FF2B5EF4-FFF2-40B4-BE49-F238E27FC236}">
                <a16:creationId xmlns:a16="http://schemas.microsoft.com/office/drawing/2014/main" id="{70C14C93-D44A-468C-8B0A-91B3E34BB12E}"/>
              </a:ext>
            </a:extLst>
          </p:cNvPr>
          <p:cNvSpPr>
            <a:spLocks noGrp="1"/>
          </p:cNvSpPr>
          <p:nvPr/>
        </p:nvSpPr>
        <p:spPr>
          <a:xfrm>
            <a:off x="9953625" y="2952750"/>
            <a:ext cx="1666875" cy="1047750"/>
          </a:xfrm>
          <a:prstGeom prst="rect">
            <a:avLst/>
          </a:prstGeom>
          <a:noFill/>
          <a:ln w="0">
            <a:noFill/>
            <a:prstDash val="solid"/>
          </a:ln>
        </p:spPr>
        <p:txBody>
          <a:bodyPr/>
          <a:lstStyle/>
          <a:p>
            <a:pPr algn="l">
              <a:defRPr sz="1575" b="1">
                <a:solidFill>
                  <a:srgbClr val="102A43"/>
                </a:solidFill>
              </a:defRPr>
            </a:pPr>
            <a:r>
              <a:rPr sz="1575" b="1">
                <a:solidFill>
                  <a:srgbClr val="102A43"/>
                </a:solidFill>
              </a:rPr>
              <a:t>Distributed/NoSQL • administration</a:t>
            </a:r>
          </a:p>
        </p:txBody>
      </p:sp>
      <p:sp>
        <p:nvSpPr>
          <p:cNvPr id="18" name="Rectangle 17">
            <a:extLst>
              <a:ext uri="{FF2B5EF4-FFF2-40B4-BE49-F238E27FC236}">
                <a16:creationId xmlns:a16="http://schemas.microsoft.com/office/drawing/2014/main" id="{4C710358-5A9D-4177-A879-C3865943B277}"/>
              </a:ext>
            </a:extLst>
          </p:cNvPr>
          <p:cNvSpPr>
            <a:spLocks noGrp="1"/>
          </p:cNvSpPr>
          <p:nvPr/>
        </p:nvSpPr>
        <p:spPr>
          <a:xfrm>
            <a:off x="1095375" y="5095875"/>
            <a:ext cx="10001250" cy="523875"/>
          </a:xfrm>
          <a:prstGeom prst="rect">
            <a:avLst/>
          </a:prstGeom>
          <a:noFill/>
          <a:ln w="0">
            <a:noFill/>
            <a:prstDash val="solid"/>
          </a:ln>
        </p:spPr>
        <p:txBody>
          <a:bodyPr/>
          <a:lstStyle/>
          <a:p>
            <a:pPr algn="ctr">
              <a:defRPr sz="1800" b="1">
                <a:solidFill>
                  <a:srgbClr val="17845C"/>
                </a:solidFill>
              </a:defRPr>
            </a:pPr>
            <a:r>
              <a:rPr sz="1800" b="1">
                <a:solidFill>
                  <a:srgbClr val="17845C"/>
                </a:solidFill>
              </a:rPr>
              <a:t>Each topic contributes to designing a database that is correct, secure, maintainable and useful.</a:t>
            </a:r>
          </a:p>
        </p:txBody>
      </p:sp>
      <p:sp>
        <p:nvSpPr>
          <p:cNvPr id="19" name="Rectangle 18">
            <a:extLst>
              <a:ext uri="{FF2B5EF4-FFF2-40B4-BE49-F238E27FC236}">
                <a16:creationId xmlns:a16="http://schemas.microsoft.com/office/drawing/2014/main" id="{B07488D8-E46F-4F1F-A537-8A5E9A8CA6DB}"/>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8</a:t>
            </a:r>
          </a:p>
        </p:txBody>
      </p:sp>
    </p:spTree>
    <p:extLst>
      <p:ext uri="{BB962C8B-B14F-4D97-AF65-F5344CB8AC3E}">
        <p14:creationId xmlns:p14="http://schemas.microsoft.com/office/powerpoint/2010/main" val="314191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2035D6E-938A-4009-9FE8-DC874DC0DCF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Assessment rewards both practical work and critical analysis</a:t>
            </a:r>
          </a:p>
        </p:txBody>
      </p:sp>
      <p:sp>
        <p:nvSpPr>
          <p:cNvPr id="2" name="Rectangle 1">
            <a:extLst>
              <a:ext uri="{FF2B5EF4-FFF2-40B4-BE49-F238E27FC236}">
                <a16:creationId xmlns:a16="http://schemas.microsoft.com/office/drawing/2014/main" id="{9414B84B-BCB4-4515-81B6-E2D18375948C}"/>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F88C862B-6F0D-47B1-8C9B-CDCB8836BA0B}"/>
              </a:ext>
            </a:extLst>
          </p:cNvPr>
          <p:cNvSpPr>
            <a:spLocks noGrp="1"/>
          </p:cNvSpPr>
          <p:nvPr/>
        </p:nvSpPr>
        <p:spPr>
          <a:xfrm>
            <a:off x="685800" y="1619250"/>
            <a:ext cx="1714500" cy="285750"/>
          </a:xfrm>
          <a:prstGeom prst="rect">
            <a:avLst/>
          </a:prstGeom>
          <a:noFill/>
          <a:ln w="0">
            <a:noFill/>
            <a:prstDash val="solid"/>
          </a:ln>
        </p:spPr>
        <p:txBody>
          <a:bodyPr/>
          <a:lstStyle/>
          <a:p>
            <a:pPr algn="l">
              <a:defRPr sz="1500" b="1">
                <a:solidFill>
                  <a:srgbClr val="18A6B8"/>
                </a:solidFill>
              </a:defRPr>
            </a:pPr>
            <a:r>
              <a:rPr sz="1500" b="1">
                <a:solidFill>
                  <a:srgbClr val="18A6B8"/>
                </a:solidFill>
              </a:rPr>
              <a:t>Assessment 1</a:t>
            </a:r>
          </a:p>
        </p:txBody>
      </p:sp>
      <p:sp>
        <p:nvSpPr>
          <p:cNvPr id="4" name="Rectangle 3">
            <a:extLst>
              <a:ext uri="{FF2B5EF4-FFF2-40B4-BE49-F238E27FC236}">
                <a16:creationId xmlns:a16="http://schemas.microsoft.com/office/drawing/2014/main" id="{BE35C705-E7AE-4A16-B06B-45D6D788DBE0}"/>
              </a:ext>
            </a:extLst>
          </p:cNvPr>
          <p:cNvSpPr>
            <a:spLocks noGrp="1"/>
          </p:cNvSpPr>
          <p:nvPr/>
        </p:nvSpPr>
        <p:spPr>
          <a:xfrm>
            <a:off x="2428875" y="1619250"/>
            <a:ext cx="3095625" cy="304800"/>
          </a:xfrm>
          <a:prstGeom prst="rect">
            <a:avLst/>
          </a:prstGeom>
          <a:noFill/>
          <a:ln w="0">
            <a:noFill/>
            <a:prstDash val="solid"/>
          </a:ln>
        </p:spPr>
        <p:txBody>
          <a:bodyPr/>
          <a:lstStyle/>
          <a:p>
            <a:pPr algn="l">
              <a:defRPr sz="1800" b="1">
                <a:solidFill>
                  <a:srgbClr val="102A43"/>
                </a:solidFill>
              </a:defRPr>
            </a:pPr>
            <a:r>
              <a:rPr sz="1800" b="1">
                <a:solidFill>
                  <a:srgbClr val="102A43"/>
                </a:solidFill>
              </a:rPr>
              <a:t>Online Tests × 2*</a:t>
            </a:r>
          </a:p>
        </p:txBody>
      </p:sp>
      <p:sp>
        <p:nvSpPr>
          <p:cNvPr id="5" name="Rectangle 4">
            <a:extLst>
              <a:ext uri="{FF2B5EF4-FFF2-40B4-BE49-F238E27FC236}">
                <a16:creationId xmlns:a16="http://schemas.microsoft.com/office/drawing/2014/main" id="{4F6797BE-B705-456C-8B79-1D1C86CE4C78}"/>
              </a:ext>
            </a:extLst>
          </p:cNvPr>
          <p:cNvSpPr>
            <a:spLocks noGrp="1"/>
          </p:cNvSpPr>
          <p:nvPr/>
        </p:nvSpPr>
        <p:spPr>
          <a:xfrm>
            <a:off x="5715000" y="1619250"/>
            <a:ext cx="952500" cy="304800"/>
          </a:xfrm>
          <a:prstGeom prst="rect">
            <a:avLst/>
          </a:prstGeom>
          <a:noFill/>
          <a:ln w="0">
            <a:noFill/>
            <a:prstDash val="solid"/>
          </a:ln>
        </p:spPr>
        <p:txBody>
          <a:bodyPr/>
          <a:lstStyle/>
          <a:p>
            <a:pPr algn="l">
              <a:defRPr sz="2025" b="1">
                <a:solidFill>
                  <a:srgbClr val="1261A0"/>
                </a:solidFill>
              </a:defRPr>
            </a:pPr>
            <a:r>
              <a:rPr sz="2025" b="1">
                <a:solidFill>
                  <a:srgbClr val="1261A0"/>
                </a:solidFill>
              </a:rPr>
              <a:t>20%</a:t>
            </a:r>
          </a:p>
        </p:txBody>
      </p:sp>
      <p:sp>
        <p:nvSpPr>
          <p:cNvPr id="6" name="Rectangle 5">
            <a:extLst>
              <a:ext uri="{FF2B5EF4-FFF2-40B4-BE49-F238E27FC236}">
                <a16:creationId xmlns:a16="http://schemas.microsoft.com/office/drawing/2014/main" id="{4E844C34-FEAE-4B62-BE43-0C2AA08E1239}"/>
              </a:ext>
            </a:extLst>
          </p:cNvPr>
          <p:cNvSpPr>
            <a:spLocks noGrp="1"/>
          </p:cNvSpPr>
          <p:nvPr/>
        </p:nvSpPr>
        <p:spPr>
          <a:xfrm>
            <a:off x="6858000" y="1619250"/>
            <a:ext cx="4476750" cy="266700"/>
          </a:xfrm>
          <a:prstGeom prst="rect">
            <a:avLst/>
          </a:prstGeom>
          <a:noFill/>
          <a:ln w="0">
            <a:noFill/>
            <a:prstDash val="solid"/>
          </a:ln>
        </p:spPr>
        <p:txBody>
          <a:bodyPr/>
          <a:lstStyle/>
          <a:p>
            <a:pPr algn="l">
              <a:defRPr sz="1350" b="0">
                <a:solidFill>
                  <a:srgbClr val="102A43"/>
                </a:solidFill>
              </a:defRPr>
            </a:pPr>
            <a:r>
              <a:rPr sz="1350" b="0">
                <a:solidFill>
                  <a:srgbClr val="102A43"/>
                </a:solidFill>
              </a:rPr>
              <a:t>Refer to assessment folder</a:t>
            </a:r>
          </a:p>
        </p:txBody>
      </p:sp>
      <p:sp>
        <p:nvSpPr>
          <p:cNvPr id="7" name="Rectangle 6">
            <a:extLst>
              <a:ext uri="{FF2B5EF4-FFF2-40B4-BE49-F238E27FC236}">
                <a16:creationId xmlns:a16="http://schemas.microsoft.com/office/drawing/2014/main" id="{647D3C15-E31E-40F6-A5BE-B4E4A91BA394}"/>
              </a:ext>
            </a:extLst>
          </p:cNvPr>
          <p:cNvSpPr>
            <a:spLocks noGrp="1"/>
          </p:cNvSpPr>
          <p:nvPr/>
        </p:nvSpPr>
        <p:spPr>
          <a:xfrm>
            <a:off x="6858000" y="1981200"/>
            <a:ext cx="4476750" cy="266700"/>
          </a:xfrm>
          <a:prstGeom prst="rect">
            <a:avLst/>
          </a:prstGeom>
          <a:noFill/>
          <a:ln w="0">
            <a:noFill/>
            <a:prstDash val="solid"/>
          </a:ln>
        </p:spPr>
        <p:txBody>
          <a:bodyPr/>
          <a:lstStyle/>
          <a:p>
            <a:pPr algn="l">
              <a:defRPr sz="1200" b="0">
                <a:solidFill>
                  <a:srgbClr val="526777"/>
                </a:solidFill>
              </a:defRPr>
            </a:pPr>
            <a:r>
              <a:rPr sz="1200" b="0">
                <a:solidFill>
                  <a:srgbClr val="526777"/>
                </a:solidFill>
              </a:rPr>
              <a:t>30 minutes each</a:t>
            </a:r>
          </a:p>
        </p:txBody>
      </p:sp>
      <p:sp>
        <p:nvSpPr>
          <p:cNvPr id="8" name="Rectangle 7">
            <a:extLst>
              <a:ext uri="{FF2B5EF4-FFF2-40B4-BE49-F238E27FC236}">
                <a16:creationId xmlns:a16="http://schemas.microsoft.com/office/drawing/2014/main" id="{D48759A1-FA94-4E02-9928-340A96DB522F}"/>
              </a:ext>
            </a:extLst>
          </p:cNvPr>
          <p:cNvSpPr>
            <a:spLocks noGrp="1"/>
          </p:cNvSpPr>
          <p:nvPr/>
        </p:nvSpPr>
        <p:spPr>
          <a:xfrm>
            <a:off x="685800" y="3000375"/>
            <a:ext cx="1714500" cy="285750"/>
          </a:xfrm>
          <a:prstGeom prst="rect">
            <a:avLst/>
          </a:prstGeom>
          <a:noFill/>
          <a:ln w="0">
            <a:noFill/>
            <a:prstDash val="solid"/>
          </a:ln>
        </p:spPr>
        <p:txBody>
          <a:bodyPr/>
          <a:lstStyle/>
          <a:p>
            <a:pPr algn="l">
              <a:defRPr sz="1500" b="1">
                <a:solidFill>
                  <a:srgbClr val="18A6B8"/>
                </a:solidFill>
              </a:defRPr>
            </a:pPr>
            <a:r>
              <a:rPr sz="1500" b="1">
                <a:solidFill>
                  <a:srgbClr val="18A6B8"/>
                </a:solidFill>
              </a:rPr>
              <a:t>Assessment 2</a:t>
            </a:r>
          </a:p>
        </p:txBody>
      </p:sp>
      <p:sp>
        <p:nvSpPr>
          <p:cNvPr id="9" name="Rectangle 8">
            <a:extLst>
              <a:ext uri="{FF2B5EF4-FFF2-40B4-BE49-F238E27FC236}">
                <a16:creationId xmlns:a16="http://schemas.microsoft.com/office/drawing/2014/main" id="{E1C498C8-7B96-4A3B-B5A4-D43F627FFFE5}"/>
              </a:ext>
            </a:extLst>
          </p:cNvPr>
          <p:cNvSpPr>
            <a:spLocks noGrp="1"/>
          </p:cNvSpPr>
          <p:nvPr/>
        </p:nvSpPr>
        <p:spPr>
          <a:xfrm>
            <a:off x="2428875" y="3000375"/>
            <a:ext cx="3095625" cy="304800"/>
          </a:xfrm>
          <a:prstGeom prst="rect">
            <a:avLst/>
          </a:prstGeom>
          <a:noFill/>
          <a:ln w="0">
            <a:noFill/>
            <a:prstDash val="solid"/>
          </a:ln>
        </p:spPr>
        <p:txBody>
          <a:bodyPr/>
          <a:lstStyle/>
          <a:p>
            <a:pPr algn="l">
              <a:defRPr sz="1800" b="1">
                <a:solidFill>
                  <a:srgbClr val="102A43"/>
                </a:solidFill>
              </a:defRPr>
            </a:pPr>
            <a:r>
              <a:rPr sz="1800" b="1">
                <a:solidFill>
                  <a:srgbClr val="102A43"/>
                </a:solidFill>
              </a:rPr>
              <a:t>Group Case Study</a:t>
            </a:r>
          </a:p>
        </p:txBody>
      </p:sp>
      <p:sp>
        <p:nvSpPr>
          <p:cNvPr id="10" name="Rectangle 9">
            <a:extLst>
              <a:ext uri="{FF2B5EF4-FFF2-40B4-BE49-F238E27FC236}">
                <a16:creationId xmlns:a16="http://schemas.microsoft.com/office/drawing/2014/main" id="{01A3856D-1945-4838-8AFF-36CBFBED9F81}"/>
              </a:ext>
            </a:extLst>
          </p:cNvPr>
          <p:cNvSpPr>
            <a:spLocks noGrp="1"/>
          </p:cNvSpPr>
          <p:nvPr/>
        </p:nvSpPr>
        <p:spPr>
          <a:xfrm>
            <a:off x="5715000" y="3000375"/>
            <a:ext cx="952500" cy="304800"/>
          </a:xfrm>
          <a:prstGeom prst="rect">
            <a:avLst/>
          </a:prstGeom>
          <a:noFill/>
          <a:ln w="0">
            <a:noFill/>
            <a:prstDash val="solid"/>
          </a:ln>
        </p:spPr>
        <p:txBody>
          <a:bodyPr/>
          <a:lstStyle/>
          <a:p>
            <a:pPr algn="l">
              <a:defRPr sz="2025" b="1">
                <a:solidFill>
                  <a:srgbClr val="1261A0"/>
                </a:solidFill>
              </a:defRPr>
            </a:pPr>
            <a:r>
              <a:rPr sz="2025" b="1">
                <a:solidFill>
                  <a:srgbClr val="1261A0"/>
                </a:solidFill>
              </a:rPr>
              <a:t>40%</a:t>
            </a:r>
          </a:p>
        </p:txBody>
      </p:sp>
      <p:sp>
        <p:nvSpPr>
          <p:cNvPr id="11" name="Rectangle 10">
            <a:extLst>
              <a:ext uri="{FF2B5EF4-FFF2-40B4-BE49-F238E27FC236}">
                <a16:creationId xmlns:a16="http://schemas.microsoft.com/office/drawing/2014/main" id="{D3C751D8-C978-47C7-A178-C25431543722}"/>
              </a:ext>
            </a:extLst>
          </p:cNvPr>
          <p:cNvSpPr>
            <a:spLocks noGrp="1"/>
          </p:cNvSpPr>
          <p:nvPr/>
        </p:nvSpPr>
        <p:spPr>
          <a:xfrm>
            <a:off x="6858000" y="3000375"/>
            <a:ext cx="4476750" cy="266700"/>
          </a:xfrm>
          <a:prstGeom prst="rect">
            <a:avLst/>
          </a:prstGeom>
          <a:noFill/>
          <a:ln w="0">
            <a:noFill/>
            <a:prstDash val="solid"/>
          </a:ln>
        </p:spPr>
        <p:txBody>
          <a:bodyPr/>
          <a:lstStyle/>
          <a:p>
            <a:pPr algn="l">
              <a:defRPr sz="1350" b="0">
                <a:solidFill>
                  <a:srgbClr val="102A43"/>
                </a:solidFill>
              </a:defRPr>
            </a:pPr>
            <a:r>
              <a:rPr sz="1350" b="0">
                <a:solidFill>
                  <a:srgbClr val="102A43"/>
                </a:solidFill>
              </a:rPr>
              <a:t>21 Sep 2026, 11:59 pm</a:t>
            </a:r>
          </a:p>
        </p:txBody>
      </p:sp>
      <p:sp>
        <p:nvSpPr>
          <p:cNvPr id="12" name="Rectangle 11">
            <a:extLst>
              <a:ext uri="{FF2B5EF4-FFF2-40B4-BE49-F238E27FC236}">
                <a16:creationId xmlns:a16="http://schemas.microsoft.com/office/drawing/2014/main" id="{193B24F1-30BE-4211-A1E8-C20BD06512AF}"/>
              </a:ext>
            </a:extLst>
          </p:cNvPr>
          <p:cNvSpPr>
            <a:spLocks noGrp="1"/>
          </p:cNvSpPr>
          <p:nvPr/>
        </p:nvSpPr>
        <p:spPr>
          <a:xfrm>
            <a:off x="6858000" y="3362325"/>
            <a:ext cx="4476750" cy="266700"/>
          </a:xfrm>
          <a:prstGeom prst="rect">
            <a:avLst/>
          </a:prstGeom>
          <a:noFill/>
          <a:ln w="0">
            <a:noFill/>
            <a:prstDash val="solid"/>
          </a:ln>
        </p:spPr>
        <p:txBody>
          <a:bodyPr/>
          <a:lstStyle/>
          <a:p>
            <a:pPr algn="l">
              <a:defRPr sz="1200" b="0">
                <a:solidFill>
                  <a:srgbClr val="526777"/>
                </a:solidFill>
              </a:defRPr>
            </a:pPr>
            <a:r>
              <a:rPr sz="1200" b="0">
                <a:solidFill>
                  <a:srgbClr val="526777"/>
                </a:solidFill>
              </a:rPr>
              <a:t>Groups of 3 unless advised</a:t>
            </a:r>
          </a:p>
        </p:txBody>
      </p:sp>
      <p:sp>
        <p:nvSpPr>
          <p:cNvPr id="13" name="Rectangle 12">
            <a:extLst>
              <a:ext uri="{FF2B5EF4-FFF2-40B4-BE49-F238E27FC236}">
                <a16:creationId xmlns:a16="http://schemas.microsoft.com/office/drawing/2014/main" id="{48D20F46-2272-436E-A897-EF97B27CD2A9}"/>
              </a:ext>
            </a:extLst>
          </p:cNvPr>
          <p:cNvSpPr>
            <a:spLocks noGrp="1"/>
          </p:cNvSpPr>
          <p:nvPr/>
        </p:nvSpPr>
        <p:spPr>
          <a:xfrm>
            <a:off x="685800" y="4381500"/>
            <a:ext cx="1714500" cy="285750"/>
          </a:xfrm>
          <a:prstGeom prst="rect">
            <a:avLst/>
          </a:prstGeom>
          <a:noFill/>
          <a:ln w="0">
            <a:noFill/>
            <a:prstDash val="solid"/>
          </a:ln>
        </p:spPr>
        <p:txBody>
          <a:bodyPr/>
          <a:lstStyle/>
          <a:p>
            <a:pPr algn="l">
              <a:defRPr sz="1500" b="1">
                <a:solidFill>
                  <a:srgbClr val="18A6B8"/>
                </a:solidFill>
              </a:defRPr>
            </a:pPr>
            <a:r>
              <a:rPr sz="1500" b="1">
                <a:solidFill>
                  <a:srgbClr val="18A6B8"/>
                </a:solidFill>
              </a:rPr>
              <a:t>Assessment 3</a:t>
            </a:r>
          </a:p>
        </p:txBody>
      </p:sp>
      <p:sp>
        <p:nvSpPr>
          <p:cNvPr id="14" name="Rectangle 13">
            <a:extLst>
              <a:ext uri="{FF2B5EF4-FFF2-40B4-BE49-F238E27FC236}">
                <a16:creationId xmlns:a16="http://schemas.microsoft.com/office/drawing/2014/main" id="{0C176BEC-B1EC-485F-A7D9-89D7E6DEBFCD}"/>
              </a:ext>
            </a:extLst>
          </p:cNvPr>
          <p:cNvSpPr>
            <a:spLocks noGrp="1"/>
          </p:cNvSpPr>
          <p:nvPr/>
        </p:nvSpPr>
        <p:spPr>
          <a:xfrm>
            <a:off x="2428875" y="4381500"/>
            <a:ext cx="3095625" cy="304800"/>
          </a:xfrm>
          <a:prstGeom prst="rect">
            <a:avLst/>
          </a:prstGeom>
          <a:noFill/>
          <a:ln w="0">
            <a:noFill/>
            <a:prstDash val="solid"/>
          </a:ln>
        </p:spPr>
        <p:txBody>
          <a:bodyPr/>
          <a:lstStyle/>
          <a:p>
            <a:pPr algn="l">
              <a:defRPr sz="1800" b="1">
                <a:solidFill>
                  <a:srgbClr val="102A43"/>
                </a:solidFill>
              </a:defRPr>
            </a:pPr>
            <a:r>
              <a:rPr sz="1800" b="1">
                <a:solidFill>
                  <a:srgbClr val="102A43"/>
                </a:solidFill>
              </a:rPr>
              <a:t>Individual Research Paper</a:t>
            </a:r>
          </a:p>
        </p:txBody>
      </p:sp>
      <p:sp>
        <p:nvSpPr>
          <p:cNvPr id="15" name="Rectangle 14">
            <a:extLst>
              <a:ext uri="{FF2B5EF4-FFF2-40B4-BE49-F238E27FC236}">
                <a16:creationId xmlns:a16="http://schemas.microsoft.com/office/drawing/2014/main" id="{B594F18C-BAB8-4CD1-AE93-47419542136C}"/>
              </a:ext>
            </a:extLst>
          </p:cNvPr>
          <p:cNvSpPr>
            <a:spLocks noGrp="1"/>
          </p:cNvSpPr>
          <p:nvPr/>
        </p:nvSpPr>
        <p:spPr>
          <a:xfrm>
            <a:off x="5715000" y="4381500"/>
            <a:ext cx="952500" cy="304800"/>
          </a:xfrm>
          <a:prstGeom prst="rect">
            <a:avLst/>
          </a:prstGeom>
          <a:noFill/>
          <a:ln w="0">
            <a:noFill/>
            <a:prstDash val="solid"/>
          </a:ln>
        </p:spPr>
        <p:txBody>
          <a:bodyPr/>
          <a:lstStyle/>
          <a:p>
            <a:pPr algn="l">
              <a:defRPr sz="2025" b="1">
                <a:solidFill>
                  <a:srgbClr val="1261A0"/>
                </a:solidFill>
              </a:defRPr>
            </a:pPr>
            <a:r>
              <a:rPr sz="2025" b="1">
                <a:solidFill>
                  <a:srgbClr val="1261A0"/>
                </a:solidFill>
              </a:rPr>
              <a:t>40%</a:t>
            </a:r>
          </a:p>
        </p:txBody>
      </p:sp>
      <p:sp>
        <p:nvSpPr>
          <p:cNvPr id="16" name="Rectangle 15">
            <a:extLst>
              <a:ext uri="{FF2B5EF4-FFF2-40B4-BE49-F238E27FC236}">
                <a16:creationId xmlns:a16="http://schemas.microsoft.com/office/drawing/2014/main" id="{04268716-21D7-4E5C-A0CD-F89F5694747D}"/>
              </a:ext>
            </a:extLst>
          </p:cNvPr>
          <p:cNvSpPr>
            <a:spLocks noGrp="1"/>
          </p:cNvSpPr>
          <p:nvPr/>
        </p:nvSpPr>
        <p:spPr>
          <a:xfrm>
            <a:off x="6858000" y="4381500"/>
            <a:ext cx="4476750" cy="266700"/>
          </a:xfrm>
          <a:prstGeom prst="rect">
            <a:avLst/>
          </a:prstGeom>
          <a:noFill/>
          <a:ln w="0">
            <a:noFill/>
            <a:prstDash val="solid"/>
          </a:ln>
        </p:spPr>
        <p:txBody>
          <a:bodyPr/>
          <a:lstStyle/>
          <a:p>
            <a:pPr algn="l">
              <a:defRPr sz="1350" b="0">
                <a:solidFill>
                  <a:srgbClr val="102A43"/>
                </a:solidFill>
              </a:defRPr>
            </a:pPr>
            <a:r>
              <a:rPr sz="1350" b="0">
                <a:solidFill>
                  <a:srgbClr val="102A43"/>
                </a:solidFill>
              </a:rPr>
              <a:t>6 Oct 2026</a:t>
            </a:r>
          </a:p>
        </p:txBody>
      </p:sp>
      <p:sp>
        <p:nvSpPr>
          <p:cNvPr id="17" name="Rectangle 16">
            <a:extLst>
              <a:ext uri="{FF2B5EF4-FFF2-40B4-BE49-F238E27FC236}">
                <a16:creationId xmlns:a16="http://schemas.microsoft.com/office/drawing/2014/main" id="{6350C641-0966-42FA-9021-B02ED93F5504}"/>
              </a:ext>
            </a:extLst>
          </p:cNvPr>
          <p:cNvSpPr>
            <a:spLocks noGrp="1"/>
          </p:cNvSpPr>
          <p:nvPr/>
        </p:nvSpPr>
        <p:spPr>
          <a:xfrm>
            <a:off x="6858000" y="4743450"/>
            <a:ext cx="4476750" cy="266700"/>
          </a:xfrm>
          <a:prstGeom prst="rect">
            <a:avLst/>
          </a:prstGeom>
          <a:noFill/>
          <a:ln w="0">
            <a:noFill/>
            <a:prstDash val="solid"/>
          </a:ln>
        </p:spPr>
        <p:txBody>
          <a:bodyPr/>
          <a:lstStyle/>
          <a:p>
            <a:pPr algn="l">
              <a:defRPr sz="1200" b="0">
                <a:solidFill>
                  <a:srgbClr val="526777"/>
                </a:solidFill>
              </a:defRPr>
            </a:pPr>
            <a:r>
              <a:rPr sz="1200" b="0">
                <a:solidFill>
                  <a:srgbClr val="526777"/>
                </a:solidFill>
              </a:rPr>
              <a:t>10:59 pm GC / 11:59 pm MEL &amp; SYD</a:t>
            </a:r>
          </a:p>
        </p:txBody>
      </p:sp>
      <p:sp>
        <p:nvSpPr>
          <p:cNvPr id="18" name="Rectangle 17">
            <a:extLst>
              <a:ext uri="{FF2B5EF4-FFF2-40B4-BE49-F238E27FC236}">
                <a16:creationId xmlns:a16="http://schemas.microsoft.com/office/drawing/2014/main" id="{32814086-11A8-4751-AE5E-754CC03BADA1}"/>
              </a:ext>
            </a:extLst>
          </p:cNvPr>
          <p:cNvSpPr>
            <a:spLocks noGrp="1"/>
          </p:cNvSpPr>
          <p:nvPr/>
        </p:nvSpPr>
        <p:spPr>
          <a:xfrm>
            <a:off x="685800" y="5905500"/>
            <a:ext cx="10668000" cy="361950"/>
          </a:xfrm>
          <a:prstGeom prst="rect">
            <a:avLst/>
          </a:prstGeom>
          <a:noFill/>
          <a:ln w="0">
            <a:noFill/>
            <a:prstDash val="solid"/>
          </a:ln>
        </p:spPr>
        <p:txBody>
          <a:bodyPr/>
          <a:lstStyle/>
          <a:p>
            <a:pPr algn="l">
              <a:defRPr sz="1200" b="1">
                <a:solidFill>
                  <a:srgbClr val="B33A3A"/>
                </a:solidFill>
              </a:defRPr>
            </a:pPr>
            <a:r>
              <a:rPr sz="1200" b="1">
                <a:solidFill>
                  <a:srgbClr val="B33A3A"/>
                </a:solidFill>
              </a:rPr>
              <a:t>*The current T2 schedule lists two online tests. Always follow the current Blackboard assessment folder and announcements.</a:t>
            </a:r>
          </a:p>
        </p:txBody>
      </p:sp>
      <p:sp>
        <p:nvSpPr>
          <p:cNvPr id="19" name="Rectangle 18">
            <a:extLst>
              <a:ext uri="{FF2B5EF4-FFF2-40B4-BE49-F238E27FC236}">
                <a16:creationId xmlns:a16="http://schemas.microsoft.com/office/drawing/2014/main" id="{7DA1308C-00F9-48C8-B3A7-191DD5F9F6E2}"/>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9</a:t>
            </a:r>
          </a:p>
        </p:txBody>
      </p:sp>
    </p:spTree>
    <p:extLst>
      <p:ext uri="{BB962C8B-B14F-4D97-AF65-F5344CB8AC3E}">
        <p14:creationId xmlns:p14="http://schemas.microsoft.com/office/powerpoint/2010/main" val="1650720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E2B031E-158E-4EBC-AEBB-ADE627FFDA45}"/>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What success looks like in each assessment</a:t>
            </a:r>
          </a:p>
        </p:txBody>
      </p:sp>
      <p:sp>
        <p:nvSpPr>
          <p:cNvPr id="2" name="Rectangle 1">
            <a:extLst>
              <a:ext uri="{FF2B5EF4-FFF2-40B4-BE49-F238E27FC236}">
                <a16:creationId xmlns:a16="http://schemas.microsoft.com/office/drawing/2014/main" id="{71727331-57BB-4419-9B7A-68D0A75789A3}"/>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CDB1BA7C-BD6C-49D9-B140-7B72B8B0D3F8}"/>
              </a:ext>
            </a:extLst>
          </p:cNvPr>
          <p:cNvSpPr>
            <a:spLocks noGrp="1"/>
          </p:cNvSpPr>
          <p:nvPr/>
        </p:nvSpPr>
        <p:spPr>
          <a:xfrm>
            <a:off x="666750" y="1666875"/>
            <a:ext cx="2714625" cy="1000125"/>
          </a:xfrm>
          <a:prstGeom prst="roundRect">
            <a:avLst>
              <a:gd name="adj" fmla="val 11429"/>
            </a:avLst>
          </a:prstGeom>
          <a:solidFill>
            <a:srgbClr val="EAF4F8"/>
          </a:solidFill>
          <a:ln w="9525">
            <a:solidFill>
              <a:srgbClr val="C9D8E3"/>
            </a:solidFill>
            <a:prstDash val="solid"/>
          </a:ln>
        </p:spPr>
        <p:txBody>
          <a:bodyPr/>
          <a:lstStyle/>
          <a:p>
            <a:endParaRPr lang="en-US"/>
          </a:p>
        </p:txBody>
      </p:sp>
      <p:sp>
        <p:nvSpPr>
          <p:cNvPr id="4" name="Rectangle 3">
            <a:extLst>
              <a:ext uri="{FF2B5EF4-FFF2-40B4-BE49-F238E27FC236}">
                <a16:creationId xmlns:a16="http://schemas.microsoft.com/office/drawing/2014/main" id="{539AFDF4-DA09-47AD-81B3-165BEFA36C68}"/>
              </a:ext>
            </a:extLst>
          </p:cNvPr>
          <p:cNvSpPr>
            <a:spLocks noGrp="1"/>
          </p:cNvSpPr>
          <p:nvPr/>
        </p:nvSpPr>
        <p:spPr>
          <a:xfrm>
            <a:off x="857250" y="1952625"/>
            <a:ext cx="2333625" cy="400050"/>
          </a:xfrm>
          <a:prstGeom prst="rect">
            <a:avLst/>
          </a:prstGeom>
          <a:noFill/>
          <a:ln w="0">
            <a:noFill/>
            <a:prstDash val="solid"/>
          </a:ln>
        </p:spPr>
        <p:txBody>
          <a:bodyPr/>
          <a:lstStyle/>
          <a:p>
            <a:pPr algn="l">
              <a:defRPr sz="1725" b="1">
                <a:solidFill>
                  <a:srgbClr val="1261A0"/>
                </a:solidFill>
              </a:defRPr>
            </a:pPr>
            <a:r>
              <a:rPr sz="1725" b="1">
                <a:solidFill>
                  <a:srgbClr val="1261A0"/>
                </a:solidFill>
              </a:rPr>
              <a:t>Online tests</a:t>
            </a:r>
          </a:p>
        </p:txBody>
      </p:sp>
      <p:sp>
        <p:nvSpPr>
          <p:cNvPr id="5" name="Rectangle 4">
            <a:extLst>
              <a:ext uri="{FF2B5EF4-FFF2-40B4-BE49-F238E27FC236}">
                <a16:creationId xmlns:a16="http://schemas.microsoft.com/office/drawing/2014/main" id="{1CBF8EA1-98C2-4080-9F58-2BFF131C9941}"/>
              </a:ext>
            </a:extLst>
          </p:cNvPr>
          <p:cNvSpPr>
            <a:spLocks noGrp="1"/>
          </p:cNvSpPr>
          <p:nvPr/>
        </p:nvSpPr>
        <p:spPr>
          <a:xfrm>
            <a:off x="3762375" y="1781175"/>
            <a:ext cx="7477125" cy="857250"/>
          </a:xfrm>
          <a:prstGeom prst="rect">
            <a:avLst/>
          </a:prstGeom>
          <a:noFill/>
          <a:ln w="0">
            <a:noFill/>
            <a:prstDash val="solid"/>
          </a:ln>
        </p:spPr>
        <p:txBody>
          <a:bodyPr/>
          <a:lstStyle/>
          <a:p>
            <a:pPr algn="l">
              <a:defRPr sz="1500" b="0">
                <a:solidFill>
                  <a:srgbClr val="102A43"/>
                </a:solidFill>
              </a:defRPr>
            </a:pPr>
            <a:r>
              <a:rPr sz="1500" b="0">
                <a:solidFill>
                  <a:srgbClr val="102A43"/>
                </a:solidFill>
              </a:rPr>
              <a:t>Keep up weekly; practise SQL and concepts; complete independently within the time limit.</a:t>
            </a:r>
          </a:p>
        </p:txBody>
      </p:sp>
      <p:sp>
        <p:nvSpPr>
          <p:cNvPr id="6" name="Rectangle: Rounded Corners 5">
            <a:extLst>
              <a:ext uri="{FF2B5EF4-FFF2-40B4-BE49-F238E27FC236}">
                <a16:creationId xmlns:a16="http://schemas.microsoft.com/office/drawing/2014/main" id="{86BE7C3E-FA93-41BE-9161-0A0B731E3905}"/>
              </a:ext>
            </a:extLst>
          </p:cNvPr>
          <p:cNvSpPr>
            <a:spLocks noGrp="1"/>
          </p:cNvSpPr>
          <p:nvPr/>
        </p:nvSpPr>
        <p:spPr>
          <a:xfrm>
            <a:off x="666750" y="3048000"/>
            <a:ext cx="2714625" cy="1000125"/>
          </a:xfrm>
          <a:prstGeom prst="roundRect">
            <a:avLst>
              <a:gd name="adj" fmla="val 11429"/>
            </a:avLst>
          </a:prstGeom>
          <a:solidFill>
            <a:srgbClr val="FFFFFF"/>
          </a:solidFill>
          <a:ln w="9525">
            <a:solidFill>
              <a:srgbClr val="C9D8E3"/>
            </a:solidFill>
            <a:prstDash val="solid"/>
          </a:ln>
        </p:spPr>
        <p:txBody>
          <a:bodyPr/>
          <a:lstStyle/>
          <a:p>
            <a:endParaRPr lang="en-US"/>
          </a:p>
        </p:txBody>
      </p:sp>
      <p:sp>
        <p:nvSpPr>
          <p:cNvPr id="7" name="Rectangle 6">
            <a:extLst>
              <a:ext uri="{FF2B5EF4-FFF2-40B4-BE49-F238E27FC236}">
                <a16:creationId xmlns:a16="http://schemas.microsoft.com/office/drawing/2014/main" id="{37D524C6-FBE6-458E-A919-8E580D3B44DA}"/>
              </a:ext>
            </a:extLst>
          </p:cNvPr>
          <p:cNvSpPr>
            <a:spLocks noGrp="1"/>
          </p:cNvSpPr>
          <p:nvPr/>
        </p:nvSpPr>
        <p:spPr>
          <a:xfrm>
            <a:off x="857250" y="3333750"/>
            <a:ext cx="2333625" cy="400050"/>
          </a:xfrm>
          <a:prstGeom prst="rect">
            <a:avLst/>
          </a:prstGeom>
          <a:noFill/>
          <a:ln w="0">
            <a:noFill/>
            <a:prstDash val="solid"/>
          </a:ln>
        </p:spPr>
        <p:txBody>
          <a:bodyPr/>
          <a:lstStyle/>
          <a:p>
            <a:pPr algn="l">
              <a:defRPr sz="1725" b="1">
                <a:solidFill>
                  <a:srgbClr val="102A43"/>
                </a:solidFill>
              </a:defRPr>
            </a:pPr>
            <a:r>
              <a:rPr sz="1725" b="1">
                <a:solidFill>
                  <a:srgbClr val="102A43"/>
                </a:solidFill>
              </a:rPr>
              <a:t>Group case study</a:t>
            </a:r>
          </a:p>
        </p:txBody>
      </p:sp>
      <p:sp>
        <p:nvSpPr>
          <p:cNvPr id="8" name="Rectangle 7">
            <a:extLst>
              <a:ext uri="{FF2B5EF4-FFF2-40B4-BE49-F238E27FC236}">
                <a16:creationId xmlns:a16="http://schemas.microsoft.com/office/drawing/2014/main" id="{D9F6380F-942F-4A72-8AA0-B3DDDFC18D16}"/>
              </a:ext>
            </a:extLst>
          </p:cNvPr>
          <p:cNvSpPr>
            <a:spLocks noGrp="1"/>
          </p:cNvSpPr>
          <p:nvPr/>
        </p:nvSpPr>
        <p:spPr>
          <a:xfrm>
            <a:off x="3762375" y="3162300"/>
            <a:ext cx="7477125" cy="857250"/>
          </a:xfrm>
          <a:prstGeom prst="rect">
            <a:avLst/>
          </a:prstGeom>
          <a:noFill/>
          <a:ln w="0">
            <a:noFill/>
            <a:prstDash val="solid"/>
          </a:ln>
        </p:spPr>
        <p:txBody>
          <a:bodyPr/>
          <a:lstStyle/>
          <a:p>
            <a:pPr algn="l">
              <a:defRPr sz="1500" b="0">
                <a:solidFill>
                  <a:srgbClr val="102A43"/>
                </a:solidFill>
              </a:defRPr>
            </a:pPr>
            <a:r>
              <a:rPr sz="1500" b="0">
                <a:solidFill>
                  <a:srgbClr val="102A43"/>
                </a:solidFill>
              </a:rPr>
              <a:t>Model the business, justify design choices, implement DDL/DML, test the database and explain the solution as a team.</a:t>
            </a:r>
          </a:p>
        </p:txBody>
      </p:sp>
      <p:sp>
        <p:nvSpPr>
          <p:cNvPr id="9" name="Rectangle: Rounded Corners 8">
            <a:extLst>
              <a:ext uri="{FF2B5EF4-FFF2-40B4-BE49-F238E27FC236}">
                <a16:creationId xmlns:a16="http://schemas.microsoft.com/office/drawing/2014/main" id="{E0B36192-9933-4AAC-8197-25F1EBEDB47D}"/>
              </a:ext>
            </a:extLst>
          </p:cNvPr>
          <p:cNvSpPr>
            <a:spLocks noGrp="1"/>
          </p:cNvSpPr>
          <p:nvPr/>
        </p:nvSpPr>
        <p:spPr>
          <a:xfrm>
            <a:off x="666750" y="4429125"/>
            <a:ext cx="2714625" cy="1000125"/>
          </a:xfrm>
          <a:prstGeom prst="roundRect">
            <a:avLst>
              <a:gd name="adj" fmla="val 11429"/>
            </a:avLst>
          </a:prstGeom>
          <a:solidFill>
            <a:srgbClr val="FFFFFF"/>
          </a:solidFill>
          <a:ln w="9525">
            <a:solidFill>
              <a:srgbClr val="C9D8E3"/>
            </a:solidFill>
            <a:prstDash val="solid"/>
          </a:ln>
        </p:spPr>
        <p:txBody>
          <a:bodyPr/>
          <a:lstStyle/>
          <a:p>
            <a:endParaRPr lang="en-US"/>
          </a:p>
        </p:txBody>
      </p:sp>
      <p:sp>
        <p:nvSpPr>
          <p:cNvPr id="10" name="Rectangle 9">
            <a:extLst>
              <a:ext uri="{FF2B5EF4-FFF2-40B4-BE49-F238E27FC236}">
                <a16:creationId xmlns:a16="http://schemas.microsoft.com/office/drawing/2014/main" id="{836D107F-6A45-422E-8853-948FCFF52D67}"/>
              </a:ext>
            </a:extLst>
          </p:cNvPr>
          <p:cNvSpPr>
            <a:spLocks noGrp="1"/>
          </p:cNvSpPr>
          <p:nvPr/>
        </p:nvSpPr>
        <p:spPr>
          <a:xfrm>
            <a:off x="857250" y="4714875"/>
            <a:ext cx="2333625" cy="400050"/>
          </a:xfrm>
          <a:prstGeom prst="rect">
            <a:avLst/>
          </a:prstGeom>
          <a:noFill/>
          <a:ln w="0">
            <a:noFill/>
            <a:prstDash val="solid"/>
          </a:ln>
        </p:spPr>
        <p:txBody>
          <a:bodyPr/>
          <a:lstStyle/>
          <a:p>
            <a:pPr algn="l">
              <a:defRPr sz="1725" b="1">
                <a:solidFill>
                  <a:srgbClr val="102A43"/>
                </a:solidFill>
              </a:defRPr>
            </a:pPr>
            <a:r>
              <a:rPr sz="1725" b="1">
                <a:solidFill>
                  <a:srgbClr val="102A43"/>
                </a:solidFill>
              </a:rPr>
              <a:t>Research paper</a:t>
            </a:r>
          </a:p>
        </p:txBody>
      </p:sp>
      <p:sp>
        <p:nvSpPr>
          <p:cNvPr id="11" name="Rectangle 10">
            <a:extLst>
              <a:ext uri="{FF2B5EF4-FFF2-40B4-BE49-F238E27FC236}">
                <a16:creationId xmlns:a16="http://schemas.microsoft.com/office/drawing/2014/main" id="{600EFD30-556D-4F0A-8A23-8A31853C3835}"/>
              </a:ext>
            </a:extLst>
          </p:cNvPr>
          <p:cNvSpPr>
            <a:spLocks noGrp="1"/>
          </p:cNvSpPr>
          <p:nvPr/>
        </p:nvSpPr>
        <p:spPr>
          <a:xfrm>
            <a:off x="3762375" y="4543425"/>
            <a:ext cx="7477125" cy="857250"/>
          </a:xfrm>
          <a:prstGeom prst="rect">
            <a:avLst/>
          </a:prstGeom>
          <a:noFill/>
          <a:ln w="0">
            <a:noFill/>
            <a:prstDash val="solid"/>
          </a:ln>
        </p:spPr>
        <p:txBody>
          <a:bodyPr/>
          <a:lstStyle/>
          <a:p>
            <a:pPr algn="l">
              <a:defRPr sz="1500" b="0">
                <a:solidFill>
                  <a:srgbClr val="102A43"/>
                </a:solidFill>
              </a:defRPr>
            </a:pPr>
            <a:r>
              <a:rPr sz="1500" b="0">
                <a:solidFill>
                  <a:srgbClr val="102A43"/>
                </a:solidFill>
              </a:rPr>
              <a:t>Frame a contemporary issue, locate credible academic literature, compare findings, critique evidence and reference accurately.</a:t>
            </a:r>
          </a:p>
        </p:txBody>
      </p:sp>
      <p:sp>
        <p:nvSpPr>
          <p:cNvPr id="12" name="Rectangle 11">
            <a:extLst>
              <a:ext uri="{FF2B5EF4-FFF2-40B4-BE49-F238E27FC236}">
                <a16:creationId xmlns:a16="http://schemas.microsoft.com/office/drawing/2014/main" id="{54294E50-CBB1-428D-9A17-1D447CCFC94F}"/>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10</a:t>
            </a:r>
          </a:p>
        </p:txBody>
      </p:sp>
    </p:spTree>
    <p:extLst>
      <p:ext uri="{BB962C8B-B14F-4D97-AF65-F5344CB8AC3E}">
        <p14:creationId xmlns:p14="http://schemas.microsoft.com/office/powerpoint/2010/main" val="192626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8EED09B-ADE4-4D46-A5CC-0674E6281BC9}"/>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Your core toolset is free and industry relevant</a:t>
            </a:r>
          </a:p>
        </p:txBody>
      </p:sp>
      <p:sp>
        <p:nvSpPr>
          <p:cNvPr id="2" name="Rectangle 1">
            <a:extLst>
              <a:ext uri="{FF2B5EF4-FFF2-40B4-BE49-F238E27FC236}">
                <a16:creationId xmlns:a16="http://schemas.microsoft.com/office/drawing/2014/main" id="{746C6EA5-DAC9-408F-9844-38CECB058B30}"/>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ABEFEF3E-9B42-4D0B-AC56-C21CC97CBB38}"/>
              </a:ext>
            </a:extLst>
          </p:cNvPr>
          <p:cNvSpPr>
            <a:spLocks noGrp="1"/>
          </p:cNvSpPr>
          <p:nvPr/>
        </p:nvSpPr>
        <p:spPr>
          <a:xfrm>
            <a:off x="685800" y="1571625"/>
            <a:ext cx="2667000" cy="285750"/>
          </a:xfrm>
          <a:prstGeom prst="rect">
            <a:avLst/>
          </a:prstGeom>
          <a:noFill/>
          <a:ln w="0">
            <a:noFill/>
            <a:prstDash val="solid"/>
          </a:ln>
        </p:spPr>
        <p:txBody>
          <a:bodyPr/>
          <a:lstStyle/>
          <a:p>
            <a:pPr algn="l">
              <a:defRPr sz="1650" b="1">
                <a:solidFill>
                  <a:srgbClr val="1261A0"/>
                </a:solidFill>
              </a:defRPr>
            </a:pPr>
            <a:r>
              <a:rPr sz="1650" b="1">
                <a:solidFill>
                  <a:srgbClr val="1261A0"/>
                </a:solidFill>
              </a:rPr>
              <a:t>PostgreSQL</a:t>
            </a:r>
          </a:p>
        </p:txBody>
      </p:sp>
      <p:sp>
        <p:nvSpPr>
          <p:cNvPr id="4" name="Rectangle 3">
            <a:extLst>
              <a:ext uri="{FF2B5EF4-FFF2-40B4-BE49-F238E27FC236}">
                <a16:creationId xmlns:a16="http://schemas.microsoft.com/office/drawing/2014/main" id="{F2F6A22F-5239-4384-A825-23550962B58E}"/>
              </a:ext>
            </a:extLst>
          </p:cNvPr>
          <p:cNvSpPr>
            <a:spLocks noGrp="1"/>
          </p:cNvSpPr>
          <p:nvPr/>
        </p:nvSpPr>
        <p:spPr>
          <a:xfrm>
            <a:off x="3571875" y="1571625"/>
            <a:ext cx="200025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Database server</a:t>
            </a:r>
          </a:p>
        </p:txBody>
      </p:sp>
      <p:sp>
        <p:nvSpPr>
          <p:cNvPr id="5" name="Rectangle 4">
            <a:extLst>
              <a:ext uri="{FF2B5EF4-FFF2-40B4-BE49-F238E27FC236}">
                <a16:creationId xmlns:a16="http://schemas.microsoft.com/office/drawing/2014/main" id="{D4DF76DD-0009-479C-9372-483D50CEBA35}"/>
              </a:ext>
            </a:extLst>
          </p:cNvPr>
          <p:cNvSpPr>
            <a:spLocks noGrp="1"/>
          </p:cNvSpPr>
          <p:nvPr/>
        </p:nvSpPr>
        <p:spPr>
          <a:xfrm>
            <a:off x="5810250" y="1571625"/>
            <a:ext cx="5429250" cy="495300"/>
          </a:xfrm>
          <a:prstGeom prst="rect">
            <a:avLst/>
          </a:prstGeom>
          <a:noFill/>
          <a:ln w="0">
            <a:noFill/>
            <a:prstDash val="solid"/>
          </a:ln>
        </p:spPr>
        <p:txBody>
          <a:bodyPr/>
          <a:lstStyle/>
          <a:p>
            <a:pPr algn="l">
              <a:defRPr sz="1425" b="0">
                <a:solidFill>
                  <a:srgbClr val="102A43"/>
                </a:solidFill>
              </a:defRPr>
            </a:pPr>
            <a:r>
              <a:rPr sz="1425" b="0">
                <a:solidFill>
                  <a:srgbClr val="102A43"/>
                </a:solidFill>
              </a:rPr>
              <a:t>Stores data, enforces rules and executes SQL.</a:t>
            </a:r>
          </a:p>
        </p:txBody>
      </p:sp>
      <p:sp>
        <p:nvSpPr>
          <p:cNvPr id="6" name="Rectangle 5">
            <a:extLst>
              <a:ext uri="{FF2B5EF4-FFF2-40B4-BE49-F238E27FC236}">
                <a16:creationId xmlns:a16="http://schemas.microsoft.com/office/drawing/2014/main" id="{B153A770-2743-4634-B761-541FFDDC46A5}"/>
              </a:ext>
            </a:extLst>
          </p:cNvPr>
          <p:cNvSpPr>
            <a:spLocks noGrp="1"/>
          </p:cNvSpPr>
          <p:nvPr/>
        </p:nvSpPr>
        <p:spPr>
          <a:xfrm>
            <a:off x="685800" y="2638425"/>
            <a:ext cx="2667000" cy="285750"/>
          </a:xfrm>
          <a:prstGeom prst="rect">
            <a:avLst/>
          </a:prstGeom>
          <a:noFill/>
          <a:ln w="0">
            <a:noFill/>
            <a:prstDash val="solid"/>
          </a:ln>
        </p:spPr>
        <p:txBody>
          <a:bodyPr/>
          <a:lstStyle/>
          <a:p>
            <a:pPr algn="l">
              <a:defRPr sz="1650" b="1">
                <a:solidFill>
                  <a:srgbClr val="1261A0"/>
                </a:solidFill>
              </a:defRPr>
            </a:pPr>
            <a:r>
              <a:rPr sz="1650" b="1">
                <a:solidFill>
                  <a:srgbClr val="1261A0"/>
                </a:solidFill>
              </a:rPr>
              <a:t>DBeaver Community</a:t>
            </a:r>
          </a:p>
        </p:txBody>
      </p:sp>
      <p:sp>
        <p:nvSpPr>
          <p:cNvPr id="7" name="Rectangle 6">
            <a:extLst>
              <a:ext uri="{FF2B5EF4-FFF2-40B4-BE49-F238E27FC236}">
                <a16:creationId xmlns:a16="http://schemas.microsoft.com/office/drawing/2014/main" id="{CDD6527D-3490-4E21-A8D6-6E4B6C00AF82}"/>
              </a:ext>
            </a:extLst>
          </p:cNvPr>
          <p:cNvSpPr>
            <a:spLocks noGrp="1"/>
          </p:cNvSpPr>
          <p:nvPr/>
        </p:nvSpPr>
        <p:spPr>
          <a:xfrm>
            <a:off x="3571875" y="2638425"/>
            <a:ext cx="200025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Database client</a:t>
            </a:r>
          </a:p>
        </p:txBody>
      </p:sp>
      <p:sp>
        <p:nvSpPr>
          <p:cNvPr id="8" name="Rectangle 7">
            <a:extLst>
              <a:ext uri="{FF2B5EF4-FFF2-40B4-BE49-F238E27FC236}">
                <a16:creationId xmlns:a16="http://schemas.microsoft.com/office/drawing/2014/main" id="{0C62F224-CE7F-4E92-A010-84DCBF3E3ADE}"/>
              </a:ext>
            </a:extLst>
          </p:cNvPr>
          <p:cNvSpPr>
            <a:spLocks noGrp="1"/>
          </p:cNvSpPr>
          <p:nvPr/>
        </p:nvSpPr>
        <p:spPr>
          <a:xfrm>
            <a:off x="5810250" y="2638425"/>
            <a:ext cx="5429250" cy="495300"/>
          </a:xfrm>
          <a:prstGeom prst="rect">
            <a:avLst/>
          </a:prstGeom>
          <a:noFill/>
          <a:ln w="0">
            <a:noFill/>
            <a:prstDash val="solid"/>
          </a:ln>
        </p:spPr>
        <p:txBody>
          <a:bodyPr/>
          <a:lstStyle/>
          <a:p>
            <a:pPr algn="l">
              <a:defRPr sz="1425" b="0">
                <a:solidFill>
                  <a:srgbClr val="102A43"/>
                </a:solidFill>
              </a:defRPr>
            </a:pPr>
            <a:r>
              <a:rPr sz="1425" b="0">
                <a:solidFill>
                  <a:srgbClr val="102A43"/>
                </a:solidFill>
              </a:rPr>
              <a:t>Connects to PostgreSQL and provides an SQL editor and data browser.</a:t>
            </a:r>
          </a:p>
        </p:txBody>
      </p:sp>
      <p:sp>
        <p:nvSpPr>
          <p:cNvPr id="9" name="Rectangle 8">
            <a:extLst>
              <a:ext uri="{FF2B5EF4-FFF2-40B4-BE49-F238E27FC236}">
                <a16:creationId xmlns:a16="http://schemas.microsoft.com/office/drawing/2014/main" id="{278E5A13-2F0E-49D0-9488-B6BBEB1B92C1}"/>
              </a:ext>
            </a:extLst>
          </p:cNvPr>
          <p:cNvSpPr>
            <a:spLocks noGrp="1"/>
          </p:cNvSpPr>
          <p:nvPr/>
        </p:nvSpPr>
        <p:spPr>
          <a:xfrm>
            <a:off x="685800" y="3705225"/>
            <a:ext cx="2667000" cy="285750"/>
          </a:xfrm>
          <a:prstGeom prst="rect">
            <a:avLst/>
          </a:prstGeom>
          <a:noFill/>
          <a:ln w="0">
            <a:noFill/>
            <a:prstDash val="solid"/>
          </a:ln>
        </p:spPr>
        <p:txBody>
          <a:bodyPr/>
          <a:lstStyle/>
          <a:p>
            <a:pPr algn="l">
              <a:defRPr sz="1650" b="1">
                <a:solidFill>
                  <a:srgbClr val="102A43"/>
                </a:solidFill>
              </a:defRPr>
            </a:pPr>
            <a:r>
              <a:rPr sz="1650" b="1">
                <a:solidFill>
                  <a:srgbClr val="102A43"/>
                </a:solidFill>
              </a:rPr>
              <a:t>Blackboard</a:t>
            </a:r>
          </a:p>
        </p:txBody>
      </p:sp>
      <p:sp>
        <p:nvSpPr>
          <p:cNvPr id="10" name="Rectangle 9">
            <a:extLst>
              <a:ext uri="{FF2B5EF4-FFF2-40B4-BE49-F238E27FC236}">
                <a16:creationId xmlns:a16="http://schemas.microsoft.com/office/drawing/2014/main" id="{B7CDF889-B3FD-4831-AFDF-43E49D3686F9}"/>
              </a:ext>
            </a:extLst>
          </p:cNvPr>
          <p:cNvSpPr>
            <a:spLocks noGrp="1"/>
          </p:cNvSpPr>
          <p:nvPr/>
        </p:nvSpPr>
        <p:spPr>
          <a:xfrm>
            <a:off x="3571875" y="3705225"/>
            <a:ext cx="200025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Learning hub</a:t>
            </a:r>
          </a:p>
        </p:txBody>
      </p:sp>
      <p:sp>
        <p:nvSpPr>
          <p:cNvPr id="11" name="Rectangle 10">
            <a:extLst>
              <a:ext uri="{FF2B5EF4-FFF2-40B4-BE49-F238E27FC236}">
                <a16:creationId xmlns:a16="http://schemas.microsoft.com/office/drawing/2014/main" id="{5794D1FE-33DA-4195-AD19-331190458ED0}"/>
              </a:ext>
            </a:extLst>
          </p:cNvPr>
          <p:cNvSpPr>
            <a:spLocks noGrp="1"/>
          </p:cNvSpPr>
          <p:nvPr/>
        </p:nvSpPr>
        <p:spPr>
          <a:xfrm>
            <a:off x="5810250" y="3705225"/>
            <a:ext cx="5429250" cy="495300"/>
          </a:xfrm>
          <a:prstGeom prst="rect">
            <a:avLst/>
          </a:prstGeom>
          <a:noFill/>
          <a:ln w="0">
            <a:noFill/>
            <a:prstDash val="solid"/>
          </a:ln>
        </p:spPr>
        <p:txBody>
          <a:bodyPr/>
          <a:lstStyle/>
          <a:p>
            <a:pPr algn="l">
              <a:defRPr sz="1425" b="0">
                <a:solidFill>
                  <a:srgbClr val="102A43"/>
                </a:solidFill>
              </a:defRPr>
            </a:pPr>
            <a:r>
              <a:rPr sz="1425" b="0">
                <a:solidFill>
                  <a:srgbClr val="102A43"/>
                </a:solidFill>
              </a:rPr>
              <a:t>Assessment instructions, tutorial materials, announcements and submissions.</a:t>
            </a:r>
          </a:p>
        </p:txBody>
      </p:sp>
      <p:sp>
        <p:nvSpPr>
          <p:cNvPr id="12" name="Rectangle 11">
            <a:extLst>
              <a:ext uri="{FF2B5EF4-FFF2-40B4-BE49-F238E27FC236}">
                <a16:creationId xmlns:a16="http://schemas.microsoft.com/office/drawing/2014/main" id="{1BC308CE-218C-44D9-94C0-B772A5E3D0C7}"/>
              </a:ext>
            </a:extLst>
          </p:cNvPr>
          <p:cNvSpPr>
            <a:spLocks noGrp="1"/>
          </p:cNvSpPr>
          <p:nvPr/>
        </p:nvSpPr>
        <p:spPr>
          <a:xfrm>
            <a:off x="685800" y="4772025"/>
            <a:ext cx="2667000" cy="285750"/>
          </a:xfrm>
          <a:prstGeom prst="rect">
            <a:avLst/>
          </a:prstGeom>
          <a:noFill/>
          <a:ln w="0">
            <a:noFill/>
            <a:prstDash val="solid"/>
          </a:ln>
        </p:spPr>
        <p:txBody>
          <a:bodyPr/>
          <a:lstStyle/>
          <a:p>
            <a:pPr algn="l">
              <a:defRPr sz="1650" b="1">
                <a:solidFill>
                  <a:srgbClr val="102A43"/>
                </a:solidFill>
              </a:defRPr>
            </a:pPr>
            <a:r>
              <a:rPr sz="1650" b="1">
                <a:solidFill>
                  <a:srgbClr val="102A43"/>
                </a:solidFill>
              </a:rPr>
              <a:t>Word/PDF + reference manager</a:t>
            </a:r>
          </a:p>
        </p:txBody>
      </p:sp>
      <p:sp>
        <p:nvSpPr>
          <p:cNvPr id="13" name="Rectangle 12">
            <a:extLst>
              <a:ext uri="{FF2B5EF4-FFF2-40B4-BE49-F238E27FC236}">
                <a16:creationId xmlns:a16="http://schemas.microsoft.com/office/drawing/2014/main" id="{A7286370-51FF-44B1-A21F-7CFD403DB94E}"/>
              </a:ext>
            </a:extLst>
          </p:cNvPr>
          <p:cNvSpPr>
            <a:spLocks noGrp="1"/>
          </p:cNvSpPr>
          <p:nvPr/>
        </p:nvSpPr>
        <p:spPr>
          <a:xfrm>
            <a:off x="3571875" y="4772025"/>
            <a:ext cx="200025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Reporting</a:t>
            </a:r>
          </a:p>
        </p:txBody>
      </p:sp>
      <p:sp>
        <p:nvSpPr>
          <p:cNvPr id="14" name="Rectangle 13">
            <a:extLst>
              <a:ext uri="{FF2B5EF4-FFF2-40B4-BE49-F238E27FC236}">
                <a16:creationId xmlns:a16="http://schemas.microsoft.com/office/drawing/2014/main" id="{06AC3146-5C47-4C0B-9C07-9775A3CF8880}"/>
              </a:ext>
            </a:extLst>
          </p:cNvPr>
          <p:cNvSpPr>
            <a:spLocks noGrp="1"/>
          </p:cNvSpPr>
          <p:nvPr/>
        </p:nvSpPr>
        <p:spPr>
          <a:xfrm>
            <a:off x="5810250" y="4772025"/>
            <a:ext cx="5429250" cy="495300"/>
          </a:xfrm>
          <a:prstGeom prst="rect">
            <a:avLst/>
          </a:prstGeom>
          <a:noFill/>
          <a:ln w="0">
            <a:noFill/>
            <a:prstDash val="solid"/>
          </a:ln>
        </p:spPr>
        <p:txBody>
          <a:bodyPr/>
          <a:lstStyle/>
          <a:p>
            <a:pPr algn="l">
              <a:defRPr sz="1425" b="0">
                <a:solidFill>
                  <a:srgbClr val="102A43"/>
                </a:solidFill>
              </a:defRPr>
            </a:pPr>
            <a:r>
              <a:rPr sz="1425" b="0">
                <a:solidFill>
                  <a:srgbClr val="102A43"/>
                </a:solidFill>
              </a:rPr>
              <a:t>Professional documentation, citations and final submission.</a:t>
            </a:r>
          </a:p>
        </p:txBody>
      </p:sp>
      <p:sp>
        <p:nvSpPr>
          <p:cNvPr id="15" name="Rectangle 14">
            <a:extLst>
              <a:ext uri="{FF2B5EF4-FFF2-40B4-BE49-F238E27FC236}">
                <a16:creationId xmlns:a16="http://schemas.microsoft.com/office/drawing/2014/main" id="{9DDCB0A7-A17D-45E4-A1DD-D23EFE0F77B7}"/>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11</a:t>
            </a:r>
          </a:p>
        </p:txBody>
      </p:sp>
    </p:spTree>
    <p:extLst>
      <p:ext uri="{BB962C8B-B14F-4D97-AF65-F5344CB8AC3E}">
        <p14:creationId xmlns:p14="http://schemas.microsoft.com/office/powerpoint/2010/main" val="1587637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442C390-0074-4341-943B-AE66DB063A63}"/>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Install PostgreSQL first (Windows)</a:t>
            </a:r>
          </a:p>
        </p:txBody>
      </p:sp>
      <p:sp>
        <p:nvSpPr>
          <p:cNvPr id="2" name="Rectangle 1">
            <a:extLst>
              <a:ext uri="{FF2B5EF4-FFF2-40B4-BE49-F238E27FC236}">
                <a16:creationId xmlns:a16="http://schemas.microsoft.com/office/drawing/2014/main" id="{AD1FF629-8BC9-4DA6-9DD2-59AC966665E4}"/>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2E5021C7-BE74-4459-829F-37BF1B319655}"/>
              </a:ext>
            </a:extLst>
          </p:cNvPr>
          <p:cNvSpPr>
            <a:spLocks noGrp="1"/>
          </p:cNvSpPr>
          <p:nvPr/>
        </p:nvSpPr>
        <p:spPr>
          <a:xfrm>
            <a:off x="609600" y="1257300"/>
            <a:ext cx="10858500" cy="361950"/>
          </a:xfrm>
          <a:prstGeom prst="rect">
            <a:avLst/>
          </a:prstGeom>
          <a:noFill/>
          <a:ln w="0">
            <a:noFill/>
            <a:prstDash val="solid"/>
          </a:ln>
        </p:spPr>
        <p:txBody>
          <a:bodyPr/>
          <a:lstStyle/>
          <a:p>
            <a:pPr algn="l">
              <a:defRPr sz="1350" b="0">
                <a:solidFill>
                  <a:srgbClr val="526777"/>
                </a:solidFill>
              </a:defRPr>
            </a:pPr>
            <a:r>
              <a:rPr sz="1350" b="0">
                <a:solidFill>
                  <a:srgbClr val="526777"/>
                </a:solidFill>
              </a:rPr>
              <a:t>Use a supported stable release—not a beta build</a:t>
            </a:r>
          </a:p>
        </p:txBody>
      </p:sp>
      <p:sp>
        <p:nvSpPr>
          <p:cNvPr id="4" name="Rectangle 3">
            <a:extLst>
              <a:ext uri="{FF2B5EF4-FFF2-40B4-BE49-F238E27FC236}">
                <a16:creationId xmlns:a16="http://schemas.microsoft.com/office/drawing/2014/main" id="{A3E40A87-D548-4F77-850A-C7054A307690}"/>
              </a:ext>
            </a:extLst>
          </p:cNvPr>
          <p:cNvSpPr>
            <a:spLocks noGrp="1"/>
          </p:cNvSpPr>
          <p:nvPr/>
        </p:nvSpPr>
        <p:spPr>
          <a:xfrm>
            <a:off x="685800" y="1571625"/>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1</a:t>
            </a:r>
          </a:p>
        </p:txBody>
      </p:sp>
      <p:sp>
        <p:nvSpPr>
          <p:cNvPr id="5" name="Rectangle: Rounded Corners 4">
            <a:extLst>
              <a:ext uri="{FF2B5EF4-FFF2-40B4-BE49-F238E27FC236}">
                <a16:creationId xmlns:a16="http://schemas.microsoft.com/office/drawing/2014/main" id="{213EEB9A-F6C0-42D6-A971-E17A13E6328C}"/>
              </a:ext>
            </a:extLst>
          </p:cNvPr>
          <p:cNvSpPr>
            <a:spLocks noGrp="1"/>
          </p:cNvSpPr>
          <p:nvPr/>
        </p:nvSpPr>
        <p:spPr>
          <a:xfrm>
            <a:off x="619125" y="1485900"/>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6" name="Rectangle 5">
            <a:extLst>
              <a:ext uri="{FF2B5EF4-FFF2-40B4-BE49-F238E27FC236}">
                <a16:creationId xmlns:a16="http://schemas.microsoft.com/office/drawing/2014/main" id="{191A94D7-360A-4979-95C8-288CD68CD0B2}"/>
              </a:ext>
            </a:extLst>
          </p:cNvPr>
          <p:cNvSpPr>
            <a:spLocks noGrp="1"/>
          </p:cNvSpPr>
          <p:nvPr/>
        </p:nvSpPr>
        <p:spPr>
          <a:xfrm>
            <a:off x="1381125" y="152400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Open postgresql.org/download/windows and choose the EDB installer</a:t>
            </a:r>
          </a:p>
        </p:txBody>
      </p:sp>
      <p:sp>
        <p:nvSpPr>
          <p:cNvPr id="7" name="Rectangle 6">
            <a:extLst>
              <a:ext uri="{FF2B5EF4-FFF2-40B4-BE49-F238E27FC236}">
                <a16:creationId xmlns:a16="http://schemas.microsoft.com/office/drawing/2014/main" id="{AF2D03B4-DFC0-4C8A-A8DD-A116CAEAC47D}"/>
              </a:ext>
            </a:extLst>
          </p:cNvPr>
          <p:cNvSpPr>
            <a:spLocks noGrp="1"/>
          </p:cNvSpPr>
          <p:nvPr/>
        </p:nvSpPr>
        <p:spPr>
          <a:xfrm>
            <a:off x="685800" y="2286000"/>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2</a:t>
            </a:r>
          </a:p>
        </p:txBody>
      </p:sp>
      <p:sp>
        <p:nvSpPr>
          <p:cNvPr id="8" name="Rectangle: Rounded Corners 7">
            <a:extLst>
              <a:ext uri="{FF2B5EF4-FFF2-40B4-BE49-F238E27FC236}">
                <a16:creationId xmlns:a16="http://schemas.microsoft.com/office/drawing/2014/main" id="{7EA50BD0-0D23-490C-A7C6-C6CC8E2525E4}"/>
              </a:ext>
            </a:extLst>
          </p:cNvPr>
          <p:cNvSpPr>
            <a:spLocks noGrp="1"/>
          </p:cNvSpPr>
          <p:nvPr/>
        </p:nvSpPr>
        <p:spPr>
          <a:xfrm>
            <a:off x="619125" y="2200275"/>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9" name="Rectangle 8">
            <a:extLst>
              <a:ext uri="{FF2B5EF4-FFF2-40B4-BE49-F238E27FC236}">
                <a16:creationId xmlns:a16="http://schemas.microsoft.com/office/drawing/2014/main" id="{ED5D6E38-2AA0-4357-B3F4-FAFA35943B63}"/>
              </a:ext>
            </a:extLst>
          </p:cNvPr>
          <p:cNvSpPr>
            <a:spLocks noGrp="1"/>
          </p:cNvSpPr>
          <p:nvPr/>
        </p:nvSpPr>
        <p:spPr>
          <a:xfrm>
            <a:off x="1381125" y="2238375"/>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Run the installer; keep PostgreSQL Server, pgAdmin and command-line tools selected</a:t>
            </a:r>
          </a:p>
        </p:txBody>
      </p:sp>
      <p:sp>
        <p:nvSpPr>
          <p:cNvPr id="10" name="Rectangle 9">
            <a:extLst>
              <a:ext uri="{FF2B5EF4-FFF2-40B4-BE49-F238E27FC236}">
                <a16:creationId xmlns:a16="http://schemas.microsoft.com/office/drawing/2014/main" id="{29C2619F-9950-4A14-B300-FDD509B0D015}"/>
              </a:ext>
            </a:extLst>
          </p:cNvPr>
          <p:cNvSpPr>
            <a:spLocks noGrp="1"/>
          </p:cNvSpPr>
          <p:nvPr/>
        </p:nvSpPr>
        <p:spPr>
          <a:xfrm>
            <a:off x="685800" y="3000375"/>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3</a:t>
            </a:r>
          </a:p>
        </p:txBody>
      </p:sp>
      <p:sp>
        <p:nvSpPr>
          <p:cNvPr id="11" name="Rectangle: Rounded Corners 10">
            <a:extLst>
              <a:ext uri="{FF2B5EF4-FFF2-40B4-BE49-F238E27FC236}">
                <a16:creationId xmlns:a16="http://schemas.microsoft.com/office/drawing/2014/main" id="{452FC31E-9020-492F-B0ED-57B589475777}"/>
              </a:ext>
            </a:extLst>
          </p:cNvPr>
          <p:cNvSpPr>
            <a:spLocks noGrp="1"/>
          </p:cNvSpPr>
          <p:nvPr/>
        </p:nvSpPr>
        <p:spPr>
          <a:xfrm>
            <a:off x="619125" y="2914650"/>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12" name="Rectangle 11">
            <a:extLst>
              <a:ext uri="{FF2B5EF4-FFF2-40B4-BE49-F238E27FC236}">
                <a16:creationId xmlns:a16="http://schemas.microsoft.com/office/drawing/2014/main" id="{41CC0221-50A3-41E2-86F2-9A77AEA8279A}"/>
              </a:ext>
            </a:extLst>
          </p:cNvPr>
          <p:cNvSpPr>
            <a:spLocks noGrp="1"/>
          </p:cNvSpPr>
          <p:nvPr/>
        </p:nvSpPr>
        <p:spPr>
          <a:xfrm>
            <a:off x="1381125" y="295275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Keep the default port 5432 unless it is already used</a:t>
            </a:r>
          </a:p>
        </p:txBody>
      </p:sp>
      <p:sp>
        <p:nvSpPr>
          <p:cNvPr id="13" name="Rectangle 12">
            <a:extLst>
              <a:ext uri="{FF2B5EF4-FFF2-40B4-BE49-F238E27FC236}">
                <a16:creationId xmlns:a16="http://schemas.microsoft.com/office/drawing/2014/main" id="{026A5DFE-9AAD-4490-90F9-CA19DDD2292A}"/>
              </a:ext>
            </a:extLst>
          </p:cNvPr>
          <p:cNvSpPr>
            <a:spLocks noGrp="1"/>
          </p:cNvSpPr>
          <p:nvPr/>
        </p:nvSpPr>
        <p:spPr>
          <a:xfrm>
            <a:off x="685800" y="3714750"/>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4</a:t>
            </a:r>
          </a:p>
        </p:txBody>
      </p:sp>
      <p:sp>
        <p:nvSpPr>
          <p:cNvPr id="14" name="Rectangle: Rounded Corners 13">
            <a:extLst>
              <a:ext uri="{FF2B5EF4-FFF2-40B4-BE49-F238E27FC236}">
                <a16:creationId xmlns:a16="http://schemas.microsoft.com/office/drawing/2014/main" id="{D323C00C-EDD1-47E2-B5E5-692B10146424}"/>
              </a:ext>
            </a:extLst>
          </p:cNvPr>
          <p:cNvSpPr>
            <a:spLocks noGrp="1"/>
          </p:cNvSpPr>
          <p:nvPr/>
        </p:nvSpPr>
        <p:spPr>
          <a:xfrm>
            <a:off x="619125" y="3629025"/>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15" name="Rectangle 14">
            <a:extLst>
              <a:ext uri="{FF2B5EF4-FFF2-40B4-BE49-F238E27FC236}">
                <a16:creationId xmlns:a16="http://schemas.microsoft.com/office/drawing/2014/main" id="{8C324603-292C-4263-93C6-83C7F48B6574}"/>
              </a:ext>
            </a:extLst>
          </p:cNvPr>
          <p:cNvSpPr>
            <a:spLocks noGrp="1"/>
          </p:cNvSpPr>
          <p:nvPr/>
        </p:nvSpPr>
        <p:spPr>
          <a:xfrm>
            <a:off x="1381125" y="3667125"/>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Create and securely record the postgres superuser password</a:t>
            </a:r>
          </a:p>
        </p:txBody>
      </p:sp>
      <p:sp>
        <p:nvSpPr>
          <p:cNvPr id="16" name="Rectangle 15">
            <a:extLst>
              <a:ext uri="{FF2B5EF4-FFF2-40B4-BE49-F238E27FC236}">
                <a16:creationId xmlns:a16="http://schemas.microsoft.com/office/drawing/2014/main" id="{CE94A51C-E82A-4E09-864C-7C62DECFCB93}"/>
              </a:ext>
            </a:extLst>
          </p:cNvPr>
          <p:cNvSpPr>
            <a:spLocks noGrp="1"/>
          </p:cNvSpPr>
          <p:nvPr/>
        </p:nvSpPr>
        <p:spPr>
          <a:xfrm>
            <a:off x="685800" y="4429125"/>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5</a:t>
            </a:r>
          </a:p>
        </p:txBody>
      </p:sp>
      <p:sp>
        <p:nvSpPr>
          <p:cNvPr id="17" name="Rectangle: Rounded Corners 16">
            <a:extLst>
              <a:ext uri="{FF2B5EF4-FFF2-40B4-BE49-F238E27FC236}">
                <a16:creationId xmlns:a16="http://schemas.microsoft.com/office/drawing/2014/main" id="{BDE063EC-076B-4FD2-87BB-F5893A746DA6}"/>
              </a:ext>
            </a:extLst>
          </p:cNvPr>
          <p:cNvSpPr>
            <a:spLocks noGrp="1"/>
          </p:cNvSpPr>
          <p:nvPr/>
        </p:nvSpPr>
        <p:spPr>
          <a:xfrm>
            <a:off x="619125" y="4343400"/>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18" name="Rectangle 17">
            <a:extLst>
              <a:ext uri="{FF2B5EF4-FFF2-40B4-BE49-F238E27FC236}">
                <a16:creationId xmlns:a16="http://schemas.microsoft.com/office/drawing/2014/main" id="{66DD50AE-D879-4302-8C4F-68F5699348CD}"/>
              </a:ext>
            </a:extLst>
          </p:cNvPr>
          <p:cNvSpPr>
            <a:spLocks noGrp="1"/>
          </p:cNvSpPr>
          <p:nvPr/>
        </p:nvSpPr>
        <p:spPr>
          <a:xfrm>
            <a:off x="1381125" y="438150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Keep the default locale unless your organisation requires another setting</a:t>
            </a:r>
          </a:p>
        </p:txBody>
      </p:sp>
      <p:sp>
        <p:nvSpPr>
          <p:cNvPr id="19" name="Rectangle 18">
            <a:extLst>
              <a:ext uri="{FF2B5EF4-FFF2-40B4-BE49-F238E27FC236}">
                <a16:creationId xmlns:a16="http://schemas.microsoft.com/office/drawing/2014/main" id="{1F355AE8-C8F9-4975-BB9F-464A3B68E406}"/>
              </a:ext>
            </a:extLst>
          </p:cNvPr>
          <p:cNvSpPr>
            <a:spLocks noGrp="1"/>
          </p:cNvSpPr>
          <p:nvPr/>
        </p:nvSpPr>
        <p:spPr>
          <a:xfrm>
            <a:off x="685800" y="5143500"/>
            <a:ext cx="381000" cy="285750"/>
          </a:xfrm>
          <a:prstGeom prst="rect">
            <a:avLst/>
          </a:prstGeom>
          <a:noFill/>
          <a:ln w="0">
            <a:noFill/>
            <a:prstDash val="solid"/>
          </a:ln>
        </p:spPr>
        <p:txBody>
          <a:bodyPr/>
          <a:lstStyle/>
          <a:p>
            <a:pPr algn="ctr">
              <a:defRPr sz="1350" b="1">
                <a:solidFill>
                  <a:srgbClr val="FFFFFF"/>
                </a:solidFill>
              </a:defRPr>
            </a:pPr>
            <a:r>
              <a:rPr sz="1350" b="1">
                <a:solidFill>
                  <a:srgbClr val="FFFFFF"/>
                </a:solidFill>
              </a:rPr>
              <a:t>6</a:t>
            </a:r>
          </a:p>
        </p:txBody>
      </p:sp>
      <p:sp>
        <p:nvSpPr>
          <p:cNvPr id="20" name="Rectangle: Rounded Corners 19">
            <a:extLst>
              <a:ext uri="{FF2B5EF4-FFF2-40B4-BE49-F238E27FC236}">
                <a16:creationId xmlns:a16="http://schemas.microsoft.com/office/drawing/2014/main" id="{A3045C6C-B345-4FBF-A0B8-F8DB3E02E3BB}"/>
              </a:ext>
            </a:extLst>
          </p:cNvPr>
          <p:cNvSpPr>
            <a:spLocks noGrp="1"/>
          </p:cNvSpPr>
          <p:nvPr/>
        </p:nvSpPr>
        <p:spPr>
          <a:xfrm>
            <a:off x="619125" y="5057775"/>
            <a:ext cx="514350" cy="476250"/>
          </a:xfrm>
          <a:prstGeom prst="roundRect">
            <a:avLst>
              <a:gd name="adj" fmla="val 24000"/>
            </a:avLst>
          </a:prstGeom>
          <a:solidFill>
            <a:srgbClr val="1261A0"/>
          </a:solidFill>
          <a:ln w="9525">
            <a:solidFill>
              <a:srgbClr val="1261A0"/>
            </a:solidFill>
            <a:prstDash val="solid"/>
          </a:ln>
        </p:spPr>
        <p:txBody>
          <a:bodyPr/>
          <a:lstStyle/>
          <a:p>
            <a:endParaRPr lang="en-US"/>
          </a:p>
        </p:txBody>
      </p:sp>
      <p:sp>
        <p:nvSpPr>
          <p:cNvPr id="21" name="Rectangle 20">
            <a:extLst>
              <a:ext uri="{FF2B5EF4-FFF2-40B4-BE49-F238E27FC236}">
                <a16:creationId xmlns:a16="http://schemas.microsoft.com/office/drawing/2014/main" id="{2A21F41A-7B92-461F-8774-2A7818F51230}"/>
              </a:ext>
            </a:extLst>
          </p:cNvPr>
          <p:cNvSpPr>
            <a:spLocks noGrp="1"/>
          </p:cNvSpPr>
          <p:nvPr/>
        </p:nvSpPr>
        <p:spPr>
          <a:xfrm>
            <a:off x="1381125" y="5095875"/>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Finish installation; Stack Builder is optional for this unit</a:t>
            </a:r>
          </a:p>
        </p:txBody>
      </p:sp>
      <p:sp>
        <p:nvSpPr>
          <p:cNvPr id="22" name="Rectangle 21">
            <a:extLst>
              <a:ext uri="{FF2B5EF4-FFF2-40B4-BE49-F238E27FC236}">
                <a16:creationId xmlns:a16="http://schemas.microsoft.com/office/drawing/2014/main" id="{6B01E8EB-2F59-45FF-9C1E-A2DB6B86F49F}"/>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12</a:t>
            </a:r>
          </a:p>
        </p:txBody>
      </p:sp>
    </p:spTree>
    <p:extLst>
      <p:ext uri="{BB962C8B-B14F-4D97-AF65-F5344CB8AC3E}">
        <p14:creationId xmlns:p14="http://schemas.microsoft.com/office/powerpoint/2010/main" val="291211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234258-CAC7-466F-A3D3-56A8D805451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Then install DBeaver Community</a:t>
            </a:r>
          </a:p>
        </p:txBody>
      </p:sp>
      <p:sp>
        <p:nvSpPr>
          <p:cNvPr id="2" name="Rectangle 1">
            <a:extLst>
              <a:ext uri="{FF2B5EF4-FFF2-40B4-BE49-F238E27FC236}">
                <a16:creationId xmlns:a16="http://schemas.microsoft.com/office/drawing/2014/main" id="{4021B01E-87AC-4BBF-9D40-8738437656DE}"/>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A3B3225B-076A-4124-AC6A-AC4F62CD8B8E}"/>
              </a:ext>
            </a:extLst>
          </p:cNvPr>
          <p:cNvSpPr>
            <a:spLocks noGrp="1"/>
          </p:cNvSpPr>
          <p:nvPr/>
        </p:nvSpPr>
        <p:spPr>
          <a:xfrm>
            <a:off x="685800" y="1619250"/>
            <a:ext cx="5334000" cy="3381375"/>
          </a:xfrm>
          <a:prstGeom prst="rect">
            <a:avLst/>
          </a:prstGeom>
          <a:noFill/>
          <a:ln w="0">
            <a:noFill/>
            <a:prstDash val="solid"/>
          </a:ln>
        </p:spPr>
        <p:txBody>
          <a:bodyPr/>
          <a:lstStyle/>
          <a:p>
            <a:pPr algn="l">
              <a:defRPr sz="1575" b="0">
                <a:solidFill>
                  <a:srgbClr val="102A43"/>
                </a:solidFill>
              </a:defRPr>
            </a:pPr>
            <a:r>
              <a:rPr sz="1575" b="0">
                <a:solidFill>
                  <a:srgbClr val="102A43"/>
                </a:solidFill>
              </a:rPr>
              <a:t>• Go to dbeaver.io/download</a:t>
            </a:r>
          </a:p>
          <a:p>
            <a:pPr algn="l">
              <a:defRPr sz="1575" b="0">
                <a:solidFill>
                  <a:srgbClr val="102A43"/>
                </a:solidFill>
              </a:defRPr>
            </a:pPr>
            <a:r>
              <a:rPr sz="1575" b="0">
                <a:solidFill>
                  <a:srgbClr val="102A43"/>
                </a:solidFill>
              </a:rPr>
              <a:t>• Select Community Edition for your operating system</a:t>
            </a:r>
          </a:p>
          <a:p>
            <a:pPr algn="l">
              <a:defRPr sz="1575" b="0">
                <a:solidFill>
                  <a:srgbClr val="102A43"/>
                </a:solidFill>
              </a:defRPr>
            </a:pPr>
            <a:r>
              <a:rPr sz="1575" b="0">
                <a:solidFill>
                  <a:srgbClr val="102A43"/>
                </a:solidFill>
              </a:rPr>
              <a:t>• Windows: run the installer executable</a:t>
            </a:r>
          </a:p>
          <a:p>
            <a:pPr algn="l">
              <a:defRPr sz="1575" b="0">
                <a:solidFill>
                  <a:srgbClr val="102A43"/>
                </a:solidFill>
              </a:defRPr>
            </a:pPr>
            <a:r>
              <a:rPr sz="1575" b="0">
                <a:solidFill>
                  <a:srgbClr val="102A43"/>
                </a:solidFill>
              </a:rPr>
              <a:t>• macOS: open the DMG and drag DBeaver to Applications</a:t>
            </a:r>
          </a:p>
          <a:p>
            <a:pPr algn="l">
              <a:defRPr sz="1575" b="0">
                <a:solidFill>
                  <a:srgbClr val="102A43"/>
                </a:solidFill>
              </a:defRPr>
            </a:pPr>
            <a:r>
              <a:rPr sz="1575" b="0">
                <a:solidFill>
                  <a:srgbClr val="102A43"/>
                </a:solidFill>
              </a:rPr>
              <a:t>• Launch DBeaver; bundled OpenJDK means a separate Java install is normally unnecessary</a:t>
            </a:r>
          </a:p>
        </p:txBody>
      </p:sp>
      <p:sp>
        <p:nvSpPr>
          <p:cNvPr id="4" name="Rectangle: Rounded Corners 3">
            <a:extLst>
              <a:ext uri="{FF2B5EF4-FFF2-40B4-BE49-F238E27FC236}">
                <a16:creationId xmlns:a16="http://schemas.microsoft.com/office/drawing/2014/main" id="{CE94C725-5FCB-41CB-9E6C-B2144D0B88F7}"/>
              </a:ext>
            </a:extLst>
          </p:cNvPr>
          <p:cNvSpPr>
            <a:spLocks noGrp="1"/>
          </p:cNvSpPr>
          <p:nvPr/>
        </p:nvSpPr>
        <p:spPr>
          <a:xfrm>
            <a:off x="6667500" y="1619250"/>
            <a:ext cx="4191000" cy="3143250"/>
          </a:xfrm>
          <a:prstGeom prst="roundRect">
            <a:avLst>
              <a:gd name="adj" fmla="val 3636"/>
            </a:avLst>
          </a:prstGeom>
          <a:solidFill>
            <a:srgbClr val="EAF4F8"/>
          </a:solidFill>
          <a:ln w="9525">
            <a:solidFill>
              <a:srgbClr val="EAF4F8"/>
            </a:solidFill>
            <a:prstDash val="solid"/>
          </a:ln>
        </p:spPr>
        <p:txBody>
          <a:bodyPr/>
          <a:lstStyle/>
          <a:p>
            <a:endParaRPr lang="en-US"/>
          </a:p>
        </p:txBody>
      </p:sp>
      <p:sp>
        <p:nvSpPr>
          <p:cNvPr id="5" name="Rectangle 4">
            <a:extLst>
              <a:ext uri="{FF2B5EF4-FFF2-40B4-BE49-F238E27FC236}">
                <a16:creationId xmlns:a16="http://schemas.microsoft.com/office/drawing/2014/main" id="{961790CC-869C-4CD4-822C-F6CCD4CE4695}"/>
              </a:ext>
            </a:extLst>
          </p:cNvPr>
          <p:cNvSpPr>
            <a:spLocks noGrp="1"/>
          </p:cNvSpPr>
          <p:nvPr/>
        </p:nvSpPr>
        <p:spPr>
          <a:xfrm>
            <a:off x="7048500" y="1952625"/>
            <a:ext cx="3429000" cy="323850"/>
          </a:xfrm>
          <a:prstGeom prst="rect">
            <a:avLst/>
          </a:prstGeom>
          <a:noFill/>
          <a:ln w="0">
            <a:noFill/>
            <a:prstDash val="solid"/>
          </a:ln>
        </p:spPr>
        <p:txBody>
          <a:bodyPr/>
          <a:lstStyle/>
          <a:p>
            <a:pPr algn="l">
              <a:defRPr sz="1800" b="1">
                <a:solidFill>
                  <a:srgbClr val="1261A0"/>
                </a:solidFill>
              </a:defRPr>
            </a:pPr>
            <a:r>
              <a:rPr sz="1800" b="1">
                <a:solidFill>
                  <a:srgbClr val="1261A0"/>
                </a:solidFill>
              </a:rPr>
              <a:t>Connection settings</a:t>
            </a:r>
          </a:p>
        </p:txBody>
      </p:sp>
      <p:sp>
        <p:nvSpPr>
          <p:cNvPr id="6" name="Rectangle 5">
            <a:extLst>
              <a:ext uri="{FF2B5EF4-FFF2-40B4-BE49-F238E27FC236}">
                <a16:creationId xmlns:a16="http://schemas.microsoft.com/office/drawing/2014/main" id="{EBD2EED7-C9BA-41D8-B406-3F04046FB07F}"/>
              </a:ext>
            </a:extLst>
          </p:cNvPr>
          <p:cNvSpPr>
            <a:spLocks noGrp="1"/>
          </p:cNvSpPr>
          <p:nvPr/>
        </p:nvSpPr>
        <p:spPr>
          <a:xfrm>
            <a:off x="7048500" y="2571750"/>
            <a:ext cx="3238500" cy="1809750"/>
          </a:xfrm>
          <a:prstGeom prst="rect">
            <a:avLst/>
          </a:prstGeom>
          <a:noFill/>
          <a:ln w="0">
            <a:noFill/>
            <a:prstDash val="solid"/>
          </a:ln>
        </p:spPr>
        <p:txBody>
          <a:bodyPr/>
          <a:lstStyle/>
          <a:p>
            <a:pPr algn="l">
              <a:defRPr sz="1800" b="1">
                <a:solidFill>
                  <a:srgbClr val="102A43"/>
                </a:solidFill>
              </a:defRPr>
            </a:pPr>
            <a:r>
              <a:rPr sz="1800" b="1">
                <a:solidFill>
                  <a:srgbClr val="102A43"/>
                </a:solidFill>
              </a:rPr>
              <a:t>Host: localhost</a:t>
            </a:r>
          </a:p>
          <a:p>
            <a:pPr algn="l">
              <a:defRPr sz="1800" b="1">
                <a:solidFill>
                  <a:srgbClr val="102A43"/>
                </a:solidFill>
              </a:defRPr>
            </a:pPr>
            <a:r>
              <a:rPr sz="1800" b="1">
                <a:solidFill>
                  <a:srgbClr val="102A43"/>
                </a:solidFill>
              </a:rPr>
              <a:t>Port: 5432</a:t>
            </a:r>
          </a:p>
          <a:p>
            <a:pPr algn="l">
              <a:defRPr sz="1800" b="1">
                <a:solidFill>
                  <a:srgbClr val="102A43"/>
                </a:solidFill>
              </a:defRPr>
            </a:pPr>
            <a:r>
              <a:rPr sz="1800" b="1">
                <a:solidFill>
                  <a:srgbClr val="102A43"/>
                </a:solidFill>
              </a:rPr>
              <a:t>Database: postgres</a:t>
            </a:r>
          </a:p>
          <a:p>
            <a:pPr algn="l">
              <a:defRPr sz="1800" b="1">
                <a:solidFill>
                  <a:srgbClr val="102A43"/>
                </a:solidFill>
              </a:defRPr>
            </a:pPr>
            <a:r>
              <a:rPr sz="1800" b="1">
                <a:solidFill>
                  <a:srgbClr val="102A43"/>
                </a:solidFill>
              </a:rPr>
              <a:t>Username: postgres</a:t>
            </a:r>
          </a:p>
          <a:p>
            <a:pPr algn="l">
              <a:defRPr sz="1800" b="1">
                <a:solidFill>
                  <a:srgbClr val="102A43"/>
                </a:solidFill>
              </a:defRPr>
            </a:pPr>
            <a:r>
              <a:rPr sz="1800" b="1">
                <a:solidFill>
                  <a:srgbClr val="102A43"/>
                </a:solidFill>
              </a:rPr>
              <a:t>Password: the password you created</a:t>
            </a:r>
          </a:p>
        </p:txBody>
      </p:sp>
      <p:sp>
        <p:nvSpPr>
          <p:cNvPr id="7" name="Rectangle 6">
            <a:extLst>
              <a:ext uri="{FF2B5EF4-FFF2-40B4-BE49-F238E27FC236}">
                <a16:creationId xmlns:a16="http://schemas.microsoft.com/office/drawing/2014/main" id="{CCC5C0B8-7DAD-47B2-B1C5-166212E58112}"/>
              </a:ext>
            </a:extLst>
          </p:cNvPr>
          <p:cNvSpPr>
            <a:spLocks noGrp="1"/>
          </p:cNvSpPr>
          <p:nvPr/>
        </p:nvSpPr>
        <p:spPr>
          <a:xfrm>
            <a:off x="7048500" y="4714875"/>
            <a:ext cx="3333750" cy="333375"/>
          </a:xfrm>
          <a:prstGeom prst="rect">
            <a:avLst/>
          </a:prstGeom>
          <a:noFill/>
          <a:ln w="0">
            <a:noFill/>
            <a:prstDash val="solid"/>
          </a:ln>
        </p:spPr>
        <p:txBody>
          <a:bodyPr/>
          <a:lstStyle/>
          <a:p>
            <a:pPr algn="l">
              <a:defRPr sz="1500" b="1">
                <a:solidFill>
                  <a:srgbClr val="17845C"/>
                </a:solidFill>
              </a:defRPr>
            </a:pPr>
            <a:r>
              <a:rPr sz="1500" b="1">
                <a:solidFill>
                  <a:srgbClr val="17845C"/>
                </a:solidFill>
              </a:rPr>
              <a:t>Click Test Connection → Finish</a:t>
            </a:r>
          </a:p>
        </p:txBody>
      </p:sp>
      <p:sp>
        <p:nvSpPr>
          <p:cNvPr id="8" name="Rectangle 7">
            <a:extLst>
              <a:ext uri="{FF2B5EF4-FFF2-40B4-BE49-F238E27FC236}">
                <a16:creationId xmlns:a16="http://schemas.microsoft.com/office/drawing/2014/main" id="{402A3CC0-025A-4982-A733-5A8D0BD917BF}"/>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13</a:t>
            </a:r>
          </a:p>
        </p:txBody>
      </p:sp>
    </p:spTree>
    <p:extLst>
      <p:ext uri="{BB962C8B-B14F-4D97-AF65-F5344CB8AC3E}">
        <p14:creationId xmlns:p14="http://schemas.microsoft.com/office/powerpoint/2010/main" val="17393242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E289D53-1952-414D-B992-FC4F1FADD4B4}"/>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Verify the setup before leaving class</a:t>
            </a:r>
          </a:p>
        </p:txBody>
      </p:sp>
      <p:sp>
        <p:nvSpPr>
          <p:cNvPr id="2" name="Rectangle 1">
            <a:extLst>
              <a:ext uri="{FF2B5EF4-FFF2-40B4-BE49-F238E27FC236}">
                <a16:creationId xmlns:a16="http://schemas.microsoft.com/office/drawing/2014/main" id="{3A23FD8D-A27F-4806-9A20-C989C1F8DF02}"/>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5D11C830-75D4-4601-A837-41FFF7E6D567}"/>
              </a:ext>
            </a:extLst>
          </p:cNvPr>
          <p:cNvSpPr>
            <a:spLocks noGrp="1"/>
          </p:cNvSpPr>
          <p:nvPr/>
        </p:nvSpPr>
        <p:spPr>
          <a:xfrm>
            <a:off x="704850" y="1571625"/>
            <a:ext cx="381000" cy="285750"/>
          </a:xfrm>
          <a:prstGeom prst="rect">
            <a:avLst/>
          </a:prstGeom>
          <a:noFill/>
          <a:ln w="0">
            <a:noFill/>
            <a:prstDash val="solid"/>
          </a:ln>
        </p:spPr>
        <p:txBody>
          <a:bodyPr/>
          <a:lstStyle/>
          <a:p>
            <a:pPr algn="l">
              <a:defRPr sz="1650" b="1">
                <a:solidFill>
                  <a:srgbClr val="17845C"/>
                </a:solidFill>
              </a:defRPr>
            </a:pPr>
            <a:r>
              <a:rPr sz="1650" b="1">
                <a:solidFill>
                  <a:srgbClr val="17845C"/>
                </a:solidFill>
              </a:rPr>
              <a:t>✓</a:t>
            </a:r>
          </a:p>
        </p:txBody>
      </p:sp>
      <p:sp>
        <p:nvSpPr>
          <p:cNvPr id="4" name="Rectangle 3">
            <a:extLst>
              <a:ext uri="{FF2B5EF4-FFF2-40B4-BE49-F238E27FC236}">
                <a16:creationId xmlns:a16="http://schemas.microsoft.com/office/drawing/2014/main" id="{45994825-8A65-436F-83CC-EFBFA2ED1738}"/>
              </a:ext>
            </a:extLst>
          </p:cNvPr>
          <p:cNvSpPr>
            <a:spLocks noGrp="1"/>
          </p:cNvSpPr>
          <p:nvPr/>
        </p:nvSpPr>
        <p:spPr>
          <a:xfrm>
            <a:off x="1285875" y="1571625"/>
            <a:ext cx="24765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PostgreSQL service</a:t>
            </a:r>
          </a:p>
        </p:txBody>
      </p:sp>
      <p:sp>
        <p:nvSpPr>
          <p:cNvPr id="5" name="Rectangle 4">
            <a:extLst>
              <a:ext uri="{FF2B5EF4-FFF2-40B4-BE49-F238E27FC236}">
                <a16:creationId xmlns:a16="http://schemas.microsoft.com/office/drawing/2014/main" id="{2D94B199-9671-4E1A-A8E2-7B4530F62072}"/>
              </a:ext>
            </a:extLst>
          </p:cNvPr>
          <p:cNvSpPr>
            <a:spLocks noGrp="1"/>
          </p:cNvSpPr>
          <p:nvPr/>
        </p:nvSpPr>
        <p:spPr>
          <a:xfrm>
            <a:off x="4048125" y="1571625"/>
            <a:ext cx="6858000" cy="323850"/>
          </a:xfrm>
          <a:prstGeom prst="rect">
            <a:avLst/>
          </a:prstGeom>
          <a:noFill/>
          <a:ln w="0">
            <a:noFill/>
            <a:prstDash val="solid"/>
          </a:ln>
        </p:spPr>
        <p:txBody>
          <a:bodyPr/>
          <a:lstStyle/>
          <a:p>
            <a:pPr algn="l">
              <a:defRPr sz="1500" b="0">
                <a:solidFill>
                  <a:srgbClr val="526777"/>
                </a:solidFill>
              </a:defRPr>
            </a:pPr>
            <a:r>
              <a:rPr sz="1500" b="0">
                <a:solidFill>
                  <a:srgbClr val="526777"/>
                </a:solidFill>
              </a:rPr>
              <a:t>Server starts without error</a:t>
            </a:r>
          </a:p>
        </p:txBody>
      </p:sp>
      <p:sp>
        <p:nvSpPr>
          <p:cNvPr id="6" name="Rectangle 5">
            <a:extLst>
              <a:ext uri="{FF2B5EF4-FFF2-40B4-BE49-F238E27FC236}">
                <a16:creationId xmlns:a16="http://schemas.microsoft.com/office/drawing/2014/main" id="{6A101CF3-AF34-4AAC-9340-5558BB232230}"/>
              </a:ext>
            </a:extLst>
          </p:cNvPr>
          <p:cNvSpPr>
            <a:spLocks noGrp="1"/>
          </p:cNvSpPr>
          <p:nvPr/>
        </p:nvSpPr>
        <p:spPr>
          <a:xfrm>
            <a:off x="704850" y="2438400"/>
            <a:ext cx="381000" cy="285750"/>
          </a:xfrm>
          <a:prstGeom prst="rect">
            <a:avLst/>
          </a:prstGeom>
          <a:noFill/>
          <a:ln w="0">
            <a:noFill/>
            <a:prstDash val="solid"/>
          </a:ln>
        </p:spPr>
        <p:txBody>
          <a:bodyPr/>
          <a:lstStyle/>
          <a:p>
            <a:pPr algn="l">
              <a:defRPr sz="1650" b="1">
                <a:solidFill>
                  <a:srgbClr val="17845C"/>
                </a:solidFill>
              </a:defRPr>
            </a:pPr>
            <a:r>
              <a:rPr sz="1650" b="1">
                <a:solidFill>
                  <a:srgbClr val="17845C"/>
                </a:solidFill>
              </a:rPr>
              <a:t>✓</a:t>
            </a:r>
          </a:p>
        </p:txBody>
      </p:sp>
      <p:sp>
        <p:nvSpPr>
          <p:cNvPr id="7" name="Rectangle 6">
            <a:extLst>
              <a:ext uri="{FF2B5EF4-FFF2-40B4-BE49-F238E27FC236}">
                <a16:creationId xmlns:a16="http://schemas.microsoft.com/office/drawing/2014/main" id="{125BA9C8-0B21-46F0-8D53-56E337E0FBA5}"/>
              </a:ext>
            </a:extLst>
          </p:cNvPr>
          <p:cNvSpPr>
            <a:spLocks noGrp="1"/>
          </p:cNvSpPr>
          <p:nvPr/>
        </p:nvSpPr>
        <p:spPr>
          <a:xfrm>
            <a:off x="1285875" y="2438400"/>
            <a:ext cx="24765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DBeaver connection</a:t>
            </a:r>
          </a:p>
        </p:txBody>
      </p:sp>
      <p:sp>
        <p:nvSpPr>
          <p:cNvPr id="8" name="Rectangle 7">
            <a:extLst>
              <a:ext uri="{FF2B5EF4-FFF2-40B4-BE49-F238E27FC236}">
                <a16:creationId xmlns:a16="http://schemas.microsoft.com/office/drawing/2014/main" id="{67B8CAE6-BF69-4FC8-8328-D8DE642B34CC}"/>
              </a:ext>
            </a:extLst>
          </p:cNvPr>
          <p:cNvSpPr>
            <a:spLocks noGrp="1"/>
          </p:cNvSpPr>
          <p:nvPr/>
        </p:nvSpPr>
        <p:spPr>
          <a:xfrm>
            <a:off x="4048125" y="2438400"/>
            <a:ext cx="6858000" cy="323850"/>
          </a:xfrm>
          <a:prstGeom prst="rect">
            <a:avLst/>
          </a:prstGeom>
          <a:noFill/>
          <a:ln w="0">
            <a:noFill/>
            <a:prstDash val="solid"/>
          </a:ln>
        </p:spPr>
        <p:txBody>
          <a:bodyPr/>
          <a:lstStyle/>
          <a:p>
            <a:pPr algn="l">
              <a:defRPr sz="1500" b="0">
                <a:solidFill>
                  <a:srgbClr val="526777"/>
                </a:solidFill>
              </a:defRPr>
            </a:pPr>
            <a:r>
              <a:rPr sz="1500" b="0">
                <a:solidFill>
                  <a:srgbClr val="526777"/>
                </a:solidFill>
              </a:rPr>
              <a:t>Test Connection reports success</a:t>
            </a:r>
          </a:p>
        </p:txBody>
      </p:sp>
      <p:sp>
        <p:nvSpPr>
          <p:cNvPr id="9" name="Rectangle 8">
            <a:extLst>
              <a:ext uri="{FF2B5EF4-FFF2-40B4-BE49-F238E27FC236}">
                <a16:creationId xmlns:a16="http://schemas.microsoft.com/office/drawing/2014/main" id="{BAF8B35E-68B6-4D3E-B1F1-4FA4611BDF83}"/>
              </a:ext>
            </a:extLst>
          </p:cNvPr>
          <p:cNvSpPr>
            <a:spLocks noGrp="1"/>
          </p:cNvSpPr>
          <p:nvPr/>
        </p:nvSpPr>
        <p:spPr>
          <a:xfrm>
            <a:off x="704850" y="3305175"/>
            <a:ext cx="381000" cy="285750"/>
          </a:xfrm>
          <a:prstGeom prst="rect">
            <a:avLst/>
          </a:prstGeom>
          <a:noFill/>
          <a:ln w="0">
            <a:noFill/>
            <a:prstDash val="solid"/>
          </a:ln>
        </p:spPr>
        <p:txBody>
          <a:bodyPr/>
          <a:lstStyle/>
          <a:p>
            <a:pPr algn="l">
              <a:defRPr sz="1650" b="1">
                <a:solidFill>
                  <a:srgbClr val="17845C"/>
                </a:solidFill>
              </a:defRPr>
            </a:pPr>
            <a:r>
              <a:rPr sz="1650" b="1">
                <a:solidFill>
                  <a:srgbClr val="17845C"/>
                </a:solidFill>
              </a:rPr>
              <a:t>✓</a:t>
            </a:r>
          </a:p>
        </p:txBody>
      </p:sp>
      <p:sp>
        <p:nvSpPr>
          <p:cNvPr id="10" name="Rectangle 9">
            <a:extLst>
              <a:ext uri="{FF2B5EF4-FFF2-40B4-BE49-F238E27FC236}">
                <a16:creationId xmlns:a16="http://schemas.microsoft.com/office/drawing/2014/main" id="{813164F0-6014-4DD2-AF89-89D1D32902D8}"/>
              </a:ext>
            </a:extLst>
          </p:cNvPr>
          <p:cNvSpPr>
            <a:spLocks noGrp="1"/>
          </p:cNvSpPr>
          <p:nvPr/>
        </p:nvSpPr>
        <p:spPr>
          <a:xfrm>
            <a:off x="1285875" y="3305175"/>
            <a:ext cx="24765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SQL editor</a:t>
            </a:r>
          </a:p>
        </p:txBody>
      </p:sp>
      <p:sp>
        <p:nvSpPr>
          <p:cNvPr id="11" name="Rectangle 10">
            <a:extLst>
              <a:ext uri="{FF2B5EF4-FFF2-40B4-BE49-F238E27FC236}">
                <a16:creationId xmlns:a16="http://schemas.microsoft.com/office/drawing/2014/main" id="{E4D0AEB7-44A1-4499-A5F0-DDA123EB7D02}"/>
              </a:ext>
            </a:extLst>
          </p:cNvPr>
          <p:cNvSpPr>
            <a:spLocks noGrp="1"/>
          </p:cNvSpPr>
          <p:nvPr/>
        </p:nvSpPr>
        <p:spPr>
          <a:xfrm>
            <a:off x="4048125" y="3305175"/>
            <a:ext cx="6858000" cy="323850"/>
          </a:xfrm>
          <a:prstGeom prst="rect">
            <a:avLst/>
          </a:prstGeom>
          <a:noFill/>
          <a:ln w="0">
            <a:noFill/>
            <a:prstDash val="solid"/>
          </a:ln>
        </p:spPr>
        <p:txBody>
          <a:bodyPr/>
          <a:lstStyle/>
          <a:p>
            <a:pPr algn="l">
              <a:defRPr sz="1500" b="0">
                <a:solidFill>
                  <a:srgbClr val="526777"/>
                </a:solidFill>
              </a:defRPr>
            </a:pPr>
            <a:r>
              <a:rPr sz="1500" b="0">
                <a:solidFill>
                  <a:srgbClr val="526777"/>
                </a:solidFill>
              </a:rPr>
              <a:t>SELECT version(); executes</a:t>
            </a:r>
          </a:p>
        </p:txBody>
      </p:sp>
      <p:sp>
        <p:nvSpPr>
          <p:cNvPr id="12" name="Rectangle 11">
            <a:extLst>
              <a:ext uri="{FF2B5EF4-FFF2-40B4-BE49-F238E27FC236}">
                <a16:creationId xmlns:a16="http://schemas.microsoft.com/office/drawing/2014/main" id="{6D5A4967-A658-4353-A478-3B4435D51ABE}"/>
              </a:ext>
            </a:extLst>
          </p:cNvPr>
          <p:cNvSpPr>
            <a:spLocks noGrp="1"/>
          </p:cNvSpPr>
          <p:nvPr/>
        </p:nvSpPr>
        <p:spPr>
          <a:xfrm>
            <a:off x="704850" y="4171950"/>
            <a:ext cx="381000" cy="285750"/>
          </a:xfrm>
          <a:prstGeom prst="rect">
            <a:avLst/>
          </a:prstGeom>
          <a:noFill/>
          <a:ln w="0">
            <a:noFill/>
            <a:prstDash val="solid"/>
          </a:ln>
        </p:spPr>
        <p:txBody>
          <a:bodyPr/>
          <a:lstStyle/>
          <a:p>
            <a:pPr algn="l">
              <a:defRPr sz="1650" b="1">
                <a:solidFill>
                  <a:srgbClr val="17845C"/>
                </a:solidFill>
              </a:defRPr>
            </a:pPr>
            <a:r>
              <a:rPr sz="1650" b="1">
                <a:solidFill>
                  <a:srgbClr val="17845C"/>
                </a:solidFill>
              </a:rPr>
              <a:t>✓</a:t>
            </a:r>
          </a:p>
        </p:txBody>
      </p:sp>
      <p:sp>
        <p:nvSpPr>
          <p:cNvPr id="13" name="Rectangle 12">
            <a:extLst>
              <a:ext uri="{FF2B5EF4-FFF2-40B4-BE49-F238E27FC236}">
                <a16:creationId xmlns:a16="http://schemas.microsoft.com/office/drawing/2014/main" id="{088173F0-450F-45CB-A71F-B20FB7721658}"/>
              </a:ext>
            </a:extLst>
          </p:cNvPr>
          <p:cNvSpPr>
            <a:spLocks noGrp="1"/>
          </p:cNvSpPr>
          <p:nvPr/>
        </p:nvSpPr>
        <p:spPr>
          <a:xfrm>
            <a:off x="1285875" y="4171950"/>
            <a:ext cx="24765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Permissions</a:t>
            </a:r>
          </a:p>
        </p:txBody>
      </p:sp>
      <p:sp>
        <p:nvSpPr>
          <p:cNvPr id="14" name="Rectangle 13">
            <a:extLst>
              <a:ext uri="{FF2B5EF4-FFF2-40B4-BE49-F238E27FC236}">
                <a16:creationId xmlns:a16="http://schemas.microsoft.com/office/drawing/2014/main" id="{E7EA7AFB-EBF6-4D87-A61E-51EEDCE6185E}"/>
              </a:ext>
            </a:extLst>
          </p:cNvPr>
          <p:cNvSpPr>
            <a:spLocks noGrp="1"/>
          </p:cNvSpPr>
          <p:nvPr/>
        </p:nvSpPr>
        <p:spPr>
          <a:xfrm>
            <a:off x="4048125" y="4171950"/>
            <a:ext cx="6858000" cy="323850"/>
          </a:xfrm>
          <a:prstGeom prst="rect">
            <a:avLst/>
          </a:prstGeom>
          <a:noFill/>
          <a:ln w="0">
            <a:noFill/>
            <a:prstDash val="solid"/>
          </a:ln>
        </p:spPr>
        <p:txBody>
          <a:bodyPr/>
          <a:lstStyle/>
          <a:p>
            <a:pPr algn="l">
              <a:defRPr sz="1500" b="0">
                <a:solidFill>
                  <a:srgbClr val="526777"/>
                </a:solidFill>
              </a:defRPr>
            </a:pPr>
            <a:r>
              <a:rPr sz="1500" b="0">
                <a:solidFill>
                  <a:srgbClr val="526777"/>
                </a:solidFill>
              </a:rPr>
              <a:t>You can create and drop a practice database</a:t>
            </a:r>
          </a:p>
        </p:txBody>
      </p:sp>
      <p:sp>
        <p:nvSpPr>
          <p:cNvPr id="15" name="Rectangle 14">
            <a:extLst>
              <a:ext uri="{FF2B5EF4-FFF2-40B4-BE49-F238E27FC236}">
                <a16:creationId xmlns:a16="http://schemas.microsoft.com/office/drawing/2014/main" id="{0ABD1186-5EB4-4315-BB40-CD882930191C}"/>
              </a:ext>
            </a:extLst>
          </p:cNvPr>
          <p:cNvSpPr>
            <a:spLocks noGrp="1"/>
          </p:cNvSpPr>
          <p:nvPr/>
        </p:nvSpPr>
        <p:spPr>
          <a:xfrm>
            <a:off x="704850" y="5038725"/>
            <a:ext cx="381000" cy="285750"/>
          </a:xfrm>
          <a:prstGeom prst="rect">
            <a:avLst/>
          </a:prstGeom>
          <a:noFill/>
          <a:ln w="0">
            <a:noFill/>
            <a:prstDash val="solid"/>
          </a:ln>
        </p:spPr>
        <p:txBody>
          <a:bodyPr/>
          <a:lstStyle/>
          <a:p>
            <a:pPr algn="l">
              <a:defRPr sz="1650" b="1">
                <a:solidFill>
                  <a:srgbClr val="17845C"/>
                </a:solidFill>
              </a:defRPr>
            </a:pPr>
            <a:r>
              <a:rPr sz="1650" b="1">
                <a:solidFill>
                  <a:srgbClr val="17845C"/>
                </a:solidFill>
              </a:rPr>
              <a:t>✓</a:t>
            </a:r>
          </a:p>
        </p:txBody>
      </p:sp>
      <p:sp>
        <p:nvSpPr>
          <p:cNvPr id="16" name="Rectangle 15">
            <a:extLst>
              <a:ext uri="{FF2B5EF4-FFF2-40B4-BE49-F238E27FC236}">
                <a16:creationId xmlns:a16="http://schemas.microsoft.com/office/drawing/2014/main" id="{1FD9A719-6339-43A9-BCDF-053F59632842}"/>
              </a:ext>
            </a:extLst>
          </p:cNvPr>
          <p:cNvSpPr>
            <a:spLocks noGrp="1"/>
          </p:cNvSpPr>
          <p:nvPr/>
        </p:nvSpPr>
        <p:spPr>
          <a:xfrm>
            <a:off x="1285875" y="5038725"/>
            <a:ext cx="24765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Evidence</a:t>
            </a:r>
          </a:p>
        </p:txBody>
      </p:sp>
      <p:sp>
        <p:nvSpPr>
          <p:cNvPr id="17" name="Rectangle 16">
            <a:extLst>
              <a:ext uri="{FF2B5EF4-FFF2-40B4-BE49-F238E27FC236}">
                <a16:creationId xmlns:a16="http://schemas.microsoft.com/office/drawing/2014/main" id="{A54645CF-851A-439F-8A81-D89B031016CA}"/>
              </a:ext>
            </a:extLst>
          </p:cNvPr>
          <p:cNvSpPr>
            <a:spLocks noGrp="1"/>
          </p:cNvSpPr>
          <p:nvPr/>
        </p:nvSpPr>
        <p:spPr>
          <a:xfrm>
            <a:off x="4048125" y="5038725"/>
            <a:ext cx="6858000" cy="323850"/>
          </a:xfrm>
          <a:prstGeom prst="rect">
            <a:avLst/>
          </a:prstGeom>
          <a:noFill/>
          <a:ln w="0">
            <a:noFill/>
            <a:prstDash val="solid"/>
          </a:ln>
        </p:spPr>
        <p:txBody>
          <a:bodyPr/>
          <a:lstStyle/>
          <a:p>
            <a:pPr algn="l">
              <a:defRPr sz="1500" b="0">
                <a:solidFill>
                  <a:srgbClr val="526777"/>
                </a:solidFill>
              </a:defRPr>
            </a:pPr>
            <a:r>
              <a:rPr sz="1500" b="0">
                <a:solidFill>
                  <a:srgbClr val="526777"/>
                </a:solidFill>
              </a:rPr>
              <a:t>Save one screenshot of the successful query</a:t>
            </a:r>
          </a:p>
        </p:txBody>
      </p:sp>
      <p:sp>
        <p:nvSpPr>
          <p:cNvPr id="18" name="Rectangle 17">
            <a:extLst>
              <a:ext uri="{FF2B5EF4-FFF2-40B4-BE49-F238E27FC236}">
                <a16:creationId xmlns:a16="http://schemas.microsoft.com/office/drawing/2014/main" id="{FB486284-A011-47B4-8FAC-F762AFA53712}"/>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14</a:t>
            </a:r>
          </a:p>
        </p:txBody>
      </p:sp>
    </p:spTree>
    <p:extLst>
      <p:ext uri="{BB962C8B-B14F-4D97-AF65-F5344CB8AC3E}">
        <p14:creationId xmlns:p14="http://schemas.microsoft.com/office/powerpoint/2010/main" val="1076292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EB90713-EA7E-4601-81FB-BAF9E3CF6158}"/>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First practical example: a small enrolment database</a:t>
            </a:r>
          </a:p>
        </p:txBody>
      </p:sp>
      <p:sp>
        <p:nvSpPr>
          <p:cNvPr id="2" name="Rectangle 1">
            <a:extLst>
              <a:ext uri="{FF2B5EF4-FFF2-40B4-BE49-F238E27FC236}">
                <a16:creationId xmlns:a16="http://schemas.microsoft.com/office/drawing/2014/main" id="{64B740AE-1163-42C0-ACB9-648FF8B207EB}"/>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93367080-0A6C-4FC4-B9D7-366535CB270A}"/>
              </a:ext>
            </a:extLst>
          </p:cNvPr>
          <p:cNvSpPr>
            <a:spLocks noGrp="1"/>
          </p:cNvSpPr>
          <p:nvPr/>
        </p:nvSpPr>
        <p:spPr>
          <a:xfrm>
            <a:off x="685800" y="1619250"/>
            <a:ext cx="3048000" cy="323850"/>
          </a:xfrm>
          <a:prstGeom prst="rect">
            <a:avLst/>
          </a:prstGeom>
          <a:noFill/>
          <a:ln w="0">
            <a:noFill/>
            <a:prstDash val="solid"/>
          </a:ln>
        </p:spPr>
        <p:txBody>
          <a:bodyPr/>
          <a:lstStyle/>
          <a:p>
            <a:pPr algn="l">
              <a:defRPr sz="1800" b="1">
                <a:solidFill>
                  <a:srgbClr val="1261A0"/>
                </a:solidFill>
              </a:defRPr>
            </a:pPr>
            <a:r>
              <a:rPr sz="1800" b="1">
                <a:solidFill>
                  <a:srgbClr val="1261A0"/>
                </a:solidFill>
              </a:rPr>
              <a:t>Business rules</a:t>
            </a:r>
          </a:p>
        </p:txBody>
      </p:sp>
      <p:sp>
        <p:nvSpPr>
          <p:cNvPr id="4" name="Rectangle 3">
            <a:extLst>
              <a:ext uri="{FF2B5EF4-FFF2-40B4-BE49-F238E27FC236}">
                <a16:creationId xmlns:a16="http://schemas.microsoft.com/office/drawing/2014/main" id="{5B89DF9D-48BD-4713-8EBC-65325BB8CF17}"/>
              </a:ext>
            </a:extLst>
          </p:cNvPr>
          <p:cNvSpPr>
            <a:spLocks noGrp="1"/>
          </p:cNvSpPr>
          <p:nvPr/>
        </p:nvSpPr>
        <p:spPr>
          <a:xfrm>
            <a:off x="685800" y="2143125"/>
            <a:ext cx="4381500" cy="2714625"/>
          </a:xfrm>
          <a:prstGeom prst="rect">
            <a:avLst/>
          </a:prstGeom>
          <a:noFill/>
          <a:ln w="0">
            <a:noFill/>
            <a:prstDash val="solid"/>
          </a:ln>
        </p:spPr>
        <p:txBody>
          <a:bodyPr/>
          <a:lstStyle/>
          <a:p>
            <a:pPr algn="l">
              <a:defRPr sz="1575" b="0">
                <a:solidFill>
                  <a:srgbClr val="102A43"/>
                </a:solidFill>
              </a:defRPr>
            </a:pPr>
            <a:r>
              <a:rPr sz="1575" b="0">
                <a:solidFill>
                  <a:srgbClr val="102A43"/>
                </a:solidFill>
              </a:rPr>
              <a:t>• Each student has a unique ID</a:t>
            </a:r>
          </a:p>
          <a:p>
            <a:pPr algn="l">
              <a:defRPr sz="1575" b="0">
                <a:solidFill>
                  <a:srgbClr val="102A43"/>
                </a:solidFill>
              </a:defRPr>
            </a:pPr>
            <a:r>
              <a:rPr sz="1575" b="0">
                <a:solidFill>
                  <a:srgbClr val="102A43"/>
                </a:solidFill>
              </a:rPr>
              <a:t>• Each unit has a unique code</a:t>
            </a:r>
          </a:p>
          <a:p>
            <a:pPr algn="l">
              <a:defRPr sz="1575" b="0">
                <a:solidFill>
                  <a:srgbClr val="102A43"/>
                </a:solidFill>
              </a:defRPr>
            </a:pPr>
            <a:r>
              <a:rPr sz="1575" b="0">
                <a:solidFill>
                  <a:srgbClr val="102A43"/>
                </a:solidFill>
              </a:rPr>
              <a:t>• A student may enrol in many units</a:t>
            </a:r>
          </a:p>
          <a:p>
            <a:pPr algn="l">
              <a:defRPr sz="1575" b="0">
                <a:solidFill>
                  <a:srgbClr val="102A43"/>
                </a:solidFill>
              </a:defRPr>
            </a:pPr>
            <a:r>
              <a:rPr sz="1575" b="0">
                <a:solidFill>
                  <a:srgbClr val="102A43"/>
                </a:solidFill>
              </a:rPr>
              <a:t>• A unit may have many students</a:t>
            </a:r>
          </a:p>
          <a:p>
            <a:pPr algn="l">
              <a:defRPr sz="1575" b="0">
                <a:solidFill>
                  <a:srgbClr val="102A43"/>
                </a:solidFill>
              </a:defRPr>
            </a:pPr>
            <a:r>
              <a:rPr sz="1575" b="0">
                <a:solidFill>
                  <a:srgbClr val="102A43"/>
                </a:solidFill>
              </a:rPr>
              <a:t>• An enrolment stores semester and result</a:t>
            </a:r>
          </a:p>
        </p:txBody>
      </p:sp>
      <p:sp>
        <p:nvSpPr>
          <p:cNvPr id="5" name="Rectangle 4">
            <a:extLst>
              <a:ext uri="{FF2B5EF4-FFF2-40B4-BE49-F238E27FC236}">
                <a16:creationId xmlns:a16="http://schemas.microsoft.com/office/drawing/2014/main" id="{01F56DEE-9D5C-4354-A387-A42E04E07396}"/>
              </a:ext>
            </a:extLst>
          </p:cNvPr>
          <p:cNvSpPr>
            <a:spLocks noGrp="1"/>
          </p:cNvSpPr>
          <p:nvPr/>
        </p:nvSpPr>
        <p:spPr>
          <a:xfrm>
            <a:off x="6191250" y="1619250"/>
            <a:ext cx="4095750" cy="323850"/>
          </a:xfrm>
          <a:prstGeom prst="rect">
            <a:avLst/>
          </a:prstGeom>
          <a:noFill/>
          <a:ln w="0">
            <a:noFill/>
            <a:prstDash val="solid"/>
          </a:ln>
        </p:spPr>
        <p:txBody>
          <a:bodyPr/>
          <a:lstStyle/>
          <a:p>
            <a:pPr algn="l">
              <a:defRPr sz="1800" b="1">
                <a:solidFill>
                  <a:srgbClr val="18A6B8"/>
                </a:solidFill>
              </a:defRPr>
            </a:pPr>
            <a:r>
              <a:rPr sz="1800" b="1">
                <a:solidFill>
                  <a:srgbClr val="18A6B8"/>
                </a:solidFill>
              </a:rPr>
              <a:t>Why three tables?</a:t>
            </a:r>
          </a:p>
        </p:txBody>
      </p:sp>
      <p:sp>
        <p:nvSpPr>
          <p:cNvPr id="6" name="Rectangle: Rounded Corners 5">
            <a:extLst>
              <a:ext uri="{FF2B5EF4-FFF2-40B4-BE49-F238E27FC236}">
                <a16:creationId xmlns:a16="http://schemas.microsoft.com/office/drawing/2014/main" id="{0C8AD810-FA4F-443B-A440-F1C477C57596}"/>
              </a:ext>
            </a:extLst>
          </p:cNvPr>
          <p:cNvSpPr>
            <a:spLocks noGrp="1"/>
          </p:cNvSpPr>
          <p:nvPr/>
        </p:nvSpPr>
        <p:spPr>
          <a:xfrm>
            <a:off x="6096000" y="2143125"/>
            <a:ext cx="4572000" cy="2476500"/>
          </a:xfrm>
          <a:prstGeom prst="roundRect">
            <a:avLst>
              <a:gd name="adj" fmla="val 4615"/>
            </a:avLst>
          </a:prstGeom>
          <a:solidFill>
            <a:srgbClr val="EAF4F8"/>
          </a:solidFill>
          <a:ln w="9525">
            <a:solidFill>
              <a:srgbClr val="EAF4F8"/>
            </a:solidFill>
            <a:prstDash val="solid"/>
          </a:ln>
        </p:spPr>
        <p:txBody>
          <a:bodyPr/>
          <a:lstStyle/>
          <a:p>
            <a:endParaRPr lang="en-US"/>
          </a:p>
        </p:txBody>
      </p:sp>
      <p:sp>
        <p:nvSpPr>
          <p:cNvPr id="7" name="Rectangle 6">
            <a:extLst>
              <a:ext uri="{FF2B5EF4-FFF2-40B4-BE49-F238E27FC236}">
                <a16:creationId xmlns:a16="http://schemas.microsoft.com/office/drawing/2014/main" id="{285CB6B7-5E03-4FC3-A382-6F4B0C079FC9}"/>
              </a:ext>
            </a:extLst>
          </p:cNvPr>
          <p:cNvSpPr>
            <a:spLocks noGrp="1"/>
          </p:cNvSpPr>
          <p:nvPr/>
        </p:nvSpPr>
        <p:spPr>
          <a:xfrm>
            <a:off x="6429375" y="2428875"/>
            <a:ext cx="114300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student</a:t>
            </a:r>
          </a:p>
        </p:txBody>
      </p:sp>
      <p:sp>
        <p:nvSpPr>
          <p:cNvPr id="8" name="Rectangle 7">
            <a:extLst>
              <a:ext uri="{FF2B5EF4-FFF2-40B4-BE49-F238E27FC236}">
                <a16:creationId xmlns:a16="http://schemas.microsoft.com/office/drawing/2014/main" id="{5097A211-E804-40C0-B875-970C4A6F0552}"/>
              </a:ext>
            </a:extLst>
          </p:cNvPr>
          <p:cNvSpPr>
            <a:spLocks noGrp="1"/>
          </p:cNvSpPr>
          <p:nvPr/>
        </p:nvSpPr>
        <p:spPr>
          <a:xfrm>
            <a:off x="7953375" y="3190875"/>
            <a:ext cx="123825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enrolment</a:t>
            </a:r>
          </a:p>
        </p:txBody>
      </p:sp>
      <p:sp>
        <p:nvSpPr>
          <p:cNvPr id="9" name="Rectangle 8">
            <a:extLst>
              <a:ext uri="{FF2B5EF4-FFF2-40B4-BE49-F238E27FC236}">
                <a16:creationId xmlns:a16="http://schemas.microsoft.com/office/drawing/2014/main" id="{2501E8F8-FB70-4C2D-926B-365F675F4F86}"/>
              </a:ext>
            </a:extLst>
          </p:cNvPr>
          <p:cNvSpPr>
            <a:spLocks noGrp="1"/>
          </p:cNvSpPr>
          <p:nvPr/>
        </p:nvSpPr>
        <p:spPr>
          <a:xfrm>
            <a:off x="9525000" y="2428875"/>
            <a:ext cx="857250" cy="285750"/>
          </a:xfrm>
          <a:prstGeom prst="rect">
            <a:avLst/>
          </a:prstGeom>
          <a:noFill/>
          <a:ln w="0">
            <a:noFill/>
            <a:prstDash val="solid"/>
          </a:ln>
        </p:spPr>
        <p:txBody>
          <a:bodyPr/>
          <a:lstStyle/>
          <a:p>
            <a:pPr algn="l">
              <a:defRPr sz="1575" b="1">
                <a:solidFill>
                  <a:srgbClr val="102A43"/>
                </a:solidFill>
              </a:defRPr>
            </a:pPr>
            <a:r>
              <a:rPr sz="1575" b="1">
                <a:solidFill>
                  <a:srgbClr val="102A43"/>
                </a:solidFill>
              </a:rPr>
              <a:t>unit</a:t>
            </a:r>
          </a:p>
        </p:txBody>
      </p:sp>
      <p:sp>
        <p:nvSpPr>
          <p:cNvPr id="10" name="Rectangle 9">
            <a:extLst>
              <a:ext uri="{FF2B5EF4-FFF2-40B4-BE49-F238E27FC236}">
                <a16:creationId xmlns:a16="http://schemas.microsoft.com/office/drawing/2014/main" id="{CE77F6D1-451C-44D0-A147-D3CE86B63190}"/>
              </a:ext>
            </a:extLst>
          </p:cNvPr>
          <p:cNvSpPr>
            <a:spLocks noGrp="1"/>
          </p:cNvSpPr>
          <p:nvPr/>
        </p:nvSpPr>
        <p:spPr>
          <a:xfrm>
            <a:off x="6429375" y="3143250"/>
            <a:ext cx="1428750" cy="266700"/>
          </a:xfrm>
          <a:prstGeom prst="rect">
            <a:avLst/>
          </a:prstGeom>
          <a:noFill/>
          <a:ln w="0">
            <a:noFill/>
            <a:prstDash val="solid"/>
          </a:ln>
        </p:spPr>
        <p:txBody>
          <a:bodyPr/>
          <a:lstStyle/>
          <a:p>
            <a:pPr algn="l">
              <a:defRPr sz="1350" b="0">
                <a:solidFill>
                  <a:srgbClr val="526777"/>
                </a:solidFill>
              </a:defRPr>
            </a:pPr>
            <a:r>
              <a:rPr sz="1350" b="0">
                <a:solidFill>
                  <a:srgbClr val="526777"/>
                </a:solidFill>
              </a:rPr>
              <a:t>1       many</a:t>
            </a:r>
          </a:p>
        </p:txBody>
      </p:sp>
      <p:sp>
        <p:nvSpPr>
          <p:cNvPr id="11" name="Rectangle 10">
            <a:extLst>
              <a:ext uri="{FF2B5EF4-FFF2-40B4-BE49-F238E27FC236}">
                <a16:creationId xmlns:a16="http://schemas.microsoft.com/office/drawing/2014/main" id="{3078B80A-9616-492C-8DC1-3E67B39EFB44}"/>
              </a:ext>
            </a:extLst>
          </p:cNvPr>
          <p:cNvSpPr>
            <a:spLocks noGrp="1"/>
          </p:cNvSpPr>
          <p:nvPr/>
        </p:nvSpPr>
        <p:spPr>
          <a:xfrm>
            <a:off x="9191625" y="3143250"/>
            <a:ext cx="1285875" cy="266700"/>
          </a:xfrm>
          <a:prstGeom prst="rect">
            <a:avLst/>
          </a:prstGeom>
          <a:noFill/>
          <a:ln w="0">
            <a:noFill/>
            <a:prstDash val="solid"/>
          </a:ln>
        </p:spPr>
        <p:txBody>
          <a:bodyPr/>
          <a:lstStyle/>
          <a:p>
            <a:pPr algn="l">
              <a:defRPr sz="1350" b="0">
                <a:solidFill>
                  <a:srgbClr val="526777"/>
                </a:solidFill>
              </a:defRPr>
            </a:pPr>
            <a:r>
              <a:rPr sz="1350" b="0">
                <a:solidFill>
                  <a:srgbClr val="526777"/>
                </a:solidFill>
              </a:rPr>
              <a:t>many       1</a:t>
            </a:r>
          </a:p>
        </p:txBody>
      </p:sp>
      <p:sp>
        <p:nvSpPr>
          <p:cNvPr id="12" name="Rectangle 11">
            <a:extLst>
              <a:ext uri="{FF2B5EF4-FFF2-40B4-BE49-F238E27FC236}">
                <a16:creationId xmlns:a16="http://schemas.microsoft.com/office/drawing/2014/main" id="{5888D8FD-515B-440F-AE80-C33133667A93}"/>
              </a:ext>
            </a:extLst>
          </p:cNvPr>
          <p:cNvSpPr>
            <a:spLocks noGrp="1"/>
          </p:cNvSpPr>
          <p:nvPr/>
        </p:nvSpPr>
        <p:spPr>
          <a:xfrm>
            <a:off x="6429375" y="3952875"/>
            <a:ext cx="3810000" cy="428625"/>
          </a:xfrm>
          <a:prstGeom prst="rect">
            <a:avLst/>
          </a:prstGeom>
          <a:noFill/>
          <a:ln w="0">
            <a:noFill/>
            <a:prstDash val="solid"/>
          </a:ln>
        </p:spPr>
        <p:txBody>
          <a:bodyPr/>
          <a:lstStyle/>
          <a:p>
            <a:pPr algn="ctr">
              <a:defRPr sz="1350" b="1">
                <a:solidFill>
                  <a:srgbClr val="17845C"/>
                </a:solidFill>
              </a:defRPr>
            </a:pPr>
            <a:r>
              <a:rPr sz="1350" b="1">
                <a:solidFill>
                  <a:srgbClr val="17845C"/>
                </a:solidFill>
              </a:rPr>
              <a:t>The enrolment table resolves the many-to-many relationship.</a:t>
            </a:r>
          </a:p>
        </p:txBody>
      </p:sp>
      <p:sp>
        <p:nvSpPr>
          <p:cNvPr id="13" name="Rectangle 12">
            <a:extLst>
              <a:ext uri="{FF2B5EF4-FFF2-40B4-BE49-F238E27FC236}">
                <a16:creationId xmlns:a16="http://schemas.microsoft.com/office/drawing/2014/main" id="{CD3C66B7-9B91-4758-95A6-C17745FFD4EC}"/>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15</a:t>
            </a:r>
          </a:p>
        </p:txBody>
      </p:sp>
    </p:spTree>
    <p:extLst>
      <p:ext uri="{BB962C8B-B14F-4D97-AF65-F5344CB8AC3E}">
        <p14:creationId xmlns:p14="http://schemas.microsoft.com/office/powerpoint/2010/main" val="1084430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F63EBAF-C484-434F-BFCE-75241DB389AF}"/>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Live demo: create tables with keys and constraints</a:t>
            </a:r>
          </a:p>
        </p:txBody>
      </p:sp>
      <p:sp>
        <p:nvSpPr>
          <p:cNvPr id="2" name="Rectangle 1">
            <a:extLst>
              <a:ext uri="{FF2B5EF4-FFF2-40B4-BE49-F238E27FC236}">
                <a16:creationId xmlns:a16="http://schemas.microsoft.com/office/drawing/2014/main" id="{3A890CAD-A97D-44D0-B0BA-285FABC5C44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987AC712-5784-4BDE-A6E7-0AC1E5B9D185}"/>
              </a:ext>
            </a:extLst>
          </p:cNvPr>
          <p:cNvSpPr>
            <a:spLocks noGrp="1"/>
          </p:cNvSpPr>
          <p:nvPr/>
        </p:nvSpPr>
        <p:spPr>
          <a:xfrm>
            <a:off x="666750" y="1524000"/>
            <a:ext cx="10858500" cy="4286250"/>
          </a:xfrm>
          <a:prstGeom prst="roundRect">
            <a:avLst>
              <a:gd name="adj" fmla="val 2667"/>
            </a:avLst>
          </a:prstGeom>
          <a:solidFill>
            <a:srgbClr val="0B2239"/>
          </a:solidFill>
          <a:ln w="9525">
            <a:solidFill>
              <a:srgbClr val="0B2239"/>
            </a:solidFill>
            <a:prstDash val="solid"/>
          </a:ln>
        </p:spPr>
        <p:txBody>
          <a:bodyPr/>
          <a:lstStyle/>
          <a:p>
            <a:endParaRPr lang="en-US"/>
          </a:p>
        </p:txBody>
      </p:sp>
      <p:sp>
        <p:nvSpPr>
          <p:cNvPr id="4" name="Rectangle 3">
            <a:extLst>
              <a:ext uri="{FF2B5EF4-FFF2-40B4-BE49-F238E27FC236}">
                <a16:creationId xmlns:a16="http://schemas.microsoft.com/office/drawing/2014/main" id="{C8A35F4C-ECFB-406B-9C42-ECCB8154D334}"/>
              </a:ext>
            </a:extLst>
          </p:cNvPr>
          <p:cNvSpPr>
            <a:spLocks noGrp="1"/>
          </p:cNvSpPr>
          <p:nvPr/>
        </p:nvSpPr>
        <p:spPr>
          <a:xfrm>
            <a:off x="1000125" y="1809750"/>
            <a:ext cx="10191750" cy="3714750"/>
          </a:xfrm>
          <a:prstGeom prst="rect">
            <a:avLst/>
          </a:prstGeom>
          <a:noFill/>
          <a:ln w="0">
            <a:noFill/>
            <a:prstDash val="solid"/>
          </a:ln>
        </p:spPr>
        <p:txBody>
          <a:bodyPr/>
          <a:lstStyle/>
          <a:p>
            <a:pPr algn="l">
              <a:defRPr sz="1650" b="0">
                <a:solidFill>
                  <a:srgbClr val="E8F5FB"/>
                </a:solidFill>
              </a:defRPr>
            </a:pPr>
            <a:r>
              <a:rPr sz="1650" b="0">
                <a:solidFill>
                  <a:srgbClr val="E8F5FB"/>
                </a:solidFill>
              </a:rPr>
              <a:t>CREATE DATABASE hi5033_week1;</a:t>
            </a:r>
          </a:p>
          <a:p>
            <a:endParaRPr sz="1650" b="0">
              <a:solidFill>
                <a:srgbClr val="E8F5FB"/>
              </a:solidFill>
            </a:endParaRPr>
          </a:p>
          <a:p>
            <a:pPr algn="l">
              <a:defRPr sz="1650" b="0">
                <a:solidFill>
                  <a:srgbClr val="E8F5FB"/>
                </a:solidFill>
              </a:defRPr>
            </a:pPr>
            <a:r>
              <a:rPr sz="1650" b="0">
                <a:solidFill>
                  <a:srgbClr val="E8F5FB"/>
                </a:solidFill>
              </a:rPr>
              <a:t>CREATE TABLE student (</a:t>
            </a:r>
          </a:p>
          <a:p>
            <a:pPr algn="l">
              <a:defRPr sz="1650" b="0">
                <a:solidFill>
                  <a:srgbClr val="E8F5FB"/>
                </a:solidFill>
              </a:defRPr>
            </a:pPr>
            <a:r>
              <a:rPr sz="1650" b="0">
                <a:solidFill>
                  <a:srgbClr val="E8F5FB"/>
                </a:solidFill>
              </a:rPr>
              <a:t>  student_id INTEGER PRIMARY KEY,</a:t>
            </a:r>
          </a:p>
          <a:p>
            <a:pPr algn="l">
              <a:defRPr sz="1650" b="0">
                <a:solidFill>
                  <a:srgbClr val="E8F5FB"/>
                </a:solidFill>
              </a:defRPr>
            </a:pPr>
            <a:r>
              <a:rPr sz="1650" b="0">
                <a:solidFill>
                  <a:srgbClr val="E8F5FB"/>
                </a:solidFill>
              </a:rPr>
              <a:t>  full_name  VARCHAR(100) NOT NULL,</a:t>
            </a:r>
          </a:p>
          <a:p>
            <a:pPr algn="l">
              <a:defRPr sz="1650" b="0">
                <a:solidFill>
                  <a:srgbClr val="E8F5FB"/>
                </a:solidFill>
              </a:defRPr>
            </a:pPr>
            <a:r>
              <a:rPr sz="1650" b="0">
                <a:solidFill>
                  <a:srgbClr val="E8F5FB"/>
                </a:solidFill>
              </a:rPr>
              <a:t>  email      VARCHAR(150) UNIQUE NOT NULL</a:t>
            </a:r>
          </a:p>
          <a:p>
            <a:pPr algn="l">
              <a:defRPr sz="1650" b="0">
                <a:solidFill>
                  <a:srgbClr val="E8F5FB"/>
                </a:solidFill>
              </a:defRPr>
            </a:pPr>
            <a:r>
              <a:rPr sz="1650" b="0">
                <a:solidFill>
                  <a:srgbClr val="E8F5FB"/>
                </a:solidFill>
              </a:rPr>
              <a:t>);</a:t>
            </a:r>
          </a:p>
          <a:p>
            <a:endParaRPr sz="1650" b="0">
              <a:solidFill>
                <a:srgbClr val="E8F5FB"/>
              </a:solidFill>
            </a:endParaRPr>
          </a:p>
          <a:p>
            <a:pPr algn="l">
              <a:defRPr sz="1650" b="0">
                <a:solidFill>
                  <a:srgbClr val="E8F5FB"/>
                </a:solidFill>
              </a:defRPr>
            </a:pPr>
            <a:r>
              <a:rPr sz="1650" b="0">
                <a:solidFill>
                  <a:srgbClr val="E8F5FB"/>
                </a:solidFill>
              </a:rPr>
              <a:t>CREATE TABLE unit (</a:t>
            </a:r>
          </a:p>
          <a:p>
            <a:pPr algn="l">
              <a:defRPr sz="1650" b="0">
                <a:solidFill>
                  <a:srgbClr val="E8F5FB"/>
                </a:solidFill>
              </a:defRPr>
            </a:pPr>
            <a:r>
              <a:rPr sz="1650" b="0">
                <a:solidFill>
                  <a:srgbClr val="E8F5FB"/>
                </a:solidFill>
              </a:rPr>
              <a:t>  unit_code VARCHAR(10) PRIMARY KEY,</a:t>
            </a:r>
          </a:p>
          <a:p>
            <a:pPr algn="l">
              <a:defRPr sz="1650" b="0">
                <a:solidFill>
                  <a:srgbClr val="E8F5FB"/>
                </a:solidFill>
              </a:defRPr>
            </a:pPr>
            <a:r>
              <a:rPr sz="1650" b="0">
                <a:solidFill>
                  <a:srgbClr val="E8F5FB"/>
                </a:solidFill>
              </a:rPr>
              <a:t>  unit_name VARCHAR(100) NOT NULL</a:t>
            </a:r>
          </a:p>
          <a:p>
            <a:pPr algn="l">
              <a:defRPr sz="1650" b="0">
                <a:solidFill>
                  <a:srgbClr val="E8F5FB"/>
                </a:solidFill>
              </a:defRPr>
            </a:pPr>
            <a:r>
              <a:rPr sz="1650" b="0">
                <a:solidFill>
                  <a:srgbClr val="E8F5FB"/>
                </a:solidFill>
              </a:rPr>
              <a:t>);</a:t>
            </a:r>
          </a:p>
        </p:txBody>
      </p:sp>
      <p:sp>
        <p:nvSpPr>
          <p:cNvPr id="5" name="Rectangle 4">
            <a:extLst>
              <a:ext uri="{FF2B5EF4-FFF2-40B4-BE49-F238E27FC236}">
                <a16:creationId xmlns:a16="http://schemas.microsoft.com/office/drawing/2014/main" id="{48881424-9926-4B0A-84D5-1669306E4197}"/>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16</a:t>
            </a:r>
          </a:p>
        </p:txBody>
      </p:sp>
    </p:spTree>
    <p:extLst>
      <p:ext uri="{BB962C8B-B14F-4D97-AF65-F5344CB8AC3E}">
        <p14:creationId xmlns:p14="http://schemas.microsoft.com/office/powerpoint/2010/main" val="1724298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BE62C3A-8F8E-4EE7-A7A0-7D9ADF0CF63B}"/>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Complete the relationship and add data</a:t>
            </a:r>
          </a:p>
        </p:txBody>
      </p:sp>
      <p:sp>
        <p:nvSpPr>
          <p:cNvPr id="2" name="Rectangle 1">
            <a:extLst>
              <a:ext uri="{FF2B5EF4-FFF2-40B4-BE49-F238E27FC236}">
                <a16:creationId xmlns:a16="http://schemas.microsoft.com/office/drawing/2014/main" id="{CDB01874-1BD0-46F8-963C-14660AF11BAE}"/>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00783122-47CE-4410-9B6E-49E08E30046E}"/>
              </a:ext>
            </a:extLst>
          </p:cNvPr>
          <p:cNvSpPr>
            <a:spLocks noGrp="1"/>
          </p:cNvSpPr>
          <p:nvPr/>
        </p:nvSpPr>
        <p:spPr>
          <a:xfrm>
            <a:off x="666750" y="1524000"/>
            <a:ext cx="10858500" cy="4286250"/>
          </a:xfrm>
          <a:prstGeom prst="roundRect">
            <a:avLst>
              <a:gd name="adj" fmla="val 2667"/>
            </a:avLst>
          </a:prstGeom>
          <a:solidFill>
            <a:srgbClr val="0B2239"/>
          </a:solidFill>
          <a:ln w="9525">
            <a:solidFill>
              <a:srgbClr val="0B2239"/>
            </a:solidFill>
            <a:prstDash val="solid"/>
          </a:ln>
        </p:spPr>
        <p:txBody>
          <a:bodyPr/>
          <a:lstStyle/>
          <a:p>
            <a:endParaRPr lang="en-US"/>
          </a:p>
        </p:txBody>
      </p:sp>
      <p:sp>
        <p:nvSpPr>
          <p:cNvPr id="4" name="Rectangle 3">
            <a:extLst>
              <a:ext uri="{FF2B5EF4-FFF2-40B4-BE49-F238E27FC236}">
                <a16:creationId xmlns:a16="http://schemas.microsoft.com/office/drawing/2014/main" id="{C14B7F6F-DC8B-488D-AB14-EC0450F38626}"/>
              </a:ext>
            </a:extLst>
          </p:cNvPr>
          <p:cNvSpPr>
            <a:spLocks noGrp="1"/>
          </p:cNvSpPr>
          <p:nvPr/>
        </p:nvSpPr>
        <p:spPr>
          <a:xfrm>
            <a:off x="952500" y="1733550"/>
            <a:ext cx="10287000" cy="3857625"/>
          </a:xfrm>
          <a:prstGeom prst="rect">
            <a:avLst/>
          </a:prstGeom>
          <a:noFill/>
          <a:ln w="0">
            <a:noFill/>
            <a:prstDash val="solid"/>
          </a:ln>
        </p:spPr>
        <p:txBody>
          <a:bodyPr/>
          <a:lstStyle/>
          <a:p>
            <a:pPr algn="l">
              <a:defRPr sz="1425" b="0">
                <a:solidFill>
                  <a:srgbClr val="E8F5FB"/>
                </a:solidFill>
              </a:defRPr>
            </a:pPr>
            <a:r>
              <a:rPr sz="1425" b="0">
                <a:solidFill>
                  <a:srgbClr val="E8F5FB"/>
                </a:solidFill>
              </a:rPr>
              <a:t>CREATE TABLE enrolment (</a:t>
            </a:r>
          </a:p>
          <a:p>
            <a:pPr algn="l">
              <a:defRPr sz="1425" b="0">
                <a:solidFill>
                  <a:srgbClr val="E8F5FB"/>
                </a:solidFill>
              </a:defRPr>
            </a:pPr>
            <a:r>
              <a:rPr sz="1425" b="0">
                <a:solidFill>
                  <a:srgbClr val="E8F5FB"/>
                </a:solidFill>
              </a:rPr>
              <a:t>  student_id INTEGER REFERENCES student(student_id),</a:t>
            </a:r>
          </a:p>
          <a:p>
            <a:pPr algn="l">
              <a:defRPr sz="1425" b="0">
                <a:solidFill>
                  <a:srgbClr val="E8F5FB"/>
                </a:solidFill>
              </a:defRPr>
            </a:pPr>
            <a:r>
              <a:rPr sz="1425" b="0">
                <a:solidFill>
                  <a:srgbClr val="E8F5FB"/>
                </a:solidFill>
              </a:rPr>
              <a:t>  unit_code  VARCHAR(10) REFERENCES unit(unit_code),</a:t>
            </a:r>
          </a:p>
          <a:p>
            <a:pPr algn="l">
              <a:defRPr sz="1425" b="0">
                <a:solidFill>
                  <a:srgbClr val="E8F5FB"/>
                </a:solidFill>
              </a:defRPr>
            </a:pPr>
            <a:r>
              <a:rPr sz="1425" b="0">
                <a:solidFill>
                  <a:srgbClr val="E8F5FB"/>
                </a:solidFill>
              </a:rPr>
              <a:t>  semester   VARCHAR(10) NOT NULL,</a:t>
            </a:r>
          </a:p>
          <a:p>
            <a:pPr algn="l">
              <a:defRPr sz="1425" b="0">
                <a:solidFill>
                  <a:srgbClr val="E8F5FB"/>
                </a:solidFill>
              </a:defRPr>
            </a:pPr>
            <a:r>
              <a:rPr sz="1425" b="0">
                <a:solidFill>
                  <a:srgbClr val="E8F5FB"/>
                </a:solidFill>
              </a:rPr>
              <a:t>  result     NUMERIC(5,2) CHECK (result BETWEEN 0 AND 100),</a:t>
            </a:r>
          </a:p>
          <a:p>
            <a:pPr algn="l">
              <a:defRPr sz="1425" b="0">
                <a:solidFill>
                  <a:srgbClr val="E8F5FB"/>
                </a:solidFill>
              </a:defRPr>
            </a:pPr>
            <a:r>
              <a:rPr sz="1425" b="0">
                <a:solidFill>
                  <a:srgbClr val="E8F5FB"/>
                </a:solidFill>
              </a:rPr>
              <a:t>  PRIMARY KEY (student_id, unit_code, semester)</a:t>
            </a:r>
          </a:p>
          <a:p>
            <a:pPr algn="l">
              <a:defRPr sz="1425" b="0">
                <a:solidFill>
                  <a:srgbClr val="E8F5FB"/>
                </a:solidFill>
              </a:defRPr>
            </a:pPr>
            <a:r>
              <a:rPr sz="1425" b="0">
                <a:solidFill>
                  <a:srgbClr val="E8F5FB"/>
                </a:solidFill>
              </a:rPr>
              <a:t>);</a:t>
            </a:r>
          </a:p>
          <a:p>
            <a:endParaRPr sz="1425" b="0">
              <a:solidFill>
                <a:srgbClr val="E8F5FB"/>
              </a:solidFill>
            </a:endParaRPr>
          </a:p>
          <a:p>
            <a:pPr algn="l">
              <a:defRPr sz="1425" b="0">
                <a:solidFill>
                  <a:srgbClr val="E8F5FB"/>
                </a:solidFill>
              </a:defRPr>
            </a:pPr>
            <a:r>
              <a:rPr sz="1425" b="0">
                <a:solidFill>
                  <a:srgbClr val="E8F5FB"/>
                </a:solidFill>
              </a:rPr>
              <a:t>INSERT INTO student VALUES</a:t>
            </a:r>
          </a:p>
          <a:p>
            <a:pPr algn="l">
              <a:defRPr sz="1425" b="0">
                <a:solidFill>
                  <a:srgbClr val="E8F5FB"/>
                </a:solidFill>
              </a:defRPr>
            </a:pPr>
            <a:r>
              <a:rPr sz="1425" b="0">
                <a:solidFill>
                  <a:srgbClr val="E8F5FB"/>
                </a:solidFill>
              </a:rPr>
              <a:t>  (1001, 'Aisha Khan', 'aisha@example.edu'),</a:t>
            </a:r>
          </a:p>
          <a:p>
            <a:pPr algn="l">
              <a:defRPr sz="1425" b="0">
                <a:solidFill>
                  <a:srgbClr val="E8F5FB"/>
                </a:solidFill>
              </a:defRPr>
            </a:pPr>
            <a:r>
              <a:rPr sz="1425" b="0">
                <a:solidFill>
                  <a:srgbClr val="E8F5FB"/>
                </a:solidFill>
              </a:rPr>
              <a:t>  (1002, 'Liam Chen',  'liam@example.edu');</a:t>
            </a:r>
          </a:p>
          <a:p>
            <a:endParaRPr sz="1425" b="0">
              <a:solidFill>
                <a:srgbClr val="E8F5FB"/>
              </a:solidFill>
            </a:endParaRPr>
          </a:p>
          <a:p>
            <a:pPr algn="l">
              <a:defRPr sz="1425" b="0">
                <a:solidFill>
                  <a:srgbClr val="E8F5FB"/>
                </a:solidFill>
              </a:defRPr>
            </a:pPr>
            <a:r>
              <a:rPr sz="1425" b="0">
                <a:solidFill>
                  <a:srgbClr val="E8F5FB"/>
                </a:solidFill>
              </a:rPr>
              <a:t>INSERT INTO unit VALUES ('HI5033', 'Database Design');</a:t>
            </a:r>
          </a:p>
        </p:txBody>
      </p:sp>
      <p:sp>
        <p:nvSpPr>
          <p:cNvPr id="5" name="Rectangle 4">
            <a:extLst>
              <a:ext uri="{FF2B5EF4-FFF2-40B4-BE49-F238E27FC236}">
                <a16:creationId xmlns:a16="http://schemas.microsoft.com/office/drawing/2014/main" id="{06167BE5-74A2-4BD2-A68B-F4EBEF723F46}"/>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17</a:t>
            </a:r>
          </a:p>
        </p:txBody>
      </p:sp>
    </p:spTree>
    <p:extLst>
      <p:ext uri="{BB962C8B-B14F-4D97-AF65-F5344CB8AC3E}">
        <p14:creationId xmlns:p14="http://schemas.microsoft.com/office/powerpoint/2010/main" val="1884935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997F01-1F42-4BD3-8006-9A955F694AED}"/>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 JOIN turns stored facts into useful information</a:t>
            </a:r>
          </a:p>
        </p:txBody>
      </p:sp>
      <p:sp>
        <p:nvSpPr>
          <p:cNvPr id="2" name="Rectangle 1">
            <a:extLst>
              <a:ext uri="{FF2B5EF4-FFF2-40B4-BE49-F238E27FC236}">
                <a16:creationId xmlns:a16="http://schemas.microsoft.com/office/drawing/2014/main" id="{7FDB9653-E17F-438B-9EE1-D182BD87CDA5}"/>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Rounded Corners 2">
            <a:extLst>
              <a:ext uri="{FF2B5EF4-FFF2-40B4-BE49-F238E27FC236}">
                <a16:creationId xmlns:a16="http://schemas.microsoft.com/office/drawing/2014/main" id="{BFF15B9A-A127-4A29-8D40-98918B7F4ECA}"/>
              </a:ext>
            </a:extLst>
          </p:cNvPr>
          <p:cNvSpPr>
            <a:spLocks noGrp="1"/>
          </p:cNvSpPr>
          <p:nvPr/>
        </p:nvSpPr>
        <p:spPr>
          <a:xfrm>
            <a:off x="666750" y="1524000"/>
            <a:ext cx="10858500" cy="4095750"/>
          </a:xfrm>
          <a:prstGeom prst="roundRect">
            <a:avLst>
              <a:gd name="adj" fmla="val 2791"/>
            </a:avLst>
          </a:prstGeom>
          <a:solidFill>
            <a:srgbClr val="0B2239"/>
          </a:solidFill>
          <a:ln w="9525">
            <a:solidFill>
              <a:srgbClr val="0B2239"/>
            </a:solidFill>
            <a:prstDash val="solid"/>
          </a:ln>
        </p:spPr>
        <p:txBody>
          <a:bodyPr/>
          <a:lstStyle/>
          <a:p>
            <a:endParaRPr lang="en-US"/>
          </a:p>
        </p:txBody>
      </p:sp>
      <p:sp>
        <p:nvSpPr>
          <p:cNvPr id="4" name="Rectangle 3">
            <a:extLst>
              <a:ext uri="{FF2B5EF4-FFF2-40B4-BE49-F238E27FC236}">
                <a16:creationId xmlns:a16="http://schemas.microsoft.com/office/drawing/2014/main" id="{E2478AF9-E0BC-4927-802B-CC441DD8E843}"/>
              </a:ext>
            </a:extLst>
          </p:cNvPr>
          <p:cNvSpPr>
            <a:spLocks noGrp="1"/>
          </p:cNvSpPr>
          <p:nvPr/>
        </p:nvSpPr>
        <p:spPr>
          <a:xfrm>
            <a:off x="952500" y="1762125"/>
            <a:ext cx="10287000" cy="3619500"/>
          </a:xfrm>
          <a:prstGeom prst="rect">
            <a:avLst/>
          </a:prstGeom>
          <a:noFill/>
          <a:ln w="0">
            <a:noFill/>
            <a:prstDash val="solid"/>
          </a:ln>
        </p:spPr>
        <p:txBody>
          <a:bodyPr/>
          <a:lstStyle/>
          <a:p>
            <a:pPr algn="l">
              <a:defRPr sz="1500" b="0">
                <a:solidFill>
                  <a:srgbClr val="E8F5FB"/>
                </a:solidFill>
              </a:defRPr>
            </a:pPr>
            <a:r>
              <a:rPr sz="1500" b="0">
                <a:solidFill>
                  <a:srgbClr val="E8F5FB"/>
                </a:solidFill>
              </a:rPr>
              <a:t>INSERT INTO enrolment VALUES</a:t>
            </a:r>
          </a:p>
          <a:p>
            <a:pPr algn="l">
              <a:defRPr sz="1500" b="0">
                <a:solidFill>
                  <a:srgbClr val="E8F5FB"/>
                </a:solidFill>
              </a:defRPr>
            </a:pPr>
            <a:r>
              <a:rPr sz="1500" b="0">
                <a:solidFill>
                  <a:srgbClr val="E8F5FB"/>
                </a:solidFill>
              </a:rPr>
              <a:t>  (1001, 'HI5033', 'T2-2026', 82.5),</a:t>
            </a:r>
          </a:p>
          <a:p>
            <a:pPr algn="l">
              <a:defRPr sz="1500" b="0">
                <a:solidFill>
                  <a:srgbClr val="E8F5FB"/>
                </a:solidFill>
              </a:defRPr>
            </a:pPr>
            <a:r>
              <a:rPr sz="1500" b="0">
                <a:solidFill>
                  <a:srgbClr val="E8F5FB"/>
                </a:solidFill>
              </a:rPr>
              <a:t>  (1002, 'HI5033', 'T2-2026', 74.0);</a:t>
            </a:r>
          </a:p>
          <a:p>
            <a:endParaRPr sz="1500" b="0">
              <a:solidFill>
                <a:srgbClr val="E8F5FB"/>
              </a:solidFill>
            </a:endParaRPr>
          </a:p>
          <a:p>
            <a:pPr algn="l">
              <a:defRPr sz="1500" b="0">
                <a:solidFill>
                  <a:srgbClr val="E8F5FB"/>
                </a:solidFill>
              </a:defRPr>
            </a:pPr>
            <a:r>
              <a:rPr sz="1500" b="0">
                <a:solidFill>
                  <a:srgbClr val="E8F5FB"/>
                </a:solidFill>
              </a:rPr>
              <a:t>SELECT s.student_id,</a:t>
            </a:r>
          </a:p>
          <a:p>
            <a:pPr algn="l">
              <a:defRPr sz="1500" b="0">
                <a:solidFill>
                  <a:srgbClr val="E8F5FB"/>
                </a:solidFill>
              </a:defRPr>
            </a:pPr>
            <a:r>
              <a:rPr sz="1500" b="0">
                <a:solidFill>
                  <a:srgbClr val="E8F5FB"/>
                </a:solidFill>
              </a:rPr>
              <a:t>       s.full_name,</a:t>
            </a:r>
          </a:p>
          <a:p>
            <a:pPr algn="l">
              <a:defRPr sz="1500" b="0">
                <a:solidFill>
                  <a:srgbClr val="E8F5FB"/>
                </a:solidFill>
              </a:defRPr>
            </a:pPr>
            <a:r>
              <a:rPr sz="1500" b="0">
                <a:solidFill>
                  <a:srgbClr val="E8F5FB"/>
                </a:solidFill>
              </a:rPr>
              <a:t>       u.unit_name,</a:t>
            </a:r>
          </a:p>
          <a:p>
            <a:pPr algn="l">
              <a:defRPr sz="1500" b="0">
                <a:solidFill>
                  <a:srgbClr val="E8F5FB"/>
                </a:solidFill>
              </a:defRPr>
            </a:pPr>
            <a:r>
              <a:rPr sz="1500" b="0">
                <a:solidFill>
                  <a:srgbClr val="E8F5FB"/>
                </a:solidFill>
              </a:rPr>
              <a:t>       e.semester,</a:t>
            </a:r>
          </a:p>
          <a:p>
            <a:pPr algn="l">
              <a:defRPr sz="1500" b="0">
                <a:solidFill>
                  <a:srgbClr val="E8F5FB"/>
                </a:solidFill>
              </a:defRPr>
            </a:pPr>
            <a:r>
              <a:rPr sz="1500" b="0">
                <a:solidFill>
                  <a:srgbClr val="E8F5FB"/>
                </a:solidFill>
              </a:rPr>
              <a:t>       e.result</a:t>
            </a:r>
          </a:p>
          <a:p>
            <a:pPr algn="l">
              <a:defRPr sz="1500" b="0">
                <a:solidFill>
                  <a:srgbClr val="E8F5FB"/>
                </a:solidFill>
              </a:defRPr>
            </a:pPr>
            <a:r>
              <a:rPr sz="1500" b="0">
                <a:solidFill>
                  <a:srgbClr val="E8F5FB"/>
                </a:solidFill>
              </a:rPr>
              <a:t>FROM enrolment e</a:t>
            </a:r>
          </a:p>
          <a:p>
            <a:pPr algn="l">
              <a:defRPr sz="1500" b="0">
                <a:solidFill>
                  <a:srgbClr val="E8F5FB"/>
                </a:solidFill>
              </a:defRPr>
            </a:pPr>
            <a:r>
              <a:rPr sz="1500" b="0">
                <a:solidFill>
                  <a:srgbClr val="E8F5FB"/>
                </a:solidFill>
              </a:rPr>
              <a:t>JOIN student s ON s.student_id = e.student_id</a:t>
            </a:r>
          </a:p>
          <a:p>
            <a:pPr algn="l">
              <a:defRPr sz="1500" b="0">
                <a:solidFill>
                  <a:srgbClr val="E8F5FB"/>
                </a:solidFill>
              </a:defRPr>
            </a:pPr>
            <a:r>
              <a:rPr sz="1500" b="0">
                <a:solidFill>
                  <a:srgbClr val="E8F5FB"/>
                </a:solidFill>
              </a:rPr>
              <a:t>JOIN unit u ON u.unit_code = e.unit_code</a:t>
            </a:r>
          </a:p>
          <a:p>
            <a:pPr algn="l">
              <a:defRPr sz="1500" b="0">
                <a:solidFill>
                  <a:srgbClr val="E8F5FB"/>
                </a:solidFill>
              </a:defRPr>
            </a:pPr>
            <a:r>
              <a:rPr sz="1500" b="0">
                <a:solidFill>
                  <a:srgbClr val="E8F5FB"/>
                </a:solidFill>
              </a:rPr>
              <a:t>ORDER BY e.result DESC;</a:t>
            </a:r>
          </a:p>
        </p:txBody>
      </p:sp>
      <p:sp>
        <p:nvSpPr>
          <p:cNvPr id="5" name="Rectangle 4">
            <a:extLst>
              <a:ext uri="{FF2B5EF4-FFF2-40B4-BE49-F238E27FC236}">
                <a16:creationId xmlns:a16="http://schemas.microsoft.com/office/drawing/2014/main" id="{F68CC62E-2A60-4A0B-8C70-A0BE7C2B324B}"/>
              </a:ext>
            </a:extLst>
          </p:cNvPr>
          <p:cNvSpPr>
            <a:spLocks noGrp="1"/>
          </p:cNvSpPr>
          <p:nvPr/>
        </p:nvSpPr>
        <p:spPr>
          <a:xfrm>
            <a:off x="1047750" y="5905500"/>
            <a:ext cx="10096500" cy="333375"/>
          </a:xfrm>
          <a:prstGeom prst="rect">
            <a:avLst/>
          </a:prstGeom>
          <a:noFill/>
          <a:ln w="0">
            <a:noFill/>
            <a:prstDash val="solid"/>
          </a:ln>
        </p:spPr>
        <p:txBody>
          <a:bodyPr/>
          <a:lstStyle/>
          <a:p>
            <a:pPr algn="ctr">
              <a:defRPr sz="1500" b="1">
                <a:solidFill>
                  <a:srgbClr val="1261A0"/>
                </a:solidFill>
              </a:defRPr>
            </a:pPr>
            <a:r>
              <a:rPr sz="1500" b="1">
                <a:solidFill>
                  <a:srgbClr val="1261A0"/>
                </a:solidFill>
              </a:rPr>
              <a:t>Question: Which parts describe storage, and which parts answer the business question?</a:t>
            </a:r>
          </a:p>
        </p:txBody>
      </p:sp>
      <p:sp>
        <p:nvSpPr>
          <p:cNvPr id="6" name="Rectangle 5">
            <a:extLst>
              <a:ext uri="{FF2B5EF4-FFF2-40B4-BE49-F238E27FC236}">
                <a16:creationId xmlns:a16="http://schemas.microsoft.com/office/drawing/2014/main" id="{0819ADD5-EB80-48B6-92E6-F4B58F7126F4}"/>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18</a:t>
            </a:r>
          </a:p>
        </p:txBody>
      </p:sp>
    </p:spTree>
    <p:extLst>
      <p:ext uri="{BB962C8B-B14F-4D97-AF65-F5344CB8AC3E}">
        <p14:creationId xmlns:p14="http://schemas.microsoft.com/office/powerpoint/2010/main" val="796639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BA93031D-570F-4C06-AAA6-EAD1647F245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Hands-on challenge: extend and test the design</a:t>
            </a:r>
          </a:p>
        </p:txBody>
      </p:sp>
      <p:sp>
        <p:nvSpPr>
          <p:cNvPr id="2" name="Rectangle 1">
            <a:extLst>
              <a:ext uri="{FF2B5EF4-FFF2-40B4-BE49-F238E27FC236}">
                <a16:creationId xmlns:a16="http://schemas.microsoft.com/office/drawing/2014/main" id="{28A6D9E3-C41E-467D-9D86-AAFF55FD90C2}"/>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F75CE42E-109B-43C5-AB98-4AC009986FDB}"/>
              </a:ext>
            </a:extLst>
          </p:cNvPr>
          <p:cNvSpPr>
            <a:spLocks noGrp="1"/>
          </p:cNvSpPr>
          <p:nvPr/>
        </p:nvSpPr>
        <p:spPr>
          <a:xfrm>
            <a:off x="609600" y="1257300"/>
            <a:ext cx="10858500" cy="361950"/>
          </a:xfrm>
          <a:prstGeom prst="rect">
            <a:avLst/>
          </a:prstGeom>
          <a:noFill/>
          <a:ln w="0">
            <a:noFill/>
            <a:prstDash val="solid"/>
          </a:ln>
        </p:spPr>
        <p:txBody>
          <a:bodyPr/>
          <a:lstStyle/>
          <a:p>
            <a:pPr algn="l">
              <a:defRPr sz="1350" b="0">
                <a:solidFill>
                  <a:srgbClr val="526777"/>
                </a:solidFill>
              </a:defRPr>
            </a:pPr>
            <a:r>
              <a:rPr sz="1350" b="0">
                <a:solidFill>
                  <a:srgbClr val="526777"/>
                </a:solidFill>
              </a:rPr>
              <a:t>Work individually first, then compare with a partner</a:t>
            </a:r>
          </a:p>
        </p:txBody>
      </p:sp>
      <p:sp>
        <p:nvSpPr>
          <p:cNvPr id="4" name="Rectangle: Rounded Corners 3">
            <a:extLst>
              <a:ext uri="{FF2B5EF4-FFF2-40B4-BE49-F238E27FC236}">
                <a16:creationId xmlns:a16="http://schemas.microsoft.com/office/drawing/2014/main" id="{0961CD0A-FD5D-4190-A0DC-9FA8FEFA756B}"/>
              </a:ext>
            </a:extLst>
          </p:cNvPr>
          <p:cNvSpPr>
            <a:spLocks noGrp="1"/>
          </p:cNvSpPr>
          <p:nvPr/>
        </p:nvSpPr>
        <p:spPr>
          <a:xfrm>
            <a:off x="666750" y="1504950"/>
            <a:ext cx="457200" cy="457200"/>
          </a:xfrm>
          <a:prstGeom prst="roundRect">
            <a:avLst>
              <a:gd name="adj" fmla="val 25000"/>
            </a:avLst>
          </a:prstGeom>
          <a:solidFill>
            <a:srgbClr val="1261A0"/>
          </a:solidFill>
          <a:ln w="9525">
            <a:solidFill>
              <a:srgbClr val="1261A0"/>
            </a:solidFill>
            <a:prstDash val="solid"/>
          </a:ln>
        </p:spPr>
        <p:txBody>
          <a:bodyPr/>
          <a:lstStyle/>
          <a:p>
            <a:endParaRPr lang="en-US"/>
          </a:p>
        </p:txBody>
      </p:sp>
      <p:sp>
        <p:nvSpPr>
          <p:cNvPr id="5" name="Rectangle 4">
            <a:extLst>
              <a:ext uri="{FF2B5EF4-FFF2-40B4-BE49-F238E27FC236}">
                <a16:creationId xmlns:a16="http://schemas.microsoft.com/office/drawing/2014/main" id="{8CA0BAB0-DE64-4A71-A871-EB655CF543F7}"/>
              </a:ext>
            </a:extLst>
          </p:cNvPr>
          <p:cNvSpPr>
            <a:spLocks noGrp="1"/>
          </p:cNvSpPr>
          <p:nvPr/>
        </p:nvSpPr>
        <p:spPr>
          <a:xfrm>
            <a:off x="666750" y="1590675"/>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1</a:t>
            </a:r>
          </a:p>
        </p:txBody>
      </p:sp>
      <p:sp>
        <p:nvSpPr>
          <p:cNvPr id="6" name="Rectangle 5">
            <a:extLst>
              <a:ext uri="{FF2B5EF4-FFF2-40B4-BE49-F238E27FC236}">
                <a16:creationId xmlns:a16="http://schemas.microsoft.com/office/drawing/2014/main" id="{7D896666-642C-4DE4-A026-2DC770A06ACB}"/>
              </a:ext>
            </a:extLst>
          </p:cNvPr>
          <p:cNvSpPr>
            <a:spLocks noGrp="1"/>
          </p:cNvSpPr>
          <p:nvPr/>
        </p:nvSpPr>
        <p:spPr>
          <a:xfrm>
            <a:off x="1381125" y="154305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Create the three tables successfully</a:t>
            </a:r>
          </a:p>
        </p:txBody>
      </p:sp>
      <p:sp>
        <p:nvSpPr>
          <p:cNvPr id="7" name="Rectangle: Rounded Corners 6">
            <a:extLst>
              <a:ext uri="{FF2B5EF4-FFF2-40B4-BE49-F238E27FC236}">
                <a16:creationId xmlns:a16="http://schemas.microsoft.com/office/drawing/2014/main" id="{650CFC4A-01C0-4F86-88BB-AD46F90426F0}"/>
              </a:ext>
            </a:extLst>
          </p:cNvPr>
          <p:cNvSpPr>
            <a:spLocks noGrp="1"/>
          </p:cNvSpPr>
          <p:nvPr/>
        </p:nvSpPr>
        <p:spPr>
          <a:xfrm>
            <a:off x="666750" y="2219325"/>
            <a:ext cx="457200" cy="457200"/>
          </a:xfrm>
          <a:prstGeom prst="roundRect">
            <a:avLst>
              <a:gd name="adj" fmla="val 25000"/>
            </a:avLst>
          </a:prstGeom>
          <a:solidFill>
            <a:srgbClr val="1261A0"/>
          </a:solidFill>
          <a:ln w="9525">
            <a:solidFill>
              <a:srgbClr val="1261A0"/>
            </a:solidFill>
            <a:prstDash val="solid"/>
          </a:ln>
        </p:spPr>
        <p:txBody>
          <a:bodyPr/>
          <a:lstStyle/>
          <a:p>
            <a:endParaRPr lang="en-US"/>
          </a:p>
        </p:txBody>
      </p:sp>
      <p:sp>
        <p:nvSpPr>
          <p:cNvPr id="8" name="Rectangle 7">
            <a:extLst>
              <a:ext uri="{FF2B5EF4-FFF2-40B4-BE49-F238E27FC236}">
                <a16:creationId xmlns:a16="http://schemas.microsoft.com/office/drawing/2014/main" id="{88B1C702-EBA7-4C59-8123-13A66779B38C}"/>
              </a:ext>
            </a:extLst>
          </p:cNvPr>
          <p:cNvSpPr>
            <a:spLocks noGrp="1"/>
          </p:cNvSpPr>
          <p:nvPr/>
        </p:nvSpPr>
        <p:spPr>
          <a:xfrm>
            <a:off x="666750" y="2305050"/>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2</a:t>
            </a:r>
          </a:p>
        </p:txBody>
      </p:sp>
      <p:sp>
        <p:nvSpPr>
          <p:cNvPr id="9" name="Rectangle 8">
            <a:extLst>
              <a:ext uri="{FF2B5EF4-FFF2-40B4-BE49-F238E27FC236}">
                <a16:creationId xmlns:a16="http://schemas.microsoft.com/office/drawing/2014/main" id="{5690666C-F93B-43BE-9EBB-875F18D42B32}"/>
              </a:ext>
            </a:extLst>
          </p:cNvPr>
          <p:cNvSpPr>
            <a:spLocks noGrp="1"/>
          </p:cNvSpPr>
          <p:nvPr/>
        </p:nvSpPr>
        <p:spPr>
          <a:xfrm>
            <a:off x="1381125" y="2257425"/>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Add one new student and one new unit</a:t>
            </a:r>
          </a:p>
        </p:txBody>
      </p:sp>
      <p:sp>
        <p:nvSpPr>
          <p:cNvPr id="10" name="Rectangle: Rounded Corners 9">
            <a:extLst>
              <a:ext uri="{FF2B5EF4-FFF2-40B4-BE49-F238E27FC236}">
                <a16:creationId xmlns:a16="http://schemas.microsoft.com/office/drawing/2014/main" id="{D0D5F82D-B7A1-4EC0-8D39-8D65E3D1C664}"/>
              </a:ext>
            </a:extLst>
          </p:cNvPr>
          <p:cNvSpPr>
            <a:spLocks noGrp="1"/>
          </p:cNvSpPr>
          <p:nvPr/>
        </p:nvSpPr>
        <p:spPr>
          <a:xfrm>
            <a:off x="666750" y="2933700"/>
            <a:ext cx="457200" cy="457200"/>
          </a:xfrm>
          <a:prstGeom prst="roundRect">
            <a:avLst>
              <a:gd name="adj" fmla="val 25000"/>
            </a:avLst>
          </a:prstGeom>
          <a:solidFill>
            <a:srgbClr val="1261A0"/>
          </a:solidFill>
          <a:ln w="9525">
            <a:solidFill>
              <a:srgbClr val="1261A0"/>
            </a:solidFill>
            <a:prstDash val="solid"/>
          </a:ln>
        </p:spPr>
        <p:txBody>
          <a:bodyPr/>
          <a:lstStyle/>
          <a:p>
            <a:endParaRPr lang="en-US"/>
          </a:p>
        </p:txBody>
      </p:sp>
      <p:sp>
        <p:nvSpPr>
          <p:cNvPr id="11" name="Rectangle 10">
            <a:extLst>
              <a:ext uri="{FF2B5EF4-FFF2-40B4-BE49-F238E27FC236}">
                <a16:creationId xmlns:a16="http://schemas.microsoft.com/office/drawing/2014/main" id="{D858DB4E-A3FC-43DC-8E60-A54A9542C8ED}"/>
              </a:ext>
            </a:extLst>
          </p:cNvPr>
          <p:cNvSpPr>
            <a:spLocks noGrp="1"/>
          </p:cNvSpPr>
          <p:nvPr/>
        </p:nvSpPr>
        <p:spPr>
          <a:xfrm>
            <a:off x="666750" y="3019425"/>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3</a:t>
            </a:r>
          </a:p>
        </p:txBody>
      </p:sp>
      <p:sp>
        <p:nvSpPr>
          <p:cNvPr id="12" name="Rectangle 11">
            <a:extLst>
              <a:ext uri="{FF2B5EF4-FFF2-40B4-BE49-F238E27FC236}">
                <a16:creationId xmlns:a16="http://schemas.microsoft.com/office/drawing/2014/main" id="{70C19AC5-01C2-4354-A42F-40D8DDC5171B}"/>
              </a:ext>
            </a:extLst>
          </p:cNvPr>
          <p:cNvSpPr>
            <a:spLocks noGrp="1"/>
          </p:cNvSpPr>
          <p:nvPr/>
        </p:nvSpPr>
        <p:spPr>
          <a:xfrm>
            <a:off x="1381125" y="297180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Enrol your new student in the new unit</a:t>
            </a:r>
          </a:p>
        </p:txBody>
      </p:sp>
      <p:sp>
        <p:nvSpPr>
          <p:cNvPr id="13" name="Rectangle: Rounded Corners 12">
            <a:extLst>
              <a:ext uri="{FF2B5EF4-FFF2-40B4-BE49-F238E27FC236}">
                <a16:creationId xmlns:a16="http://schemas.microsoft.com/office/drawing/2014/main" id="{864B22E6-B4DC-40F2-96C3-6A320132BADD}"/>
              </a:ext>
            </a:extLst>
          </p:cNvPr>
          <p:cNvSpPr>
            <a:spLocks noGrp="1"/>
          </p:cNvSpPr>
          <p:nvPr/>
        </p:nvSpPr>
        <p:spPr>
          <a:xfrm>
            <a:off x="666750" y="3648075"/>
            <a:ext cx="457200" cy="457200"/>
          </a:xfrm>
          <a:prstGeom prst="roundRect">
            <a:avLst>
              <a:gd name="adj" fmla="val 25000"/>
            </a:avLst>
          </a:prstGeom>
          <a:solidFill>
            <a:srgbClr val="1261A0"/>
          </a:solidFill>
          <a:ln w="9525">
            <a:solidFill>
              <a:srgbClr val="1261A0"/>
            </a:solidFill>
            <a:prstDash val="solid"/>
          </a:ln>
        </p:spPr>
        <p:txBody>
          <a:bodyPr/>
          <a:lstStyle/>
          <a:p>
            <a:endParaRPr lang="en-US"/>
          </a:p>
        </p:txBody>
      </p:sp>
      <p:sp>
        <p:nvSpPr>
          <p:cNvPr id="14" name="Rectangle 13">
            <a:extLst>
              <a:ext uri="{FF2B5EF4-FFF2-40B4-BE49-F238E27FC236}">
                <a16:creationId xmlns:a16="http://schemas.microsoft.com/office/drawing/2014/main" id="{99F1F8C7-3CEA-456F-8BC3-6D91974441DF}"/>
              </a:ext>
            </a:extLst>
          </p:cNvPr>
          <p:cNvSpPr>
            <a:spLocks noGrp="1"/>
          </p:cNvSpPr>
          <p:nvPr/>
        </p:nvSpPr>
        <p:spPr>
          <a:xfrm>
            <a:off x="666750" y="3733800"/>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4</a:t>
            </a:r>
          </a:p>
        </p:txBody>
      </p:sp>
      <p:sp>
        <p:nvSpPr>
          <p:cNvPr id="15" name="Rectangle 14">
            <a:extLst>
              <a:ext uri="{FF2B5EF4-FFF2-40B4-BE49-F238E27FC236}">
                <a16:creationId xmlns:a16="http://schemas.microsoft.com/office/drawing/2014/main" id="{9AF445F1-4863-4577-9F1E-6E972AB5A657}"/>
              </a:ext>
            </a:extLst>
          </p:cNvPr>
          <p:cNvSpPr>
            <a:spLocks noGrp="1"/>
          </p:cNvSpPr>
          <p:nvPr/>
        </p:nvSpPr>
        <p:spPr>
          <a:xfrm>
            <a:off x="1381125" y="3686175"/>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Write a JOIN query that displays the student, unit and result</a:t>
            </a:r>
          </a:p>
        </p:txBody>
      </p:sp>
      <p:sp>
        <p:nvSpPr>
          <p:cNvPr id="16" name="Rectangle: Rounded Corners 15">
            <a:extLst>
              <a:ext uri="{FF2B5EF4-FFF2-40B4-BE49-F238E27FC236}">
                <a16:creationId xmlns:a16="http://schemas.microsoft.com/office/drawing/2014/main" id="{678F50D0-5D78-4335-B216-337B8318DD13}"/>
              </a:ext>
            </a:extLst>
          </p:cNvPr>
          <p:cNvSpPr>
            <a:spLocks noGrp="1"/>
          </p:cNvSpPr>
          <p:nvPr/>
        </p:nvSpPr>
        <p:spPr>
          <a:xfrm>
            <a:off x="666750" y="4362450"/>
            <a:ext cx="457200" cy="457200"/>
          </a:xfrm>
          <a:prstGeom prst="roundRect">
            <a:avLst>
              <a:gd name="adj" fmla="val 25000"/>
            </a:avLst>
          </a:prstGeom>
          <a:solidFill>
            <a:srgbClr val="1261A0"/>
          </a:solidFill>
          <a:ln w="9525">
            <a:solidFill>
              <a:srgbClr val="1261A0"/>
            </a:solidFill>
            <a:prstDash val="solid"/>
          </a:ln>
        </p:spPr>
        <p:txBody>
          <a:bodyPr/>
          <a:lstStyle/>
          <a:p>
            <a:endParaRPr lang="en-US"/>
          </a:p>
        </p:txBody>
      </p:sp>
      <p:sp>
        <p:nvSpPr>
          <p:cNvPr id="17" name="Rectangle 16">
            <a:extLst>
              <a:ext uri="{FF2B5EF4-FFF2-40B4-BE49-F238E27FC236}">
                <a16:creationId xmlns:a16="http://schemas.microsoft.com/office/drawing/2014/main" id="{AF9E1117-BBCC-4ED7-B4A6-451DA93A1C0F}"/>
              </a:ext>
            </a:extLst>
          </p:cNvPr>
          <p:cNvSpPr>
            <a:spLocks noGrp="1"/>
          </p:cNvSpPr>
          <p:nvPr/>
        </p:nvSpPr>
        <p:spPr>
          <a:xfrm>
            <a:off x="666750" y="4448175"/>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5</a:t>
            </a:r>
          </a:p>
        </p:txBody>
      </p:sp>
      <p:sp>
        <p:nvSpPr>
          <p:cNvPr id="18" name="Rectangle 17">
            <a:extLst>
              <a:ext uri="{FF2B5EF4-FFF2-40B4-BE49-F238E27FC236}">
                <a16:creationId xmlns:a16="http://schemas.microsoft.com/office/drawing/2014/main" id="{81CFFE11-F640-4450-85E2-9E8FAFCC6F86}"/>
              </a:ext>
            </a:extLst>
          </p:cNvPr>
          <p:cNvSpPr>
            <a:spLocks noGrp="1"/>
          </p:cNvSpPr>
          <p:nvPr/>
        </p:nvSpPr>
        <p:spPr>
          <a:xfrm>
            <a:off x="1381125" y="4400550"/>
            <a:ext cx="9858375" cy="457200"/>
          </a:xfrm>
          <a:prstGeom prst="rect">
            <a:avLst/>
          </a:prstGeom>
          <a:noFill/>
          <a:ln w="0">
            <a:noFill/>
            <a:prstDash val="solid"/>
          </a:ln>
        </p:spPr>
        <p:txBody>
          <a:bodyPr/>
          <a:lstStyle/>
          <a:p>
            <a:pPr algn="l">
              <a:defRPr sz="1500" b="0">
                <a:solidFill>
                  <a:srgbClr val="102A43"/>
                </a:solidFill>
              </a:defRPr>
            </a:pPr>
            <a:r>
              <a:rPr sz="1500" b="0">
                <a:solidFill>
                  <a:srgbClr val="102A43"/>
                </a:solidFill>
              </a:rPr>
              <a:t>Test one rule deliberately: duplicate email, missing student, or result above 100</a:t>
            </a:r>
          </a:p>
        </p:txBody>
      </p:sp>
      <p:sp>
        <p:nvSpPr>
          <p:cNvPr id="19" name="Rectangle: Rounded Corners 18">
            <a:extLst>
              <a:ext uri="{FF2B5EF4-FFF2-40B4-BE49-F238E27FC236}">
                <a16:creationId xmlns:a16="http://schemas.microsoft.com/office/drawing/2014/main" id="{42FDFEDF-8280-4B31-A104-A6A8ED71E4E9}"/>
              </a:ext>
            </a:extLst>
          </p:cNvPr>
          <p:cNvSpPr>
            <a:spLocks noGrp="1"/>
          </p:cNvSpPr>
          <p:nvPr/>
        </p:nvSpPr>
        <p:spPr>
          <a:xfrm>
            <a:off x="666750" y="5076825"/>
            <a:ext cx="457200" cy="457200"/>
          </a:xfrm>
          <a:prstGeom prst="roundRect">
            <a:avLst>
              <a:gd name="adj" fmla="val 25000"/>
            </a:avLst>
          </a:prstGeom>
          <a:solidFill>
            <a:srgbClr val="17845C"/>
          </a:solidFill>
          <a:ln w="9525">
            <a:solidFill>
              <a:srgbClr val="17845C"/>
            </a:solidFill>
            <a:prstDash val="solid"/>
          </a:ln>
        </p:spPr>
        <p:txBody>
          <a:bodyPr/>
          <a:lstStyle/>
          <a:p>
            <a:endParaRPr lang="en-US"/>
          </a:p>
        </p:txBody>
      </p:sp>
      <p:sp>
        <p:nvSpPr>
          <p:cNvPr id="20" name="Rectangle 19">
            <a:extLst>
              <a:ext uri="{FF2B5EF4-FFF2-40B4-BE49-F238E27FC236}">
                <a16:creationId xmlns:a16="http://schemas.microsoft.com/office/drawing/2014/main" id="{6F7BB40A-891D-4242-92D5-FA25BA13DE38}"/>
              </a:ext>
            </a:extLst>
          </p:cNvPr>
          <p:cNvSpPr>
            <a:spLocks noGrp="1"/>
          </p:cNvSpPr>
          <p:nvPr/>
        </p:nvSpPr>
        <p:spPr>
          <a:xfrm>
            <a:off x="666750" y="5162550"/>
            <a:ext cx="457200" cy="247650"/>
          </a:xfrm>
          <a:prstGeom prst="rect">
            <a:avLst/>
          </a:prstGeom>
          <a:noFill/>
          <a:ln w="0">
            <a:noFill/>
            <a:prstDash val="solid"/>
          </a:ln>
        </p:spPr>
        <p:txBody>
          <a:bodyPr/>
          <a:lstStyle/>
          <a:p>
            <a:pPr algn="ctr">
              <a:defRPr sz="1275" b="1">
                <a:solidFill>
                  <a:srgbClr val="FFFFFF"/>
                </a:solidFill>
              </a:defRPr>
            </a:pPr>
            <a:r>
              <a:rPr sz="1275" b="1">
                <a:solidFill>
                  <a:srgbClr val="FFFFFF"/>
                </a:solidFill>
              </a:rPr>
              <a:t>6</a:t>
            </a:r>
          </a:p>
        </p:txBody>
      </p:sp>
      <p:sp>
        <p:nvSpPr>
          <p:cNvPr id="21" name="Rectangle 20">
            <a:extLst>
              <a:ext uri="{FF2B5EF4-FFF2-40B4-BE49-F238E27FC236}">
                <a16:creationId xmlns:a16="http://schemas.microsoft.com/office/drawing/2014/main" id="{0E709842-7AC7-4F50-B55E-E2EE637120EF}"/>
              </a:ext>
            </a:extLst>
          </p:cNvPr>
          <p:cNvSpPr>
            <a:spLocks noGrp="1"/>
          </p:cNvSpPr>
          <p:nvPr/>
        </p:nvSpPr>
        <p:spPr>
          <a:xfrm>
            <a:off x="1381125" y="5114925"/>
            <a:ext cx="9858375" cy="457200"/>
          </a:xfrm>
          <a:prstGeom prst="rect">
            <a:avLst/>
          </a:prstGeom>
          <a:noFill/>
          <a:ln w="0">
            <a:noFill/>
            <a:prstDash val="solid"/>
          </a:ln>
        </p:spPr>
        <p:txBody>
          <a:bodyPr/>
          <a:lstStyle/>
          <a:p>
            <a:pPr algn="l">
              <a:defRPr sz="1500" b="1">
                <a:solidFill>
                  <a:srgbClr val="102A43"/>
                </a:solidFill>
              </a:defRPr>
            </a:pPr>
            <a:r>
              <a:rPr sz="1500" b="1">
                <a:solidFill>
                  <a:srgbClr val="102A43"/>
                </a:solidFill>
              </a:rPr>
              <a:t>Capture the error and explain which constraint protected the data</a:t>
            </a:r>
          </a:p>
        </p:txBody>
      </p:sp>
      <p:sp>
        <p:nvSpPr>
          <p:cNvPr id="22" name="Rectangle 21">
            <a:extLst>
              <a:ext uri="{FF2B5EF4-FFF2-40B4-BE49-F238E27FC236}">
                <a16:creationId xmlns:a16="http://schemas.microsoft.com/office/drawing/2014/main" id="{4825F3D4-9FA3-46CC-BF69-2AFF7A752BBB}"/>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19</a:t>
            </a:r>
          </a:p>
        </p:txBody>
      </p:sp>
    </p:spTree>
    <p:extLst>
      <p:ext uri="{BB962C8B-B14F-4D97-AF65-F5344CB8AC3E}">
        <p14:creationId xmlns:p14="http://schemas.microsoft.com/office/powerpoint/2010/main" val="1309880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B1C57A9-ADDE-44DB-8383-B978EE3D7F0C}"/>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How to learn effectively each week</a:t>
            </a:r>
          </a:p>
        </p:txBody>
      </p:sp>
      <p:sp>
        <p:nvSpPr>
          <p:cNvPr id="2" name="Rectangle 1">
            <a:extLst>
              <a:ext uri="{FF2B5EF4-FFF2-40B4-BE49-F238E27FC236}">
                <a16:creationId xmlns:a16="http://schemas.microsoft.com/office/drawing/2014/main" id="{6E3B4EC5-A30C-4625-8CA3-5E66DF6E877B}"/>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B9944CFD-8991-4F36-88D6-0E9266F281E3}"/>
              </a:ext>
            </a:extLst>
          </p:cNvPr>
          <p:cNvSpPr>
            <a:spLocks noGrp="1"/>
          </p:cNvSpPr>
          <p:nvPr/>
        </p:nvSpPr>
        <p:spPr>
          <a:xfrm>
            <a:off x="590550" y="1809750"/>
            <a:ext cx="2571750" cy="361950"/>
          </a:xfrm>
          <a:prstGeom prst="rect">
            <a:avLst/>
          </a:prstGeom>
          <a:noFill/>
          <a:ln w="0">
            <a:noFill/>
            <a:prstDash val="solid"/>
          </a:ln>
        </p:spPr>
        <p:txBody>
          <a:bodyPr/>
          <a:lstStyle/>
          <a:p>
            <a:pPr algn="l">
              <a:defRPr sz="1725" b="1">
                <a:solidFill>
                  <a:srgbClr val="1261A0"/>
                </a:solidFill>
              </a:defRPr>
            </a:pPr>
            <a:r>
              <a:rPr sz="1725" b="1">
                <a:solidFill>
                  <a:srgbClr val="1261A0"/>
                </a:solidFill>
              </a:rPr>
              <a:t>Before class</a:t>
            </a:r>
          </a:p>
        </p:txBody>
      </p:sp>
      <p:sp>
        <p:nvSpPr>
          <p:cNvPr id="4" name="Rectangle 3">
            <a:extLst>
              <a:ext uri="{FF2B5EF4-FFF2-40B4-BE49-F238E27FC236}">
                <a16:creationId xmlns:a16="http://schemas.microsoft.com/office/drawing/2014/main" id="{AA5B79B2-9D9E-4E72-8D0A-16201C1D0A1D}"/>
              </a:ext>
            </a:extLst>
          </p:cNvPr>
          <p:cNvSpPr>
            <a:spLocks noGrp="1"/>
          </p:cNvSpPr>
          <p:nvPr/>
        </p:nvSpPr>
        <p:spPr>
          <a:xfrm>
            <a:off x="590550" y="2476500"/>
            <a:ext cx="2571750" cy="1619250"/>
          </a:xfrm>
          <a:prstGeom prst="rect">
            <a:avLst/>
          </a:prstGeom>
          <a:noFill/>
          <a:ln w="0">
            <a:noFill/>
            <a:prstDash val="solid"/>
          </a:ln>
        </p:spPr>
        <p:txBody>
          <a:bodyPr/>
          <a:lstStyle/>
          <a:p>
            <a:pPr algn="l">
              <a:defRPr sz="1575" b="0">
                <a:solidFill>
                  <a:srgbClr val="102A43"/>
                </a:solidFill>
              </a:defRPr>
            </a:pPr>
            <a:r>
              <a:rPr sz="1575" b="0">
                <a:solidFill>
                  <a:srgbClr val="102A43"/>
                </a:solidFill>
              </a:rPr>
              <a:t>Read the lecture material</a:t>
            </a:r>
          </a:p>
          <a:p>
            <a:pPr algn="l">
              <a:defRPr sz="1575" b="0">
                <a:solidFill>
                  <a:srgbClr val="102A43"/>
                </a:solidFill>
              </a:defRPr>
            </a:pPr>
            <a:r>
              <a:rPr sz="1575" b="0">
                <a:solidFill>
                  <a:srgbClr val="102A43"/>
                </a:solidFill>
              </a:rPr>
              <a:t>Review vocabulary</a:t>
            </a:r>
          </a:p>
          <a:p>
            <a:pPr algn="l">
              <a:defRPr sz="1575" b="0">
                <a:solidFill>
                  <a:srgbClr val="102A43"/>
                </a:solidFill>
              </a:defRPr>
            </a:pPr>
            <a:r>
              <a:rPr sz="1575" b="0">
                <a:solidFill>
                  <a:srgbClr val="102A43"/>
                </a:solidFill>
              </a:rPr>
              <a:t>Bring a working laptop</a:t>
            </a:r>
          </a:p>
        </p:txBody>
      </p:sp>
      <p:sp>
        <p:nvSpPr>
          <p:cNvPr id="5" name="Rectangle 4">
            <a:extLst>
              <a:ext uri="{FF2B5EF4-FFF2-40B4-BE49-F238E27FC236}">
                <a16:creationId xmlns:a16="http://schemas.microsoft.com/office/drawing/2014/main" id="{8EC206DE-5D11-4E3F-8DCA-15DF5A85E405}"/>
              </a:ext>
            </a:extLst>
          </p:cNvPr>
          <p:cNvSpPr>
            <a:spLocks noGrp="1"/>
          </p:cNvSpPr>
          <p:nvPr/>
        </p:nvSpPr>
        <p:spPr>
          <a:xfrm>
            <a:off x="3476625" y="1809750"/>
            <a:ext cx="2571750" cy="361950"/>
          </a:xfrm>
          <a:prstGeom prst="rect">
            <a:avLst/>
          </a:prstGeom>
          <a:noFill/>
          <a:ln w="0">
            <a:noFill/>
            <a:prstDash val="solid"/>
          </a:ln>
        </p:spPr>
        <p:txBody>
          <a:bodyPr/>
          <a:lstStyle/>
          <a:p>
            <a:pPr algn="l">
              <a:defRPr sz="1725" b="1">
                <a:solidFill>
                  <a:srgbClr val="18A6B8"/>
                </a:solidFill>
              </a:defRPr>
            </a:pPr>
            <a:r>
              <a:rPr sz="1725" b="1">
                <a:solidFill>
                  <a:srgbClr val="18A6B8"/>
                </a:solidFill>
              </a:rPr>
              <a:t>During class</a:t>
            </a:r>
          </a:p>
        </p:txBody>
      </p:sp>
      <p:sp>
        <p:nvSpPr>
          <p:cNvPr id="6" name="Rectangle 5">
            <a:extLst>
              <a:ext uri="{FF2B5EF4-FFF2-40B4-BE49-F238E27FC236}">
                <a16:creationId xmlns:a16="http://schemas.microsoft.com/office/drawing/2014/main" id="{90F8A5E6-D7D4-4087-AC77-2CAE9F9958FB}"/>
              </a:ext>
            </a:extLst>
          </p:cNvPr>
          <p:cNvSpPr>
            <a:spLocks noGrp="1"/>
          </p:cNvSpPr>
          <p:nvPr/>
        </p:nvSpPr>
        <p:spPr>
          <a:xfrm>
            <a:off x="3476625" y="2476500"/>
            <a:ext cx="2571750" cy="1619250"/>
          </a:xfrm>
          <a:prstGeom prst="rect">
            <a:avLst/>
          </a:prstGeom>
          <a:noFill/>
          <a:ln w="0">
            <a:noFill/>
            <a:prstDash val="solid"/>
          </a:ln>
        </p:spPr>
        <p:txBody>
          <a:bodyPr/>
          <a:lstStyle/>
          <a:p>
            <a:pPr algn="l">
              <a:defRPr sz="1575" b="0">
                <a:solidFill>
                  <a:srgbClr val="102A43"/>
                </a:solidFill>
              </a:defRPr>
            </a:pPr>
            <a:r>
              <a:rPr sz="1575" b="0">
                <a:solidFill>
                  <a:srgbClr val="102A43"/>
                </a:solidFill>
              </a:rPr>
              <a:t>Ask questions</a:t>
            </a:r>
          </a:p>
          <a:p>
            <a:pPr algn="l">
              <a:defRPr sz="1575" b="0">
                <a:solidFill>
                  <a:srgbClr val="102A43"/>
                </a:solidFill>
              </a:defRPr>
            </a:pPr>
            <a:r>
              <a:rPr sz="1575" b="0">
                <a:solidFill>
                  <a:srgbClr val="102A43"/>
                </a:solidFill>
              </a:rPr>
              <a:t>Run every example</a:t>
            </a:r>
          </a:p>
          <a:p>
            <a:pPr algn="l">
              <a:defRPr sz="1575" b="0">
                <a:solidFill>
                  <a:srgbClr val="102A43"/>
                </a:solidFill>
              </a:defRPr>
            </a:pPr>
            <a:r>
              <a:rPr sz="1575" b="0">
                <a:solidFill>
                  <a:srgbClr val="102A43"/>
                </a:solidFill>
              </a:rPr>
              <a:t>Keep evidence and notes</a:t>
            </a:r>
          </a:p>
        </p:txBody>
      </p:sp>
      <p:sp>
        <p:nvSpPr>
          <p:cNvPr id="7" name="Rectangle 6">
            <a:extLst>
              <a:ext uri="{FF2B5EF4-FFF2-40B4-BE49-F238E27FC236}">
                <a16:creationId xmlns:a16="http://schemas.microsoft.com/office/drawing/2014/main" id="{E32384EB-0A20-4B41-AB89-A4306A946C17}"/>
              </a:ext>
            </a:extLst>
          </p:cNvPr>
          <p:cNvSpPr>
            <a:spLocks noGrp="1"/>
          </p:cNvSpPr>
          <p:nvPr/>
        </p:nvSpPr>
        <p:spPr>
          <a:xfrm>
            <a:off x="6362700" y="1809750"/>
            <a:ext cx="2571750" cy="361950"/>
          </a:xfrm>
          <a:prstGeom prst="rect">
            <a:avLst/>
          </a:prstGeom>
          <a:noFill/>
          <a:ln w="0">
            <a:noFill/>
            <a:prstDash val="solid"/>
          </a:ln>
        </p:spPr>
        <p:txBody>
          <a:bodyPr/>
          <a:lstStyle/>
          <a:p>
            <a:pPr algn="l">
              <a:defRPr sz="1725" b="1">
                <a:solidFill>
                  <a:srgbClr val="17845C"/>
                </a:solidFill>
              </a:defRPr>
            </a:pPr>
            <a:r>
              <a:rPr sz="1725" b="1">
                <a:solidFill>
                  <a:srgbClr val="17845C"/>
                </a:solidFill>
              </a:rPr>
              <a:t>After class</a:t>
            </a:r>
          </a:p>
        </p:txBody>
      </p:sp>
      <p:sp>
        <p:nvSpPr>
          <p:cNvPr id="8" name="Rectangle 7">
            <a:extLst>
              <a:ext uri="{FF2B5EF4-FFF2-40B4-BE49-F238E27FC236}">
                <a16:creationId xmlns:a16="http://schemas.microsoft.com/office/drawing/2014/main" id="{2F1BBC38-5081-4818-9F06-C5DD30F9384A}"/>
              </a:ext>
            </a:extLst>
          </p:cNvPr>
          <p:cNvSpPr>
            <a:spLocks noGrp="1"/>
          </p:cNvSpPr>
          <p:nvPr/>
        </p:nvSpPr>
        <p:spPr>
          <a:xfrm>
            <a:off x="6362700" y="2476500"/>
            <a:ext cx="2571750" cy="1619250"/>
          </a:xfrm>
          <a:prstGeom prst="rect">
            <a:avLst/>
          </a:prstGeom>
          <a:noFill/>
          <a:ln w="0">
            <a:noFill/>
            <a:prstDash val="solid"/>
          </a:ln>
        </p:spPr>
        <p:txBody>
          <a:bodyPr/>
          <a:lstStyle/>
          <a:p>
            <a:pPr algn="l">
              <a:defRPr sz="1575" b="0">
                <a:solidFill>
                  <a:srgbClr val="102A43"/>
                </a:solidFill>
              </a:defRPr>
            </a:pPr>
            <a:r>
              <a:rPr sz="1575" b="0">
                <a:solidFill>
                  <a:srgbClr val="102A43"/>
                </a:solidFill>
              </a:rPr>
              <a:t>Repeat without copying</a:t>
            </a:r>
          </a:p>
          <a:p>
            <a:pPr algn="l">
              <a:defRPr sz="1575" b="0">
                <a:solidFill>
                  <a:srgbClr val="102A43"/>
                </a:solidFill>
              </a:defRPr>
            </a:pPr>
            <a:r>
              <a:rPr sz="1575" b="0">
                <a:solidFill>
                  <a:srgbClr val="102A43"/>
                </a:solidFill>
              </a:rPr>
              <a:t>Complete tutorial work</a:t>
            </a:r>
          </a:p>
          <a:p>
            <a:pPr algn="l">
              <a:defRPr sz="1575" b="0">
                <a:solidFill>
                  <a:srgbClr val="102A43"/>
                </a:solidFill>
              </a:defRPr>
            </a:pPr>
            <a:r>
              <a:rPr sz="1575" b="0">
                <a:solidFill>
                  <a:srgbClr val="102A43"/>
                </a:solidFill>
              </a:rPr>
              <a:t>Explain your design aloud</a:t>
            </a:r>
          </a:p>
        </p:txBody>
      </p:sp>
      <p:sp>
        <p:nvSpPr>
          <p:cNvPr id="9" name="Rectangle 8">
            <a:extLst>
              <a:ext uri="{FF2B5EF4-FFF2-40B4-BE49-F238E27FC236}">
                <a16:creationId xmlns:a16="http://schemas.microsoft.com/office/drawing/2014/main" id="{D86BD605-7287-49AF-9B09-358DA3BED1F5}"/>
              </a:ext>
            </a:extLst>
          </p:cNvPr>
          <p:cNvSpPr>
            <a:spLocks noGrp="1"/>
          </p:cNvSpPr>
          <p:nvPr/>
        </p:nvSpPr>
        <p:spPr>
          <a:xfrm>
            <a:off x="9248775" y="1809750"/>
            <a:ext cx="2571750" cy="361950"/>
          </a:xfrm>
          <a:prstGeom prst="rect">
            <a:avLst/>
          </a:prstGeom>
          <a:noFill/>
          <a:ln w="0">
            <a:noFill/>
            <a:prstDash val="solid"/>
          </a:ln>
        </p:spPr>
        <p:txBody>
          <a:bodyPr/>
          <a:lstStyle/>
          <a:p>
            <a:pPr algn="l">
              <a:defRPr sz="1725" b="1">
                <a:solidFill>
                  <a:srgbClr val="F2B134"/>
                </a:solidFill>
              </a:defRPr>
            </a:pPr>
            <a:r>
              <a:rPr sz="1725" b="1">
                <a:solidFill>
                  <a:srgbClr val="F2B134"/>
                </a:solidFill>
              </a:rPr>
              <a:t>Before assessment</a:t>
            </a:r>
          </a:p>
        </p:txBody>
      </p:sp>
      <p:sp>
        <p:nvSpPr>
          <p:cNvPr id="10" name="Rectangle 9">
            <a:extLst>
              <a:ext uri="{FF2B5EF4-FFF2-40B4-BE49-F238E27FC236}">
                <a16:creationId xmlns:a16="http://schemas.microsoft.com/office/drawing/2014/main" id="{010DC62B-CAE2-4E89-80E6-F3323DB403DB}"/>
              </a:ext>
            </a:extLst>
          </p:cNvPr>
          <p:cNvSpPr>
            <a:spLocks noGrp="1"/>
          </p:cNvSpPr>
          <p:nvPr/>
        </p:nvSpPr>
        <p:spPr>
          <a:xfrm>
            <a:off x="9248775" y="2476500"/>
            <a:ext cx="2571750" cy="1619250"/>
          </a:xfrm>
          <a:prstGeom prst="rect">
            <a:avLst/>
          </a:prstGeom>
          <a:noFill/>
          <a:ln w="0">
            <a:noFill/>
            <a:prstDash val="solid"/>
          </a:ln>
        </p:spPr>
        <p:txBody>
          <a:bodyPr/>
          <a:lstStyle/>
          <a:p>
            <a:pPr algn="l">
              <a:defRPr sz="1575" b="0">
                <a:solidFill>
                  <a:srgbClr val="102A43"/>
                </a:solidFill>
              </a:defRPr>
            </a:pPr>
            <a:r>
              <a:rPr sz="1575" b="0">
                <a:solidFill>
                  <a:srgbClr val="102A43"/>
                </a:solidFill>
              </a:rPr>
              <a:t>Use the current instructions</a:t>
            </a:r>
          </a:p>
          <a:p>
            <a:pPr algn="l">
              <a:defRPr sz="1575" b="0">
                <a:solidFill>
                  <a:srgbClr val="102A43"/>
                </a:solidFill>
              </a:defRPr>
            </a:pPr>
            <a:r>
              <a:rPr sz="1575" b="0">
                <a:solidFill>
                  <a:srgbClr val="102A43"/>
                </a:solidFill>
              </a:rPr>
              <a:t>Check rubric and format</a:t>
            </a:r>
          </a:p>
          <a:p>
            <a:pPr algn="l">
              <a:defRPr sz="1575" b="0">
                <a:solidFill>
                  <a:srgbClr val="102A43"/>
                </a:solidFill>
              </a:defRPr>
            </a:pPr>
            <a:r>
              <a:rPr sz="1575" b="0">
                <a:solidFill>
                  <a:srgbClr val="102A43"/>
                </a:solidFill>
              </a:rPr>
              <a:t>Submit early</a:t>
            </a:r>
          </a:p>
        </p:txBody>
      </p:sp>
      <p:sp>
        <p:nvSpPr>
          <p:cNvPr id="11" name="Rectangle 10">
            <a:extLst>
              <a:ext uri="{FF2B5EF4-FFF2-40B4-BE49-F238E27FC236}">
                <a16:creationId xmlns:a16="http://schemas.microsoft.com/office/drawing/2014/main" id="{75CAC9BC-9286-4801-930A-FAB8576408C2}"/>
              </a:ext>
            </a:extLst>
          </p:cNvPr>
          <p:cNvSpPr>
            <a:spLocks noGrp="1"/>
          </p:cNvSpPr>
          <p:nvPr/>
        </p:nvSpPr>
        <p:spPr>
          <a:xfrm>
            <a:off x="1095375" y="5095875"/>
            <a:ext cx="10001250" cy="523875"/>
          </a:xfrm>
          <a:prstGeom prst="rect">
            <a:avLst/>
          </a:prstGeom>
          <a:noFill/>
          <a:ln w="0">
            <a:noFill/>
            <a:prstDash val="solid"/>
          </a:ln>
        </p:spPr>
        <p:txBody>
          <a:bodyPr/>
          <a:lstStyle/>
          <a:p>
            <a:pPr algn="ctr">
              <a:defRPr sz="2100" b="1">
                <a:solidFill>
                  <a:srgbClr val="102A43"/>
                </a:solidFill>
              </a:defRPr>
            </a:pPr>
            <a:r>
              <a:rPr sz="2100" b="1">
                <a:solidFill>
                  <a:srgbClr val="102A43"/>
                </a:solidFill>
              </a:rPr>
              <a:t>Small weekly practice beats last-minute memorisation.</a:t>
            </a:r>
          </a:p>
        </p:txBody>
      </p:sp>
      <p:sp>
        <p:nvSpPr>
          <p:cNvPr id="12" name="Rectangle 11">
            <a:extLst>
              <a:ext uri="{FF2B5EF4-FFF2-40B4-BE49-F238E27FC236}">
                <a16:creationId xmlns:a16="http://schemas.microsoft.com/office/drawing/2014/main" id="{4D6498F7-02B5-4EC0-8290-937AC2ECC2A9}"/>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20</a:t>
            </a:r>
          </a:p>
        </p:txBody>
      </p:sp>
    </p:spTree>
    <p:extLst>
      <p:ext uri="{BB962C8B-B14F-4D97-AF65-F5344CB8AC3E}">
        <p14:creationId xmlns:p14="http://schemas.microsoft.com/office/powerpoint/2010/main" val="4182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84B28CB-21A0-49AD-9302-E07ECC143B2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Use authoritative learning resources</a:t>
            </a:r>
          </a:p>
        </p:txBody>
      </p:sp>
      <p:sp>
        <p:nvSpPr>
          <p:cNvPr id="2" name="Rectangle 1">
            <a:extLst>
              <a:ext uri="{FF2B5EF4-FFF2-40B4-BE49-F238E27FC236}">
                <a16:creationId xmlns:a16="http://schemas.microsoft.com/office/drawing/2014/main" id="{4D4BE372-3D83-4D60-8A4F-93E91747A03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C4993D4C-33B8-4709-A508-56A7DDB984EB}"/>
              </a:ext>
            </a:extLst>
          </p:cNvPr>
          <p:cNvSpPr>
            <a:spLocks noGrp="1"/>
          </p:cNvSpPr>
          <p:nvPr/>
        </p:nvSpPr>
        <p:spPr>
          <a:xfrm>
            <a:off x="666750" y="1476375"/>
            <a:ext cx="2857500" cy="285750"/>
          </a:xfrm>
          <a:prstGeom prst="rect">
            <a:avLst/>
          </a:prstGeom>
          <a:noFill/>
          <a:ln w="0">
            <a:noFill/>
            <a:prstDash val="solid"/>
          </a:ln>
        </p:spPr>
        <p:txBody>
          <a:bodyPr/>
          <a:lstStyle/>
          <a:p>
            <a:pPr algn="l">
              <a:defRPr sz="1575" b="1">
                <a:solidFill>
                  <a:srgbClr val="1261A0"/>
                </a:solidFill>
              </a:defRPr>
            </a:pPr>
            <a:r>
              <a:rPr sz="1575" b="1">
                <a:solidFill>
                  <a:srgbClr val="1261A0"/>
                </a:solidFill>
              </a:rPr>
              <a:t>PostgreSQL documentation</a:t>
            </a:r>
          </a:p>
        </p:txBody>
      </p:sp>
      <p:sp>
        <p:nvSpPr>
          <p:cNvPr id="4" name="Rectangle 3">
            <a:extLst>
              <a:ext uri="{FF2B5EF4-FFF2-40B4-BE49-F238E27FC236}">
                <a16:creationId xmlns:a16="http://schemas.microsoft.com/office/drawing/2014/main" id="{DBD0DDA4-36EE-4D7E-954A-9F0899C67882}"/>
              </a:ext>
            </a:extLst>
          </p:cNvPr>
          <p:cNvSpPr>
            <a:spLocks noGrp="1"/>
          </p:cNvSpPr>
          <p:nvPr/>
        </p:nvSpPr>
        <p:spPr>
          <a:xfrm>
            <a:off x="3714750" y="1476375"/>
            <a:ext cx="4857750" cy="457200"/>
          </a:xfrm>
          <a:prstGeom prst="rect">
            <a:avLst/>
          </a:prstGeom>
          <a:noFill/>
          <a:ln w="0">
            <a:noFill/>
            <a:prstDash val="solid"/>
          </a:ln>
        </p:spPr>
        <p:txBody>
          <a:bodyPr/>
          <a:lstStyle/>
          <a:p>
            <a:pPr algn="l">
              <a:defRPr sz="1350" b="0">
                <a:solidFill>
                  <a:srgbClr val="102A43"/>
                </a:solidFill>
              </a:defRPr>
            </a:pPr>
            <a:r>
              <a:rPr sz="1350" b="0">
                <a:solidFill>
                  <a:srgbClr val="102A43"/>
                </a:solidFill>
              </a:rPr>
              <a:t>SQL language, data types, constraints, administration</a:t>
            </a:r>
          </a:p>
        </p:txBody>
      </p:sp>
      <p:sp>
        <p:nvSpPr>
          <p:cNvPr id="5" name="Rectangle 4">
            <a:extLst>
              <a:ext uri="{FF2B5EF4-FFF2-40B4-BE49-F238E27FC236}">
                <a16:creationId xmlns:a16="http://schemas.microsoft.com/office/drawing/2014/main" id="{91F23D59-D270-4A6A-8AEC-072E19AD5646}"/>
              </a:ext>
            </a:extLst>
          </p:cNvPr>
          <p:cNvSpPr>
            <a:spLocks noGrp="1"/>
          </p:cNvSpPr>
          <p:nvPr/>
        </p:nvSpPr>
        <p:spPr>
          <a:xfrm>
            <a:off x="8858250" y="1476375"/>
            <a:ext cx="2476500" cy="400050"/>
          </a:xfrm>
          <a:prstGeom prst="rect">
            <a:avLst/>
          </a:prstGeom>
          <a:noFill/>
          <a:ln w="0">
            <a:noFill/>
            <a:prstDash val="solid"/>
          </a:ln>
        </p:spPr>
        <p:txBody>
          <a:bodyPr/>
          <a:lstStyle/>
          <a:p>
            <a:pPr algn="l">
              <a:defRPr sz="1275" b="1">
                <a:solidFill>
                  <a:srgbClr val="18A6B8"/>
                </a:solidFill>
              </a:defRPr>
            </a:pPr>
            <a:r>
              <a:rPr sz="1275" b="1">
                <a:solidFill>
                  <a:srgbClr val="18A6B8"/>
                </a:solidFill>
              </a:rPr>
              <a:t>postgresql.org/docs</a:t>
            </a:r>
          </a:p>
        </p:txBody>
      </p:sp>
      <p:sp>
        <p:nvSpPr>
          <p:cNvPr id="6" name="Rectangle 5">
            <a:extLst>
              <a:ext uri="{FF2B5EF4-FFF2-40B4-BE49-F238E27FC236}">
                <a16:creationId xmlns:a16="http://schemas.microsoft.com/office/drawing/2014/main" id="{084DF784-8D99-48DB-8969-74EF084F96E5}"/>
              </a:ext>
            </a:extLst>
          </p:cNvPr>
          <p:cNvSpPr>
            <a:spLocks noGrp="1"/>
          </p:cNvSpPr>
          <p:nvPr/>
        </p:nvSpPr>
        <p:spPr>
          <a:xfrm>
            <a:off x="666750" y="2390775"/>
            <a:ext cx="2857500" cy="285750"/>
          </a:xfrm>
          <a:prstGeom prst="rect">
            <a:avLst/>
          </a:prstGeom>
          <a:noFill/>
          <a:ln w="0">
            <a:noFill/>
            <a:prstDash val="solid"/>
          </a:ln>
        </p:spPr>
        <p:txBody>
          <a:bodyPr/>
          <a:lstStyle/>
          <a:p>
            <a:pPr algn="l">
              <a:defRPr sz="1575" b="1">
                <a:solidFill>
                  <a:srgbClr val="1261A0"/>
                </a:solidFill>
              </a:defRPr>
            </a:pPr>
            <a:r>
              <a:rPr sz="1575" b="1">
                <a:solidFill>
                  <a:srgbClr val="1261A0"/>
                </a:solidFill>
              </a:rPr>
              <a:t>DBeaver documentation</a:t>
            </a:r>
          </a:p>
        </p:txBody>
      </p:sp>
      <p:sp>
        <p:nvSpPr>
          <p:cNvPr id="7" name="Rectangle 6">
            <a:extLst>
              <a:ext uri="{FF2B5EF4-FFF2-40B4-BE49-F238E27FC236}">
                <a16:creationId xmlns:a16="http://schemas.microsoft.com/office/drawing/2014/main" id="{E945D473-E2EF-461B-89F8-9D53EC29ED5F}"/>
              </a:ext>
            </a:extLst>
          </p:cNvPr>
          <p:cNvSpPr>
            <a:spLocks noGrp="1"/>
          </p:cNvSpPr>
          <p:nvPr/>
        </p:nvSpPr>
        <p:spPr>
          <a:xfrm>
            <a:off x="3714750" y="2390775"/>
            <a:ext cx="4857750" cy="457200"/>
          </a:xfrm>
          <a:prstGeom prst="rect">
            <a:avLst/>
          </a:prstGeom>
          <a:noFill/>
          <a:ln w="0">
            <a:noFill/>
            <a:prstDash val="solid"/>
          </a:ln>
        </p:spPr>
        <p:txBody>
          <a:bodyPr/>
          <a:lstStyle/>
          <a:p>
            <a:pPr algn="l">
              <a:defRPr sz="1350" b="0">
                <a:solidFill>
                  <a:srgbClr val="102A43"/>
                </a:solidFill>
              </a:defRPr>
            </a:pPr>
            <a:r>
              <a:rPr sz="1350" b="0">
                <a:solidFill>
                  <a:srgbClr val="102A43"/>
                </a:solidFill>
              </a:rPr>
              <a:t>Connections, SQL editor, data browsing and diagrams</a:t>
            </a:r>
          </a:p>
        </p:txBody>
      </p:sp>
      <p:sp>
        <p:nvSpPr>
          <p:cNvPr id="8" name="Rectangle 7">
            <a:extLst>
              <a:ext uri="{FF2B5EF4-FFF2-40B4-BE49-F238E27FC236}">
                <a16:creationId xmlns:a16="http://schemas.microsoft.com/office/drawing/2014/main" id="{316CA972-C2C4-478A-B683-0EDA837417EB}"/>
              </a:ext>
            </a:extLst>
          </p:cNvPr>
          <p:cNvSpPr>
            <a:spLocks noGrp="1"/>
          </p:cNvSpPr>
          <p:nvPr/>
        </p:nvSpPr>
        <p:spPr>
          <a:xfrm>
            <a:off x="8858250" y="2390775"/>
            <a:ext cx="2476500" cy="400050"/>
          </a:xfrm>
          <a:prstGeom prst="rect">
            <a:avLst/>
          </a:prstGeom>
          <a:noFill/>
          <a:ln w="0">
            <a:noFill/>
            <a:prstDash val="solid"/>
          </a:ln>
        </p:spPr>
        <p:txBody>
          <a:bodyPr/>
          <a:lstStyle/>
          <a:p>
            <a:pPr algn="l">
              <a:defRPr sz="1275" b="1">
                <a:solidFill>
                  <a:srgbClr val="18A6B8"/>
                </a:solidFill>
              </a:defRPr>
            </a:pPr>
            <a:r>
              <a:rPr sz="1275" b="1">
                <a:solidFill>
                  <a:srgbClr val="18A6B8"/>
                </a:solidFill>
              </a:rPr>
              <a:t>dbeaver.com/docs/dbeaver</a:t>
            </a:r>
          </a:p>
        </p:txBody>
      </p:sp>
      <p:sp>
        <p:nvSpPr>
          <p:cNvPr id="9" name="Rectangle 8">
            <a:extLst>
              <a:ext uri="{FF2B5EF4-FFF2-40B4-BE49-F238E27FC236}">
                <a16:creationId xmlns:a16="http://schemas.microsoft.com/office/drawing/2014/main" id="{FD1AEC8D-C280-465E-BFEC-AA6BBD6D9F88}"/>
              </a:ext>
            </a:extLst>
          </p:cNvPr>
          <p:cNvSpPr>
            <a:spLocks noGrp="1"/>
          </p:cNvSpPr>
          <p:nvPr/>
        </p:nvSpPr>
        <p:spPr>
          <a:xfrm>
            <a:off x="666750" y="3305175"/>
            <a:ext cx="2857500" cy="285750"/>
          </a:xfrm>
          <a:prstGeom prst="rect">
            <a:avLst/>
          </a:prstGeom>
          <a:noFill/>
          <a:ln w="0">
            <a:noFill/>
            <a:prstDash val="solid"/>
          </a:ln>
        </p:spPr>
        <p:txBody>
          <a:bodyPr/>
          <a:lstStyle/>
          <a:p>
            <a:pPr algn="l">
              <a:defRPr sz="1575" b="1">
                <a:solidFill>
                  <a:srgbClr val="1261A0"/>
                </a:solidFill>
              </a:defRPr>
            </a:pPr>
            <a:r>
              <a:rPr sz="1575" b="1">
                <a:solidFill>
                  <a:srgbClr val="1261A0"/>
                </a:solidFill>
              </a:rPr>
              <a:t>Blackboard materials</a:t>
            </a:r>
          </a:p>
        </p:txBody>
      </p:sp>
      <p:sp>
        <p:nvSpPr>
          <p:cNvPr id="10" name="Rectangle 9">
            <a:extLst>
              <a:ext uri="{FF2B5EF4-FFF2-40B4-BE49-F238E27FC236}">
                <a16:creationId xmlns:a16="http://schemas.microsoft.com/office/drawing/2014/main" id="{3464974B-B2DB-4F13-ACDC-E60A4F1AD955}"/>
              </a:ext>
            </a:extLst>
          </p:cNvPr>
          <p:cNvSpPr>
            <a:spLocks noGrp="1"/>
          </p:cNvSpPr>
          <p:nvPr/>
        </p:nvSpPr>
        <p:spPr>
          <a:xfrm>
            <a:off x="3714750" y="3305175"/>
            <a:ext cx="4857750" cy="457200"/>
          </a:xfrm>
          <a:prstGeom prst="rect">
            <a:avLst/>
          </a:prstGeom>
          <a:noFill/>
          <a:ln w="0">
            <a:noFill/>
            <a:prstDash val="solid"/>
          </a:ln>
        </p:spPr>
        <p:txBody>
          <a:bodyPr/>
          <a:lstStyle/>
          <a:p>
            <a:pPr algn="l">
              <a:defRPr sz="1350" b="0">
                <a:solidFill>
                  <a:srgbClr val="102A43"/>
                </a:solidFill>
              </a:defRPr>
            </a:pPr>
            <a:r>
              <a:rPr sz="1350" b="0">
                <a:solidFill>
                  <a:srgbClr val="102A43"/>
                </a:solidFill>
              </a:rPr>
              <a:t>Unit-specific slides, tutorials, assessment instructions</a:t>
            </a:r>
          </a:p>
        </p:txBody>
      </p:sp>
      <p:sp>
        <p:nvSpPr>
          <p:cNvPr id="11" name="Rectangle 10">
            <a:extLst>
              <a:ext uri="{FF2B5EF4-FFF2-40B4-BE49-F238E27FC236}">
                <a16:creationId xmlns:a16="http://schemas.microsoft.com/office/drawing/2014/main" id="{EEFEEF63-8F20-4732-B552-CB576C0AC502}"/>
              </a:ext>
            </a:extLst>
          </p:cNvPr>
          <p:cNvSpPr>
            <a:spLocks noGrp="1"/>
          </p:cNvSpPr>
          <p:nvPr/>
        </p:nvSpPr>
        <p:spPr>
          <a:xfrm>
            <a:off x="8858250" y="3305175"/>
            <a:ext cx="2476500" cy="400050"/>
          </a:xfrm>
          <a:prstGeom prst="rect">
            <a:avLst/>
          </a:prstGeom>
          <a:noFill/>
          <a:ln w="0">
            <a:noFill/>
            <a:prstDash val="solid"/>
          </a:ln>
        </p:spPr>
        <p:txBody>
          <a:bodyPr/>
          <a:lstStyle/>
          <a:p>
            <a:pPr algn="l">
              <a:defRPr sz="1275" b="1">
                <a:solidFill>
                  <a:srgbClr val="18A6B8"/>
                </a:solidFill>
              </a:defRPr>
            </a:pPr>
            <a:r>
              <a:rPr sz="1275" b="1">
                <a:solidFill>
                  <a:srgbClr val="18A6B8"/>
                </a:solidFill>
              </a:rPr>
              <a:t>Your HI5033 site</a:t>
            </a:r>
          </a:p>
        </p:txBody>
      </p:sp>
      <p:sp>
        <p:nvSpPr>
          <p:cNvPr id="12" name="Rectangle 11">
            <a:extLst>
              <a:ext uri="{FF2B5EF4-FFF2-40B4-BE49-F238E27FC236}">
                <a16:creationId xmlns:a16="http://schemas.microsoft.com/office/drawing/2014/main" id="{811BDD96-41B3-4705-9245-916A3F0DE92B}"/>
              </a:ext>
            </a:extLst>
          </p:cNvPr>
          <p:cNvSpPr>
            <a:spLocks noGrp="1"/>
          </p:cNvSpPr>
          <p:nvPr/>
        </p:nvSpPr>
        <p:spPr>
          <a:xfrm>
            <a:off x="666750" y="4219575"/>
            <a:ext cx="2857500" cy="285750"/>
          </a:xfrm>
          <a:prstGeom prst="rect">
            <a:avLst/>
          </a:prstGeom>
          <a:noFill/>
          <a:ln w="0">
            <a:noFill/>
            <a:prstDash val="solid"/>
          </a:ln>
        </p:spPr>
        <p:txBody>
          <a:bodyPr/>
          <a:lstStyle/>
          <a:p>
            <a:pPr algn="l">
              <a:defRPr sz="1575" b="1">
                <a:solidFill>
                  <a:srgbClr val="1261A0"/>
                </a:solidFill>
              </a:defRPr>
            </a:pPr>
            <a:r>
              <a:rPr sz="1575" b="1">
                <a:solidFill>
                  <a:srgbClr val="1261A0"/>
                </a:solidFill>
              </a:rPr>
              <a:t>Academic databases</a:t>
            </a:r>
          </a:p>
        </p:txBody>
      </p:sp>
      <p:sp>
        <p:nvSpPr>
          <p:cNvPr id="13" name="Rectangle 12">
            <a:extLst>
              <a:ext uri="{FF2B5EF4-FFF2-40B4-BE49-F238E27FC236}">
                <a16:creationId xmlns:a16="http://schemas.microsoft.com/office/drawing/2014/main" id="{7BDE8102-6EED-4A4C-8000-9CD741EFA885}"/>
              </a:ext>
            </a:extLst>
          </p:cNvPr>
          <p:cNvSpPr>
            <a:spLocks noGrp="1"/>
          </p:cNvSpPr>
          <p:nvPr/>
        </p:nvSpPr>
        <p:spPr>
          <a:xfrm>
            <a:off x="3714750" y="4219575"/>
            <a:ext cx="4857750" cy="457200"/>
          </a:xfrm>
          <a:prstGeom prst="rect">
            <a:avLst/>
          </a:prstGeom>
          <a:noFill/>
          <a:ln w="0">
            <a:noFill/>
            <a:prstDash val="solid"/>
          </a:ln>
        </p:spPr>
        <p:txBody>
          <a:bodyPr/>
          <a:lstStyle/>
          <a:p>
            <a:pPr algn="l">
              <a:defRPr sz="1350" b="0">
                <a:solidFill>
                  <a:srgbClr val="102A43"/>
                </a:solidFill>
              </a:defRPr>
            </a:pPr>
            <a:r>
              <a:rPr sz="1350" b="0">
                <a:solidFill>
                  <a:srgbClr val="102A43"/>
                </a:solidFill>
              </a:rPr>
              <a:t>Peer-reviewed literature for the research paper</a:t>
            </a:r>
          </a:p>
        </p:txBody>
      </p:sp>
      <p:sp>
        <p:nvSpPr>
          <p:cNvPr id="14" name="Rectangle 13">
            <a:extLst>
              <a:ext uri="{FF2B5EF4-FFF2-40B4-BE49-F238E27FC236}">
                <a16:creationId xmlns:a16="http://schemas.microsoft.com/office/drawing/2014/main" id="{096149EC-F3AF-4BB0-B5A0-882B0C797940}"/>
              </a:ext>
            </a:extLst>
          </p:cNvPr>
          <p:cNvSpPr>
            <a:spLocks noGrp="1"/>
          </p:cNvSpPr>
          <p:nvPr/>
        </p:nvSpPr>
        <p:spPr>
          <a:xfrm>
            <a:off x="8858250" y="4219575"/>
            <a:ext cx="2476500" cy="400050"/>
          </a:xfrm>
          <a:prstGeom prst="rect">
            <a:avLst/>
          </a:prstGeom>
          <a:noFill/>
          <a:ln w="0">
            <a:noFill/>
            <a:prstDash val="solid"/>
          </a:ln>
        </p:spPr>
        <p:txBody>
          <a:bodyPr/>
          <a:lstStyle/>
          <a:p>
            <a:pPr algn="l">
              <a:defRPr sz="1275" b="1">
                <a:solidFill>
                  <a:srgbClr val="18A6B8"/>
                </a:solidFill>
              </a:defRPr>
            </a:pPr>
            <a:r>
              <a:rPr sz="1275" b="1">
                <a:solidFill>
                  <a:srgbClr val="18A6B8"/>
                </a:solidFill>
              </a:rPr>
              <a:t>Holmes Library</a:t>
            </a:r>
          </a:p>
        </p:txBody>
      </p:sp>
      <p:sp>
        <p:nvSpPr>
          <p:cNvPr id="15" name="Rectangle 14">
            <a:extLst>
              <a:ext uri="{FF2B5EF4-FFF2-40B4-BE49-F238E27FC236}">
                <a16:creationId xmlns:a16="http://schemas.microsoft.com/office/drawing/2014/main" id="{A712B979-9A37-486E-BF3F-B14644BD039C}"/>
              </a:ext>
            </a:extLst>
          </p:cNvPr>
          <p:cNvSpPr>
            <a:spLocks noGrp="1"/>
          </p:cNvSpPr>
          <p:nvPr/>
        </p:nvSpPr>
        <p:spPr>
          <a:xfrm>
            <a:off x="666750" y="5133975"/>
            <a:ext cx="2857500" cy="285750"/>
          </a:xfrm>
          <a:prstGeom prst="rect">
            <a:avLst/>
          </a:prstGeom>
          <a:noFill/>
          <a:ln w="0">
            <a:noFill/>
            <a:prstDash val="solid"/>
          </a:ln>
        </p:spPr>
        <p:txBody>
          <a:bodyPr/>
          <a:lstStyle/>
          <a:p>
            <a:pPr algn="l">
              <a:defRPr sz="1575" b="1">
                <a:solidFill>
                  <a:srgbClr val="1261A0"/>
                </a:solidFill>
              </a:defRPr>
            </a:pPr>
            <a:r>
              <a:rPr sz="1575" b="1">
                <a:solidFill>
                  <a:srgbClr val="1261A0"/>
                </a:solidFill>
              </a:rPr>
              <a:t>Practice platforms</a:t>
            </a:r>
          </a:p>
        </p:txBody>
      </p:sp>
      <p:sp>
        <p:nvSpPr>
          <p:cNvPr id="16" name="Rectangle 15">
            <a:extLst>
              <a:ext uri="{FF2B5EF4-FFF2-40B4-BE49-F238E27FC236}">
                <a16:creationId xmlns:a16="http://schemas.microsoft.com/office/drawing/2014/main" id="{8515D29B-634C-43EF-8B7B-A96A3490D6D8}"/>
              </a:ext>
            </a:extLst>
          </p:cNvPr>
          <p:cNvSpPr>
            <a:spLocks noGrp="1"/>
          </p:cNvSpPr>
          <p:nvPr/>
        </p:nvSpPr>
        <p:spPr>
          <a:xfrm>
            <a:off x="3714750" y="5133975"/>
            <a:ext cx="4857750" cy="457200"/>
          </a:xfrm>
          <a:prstGeom prst="rect">
            <a:avLst/>
          </a:prstGeom>
          <a:noFill/>
          <a:ln w="0">
            <a:noFill/>
            <a:prstDash val="solid"/>
          </a:ln>
        </p:spPr>
        <p:txBody>
          <a:bodyPr/>
          <a:lstStyle/>
          <a:p>
            <a:pPr algn="l">
              <a:defRPr sz="1350" b="0">
                <a:solidFill>
                  <a:srgbClr val="102A43"/>
                </a:solidFill>
              </a:defRPr>
            </a:pPr>
            <a:r>
              <a:rPr sz="1350" b="0">
                <a:solidFill>
                  <a:srgbClr val="102A43"/>
                </a:solidFill>
              </a:rPr>
              <a:t>Optional SQL drills after learning PostgreSQL syntax</a:t>
            </a:r>
          </a:p>
        </p:txBody>
      </p:sp>
      <p:sp>
        <p:nvSpPr>
          <p:cNvPr id="17" name="Rectangle 16">
            <a:extLst>
              <a:ext uri="{FF2B5EF4-FFF2-40B4-BE49-F238E27FC236}">
                <a16:creationId xmlns:a16="http://schemas.microsoft.com/office/drawing/2014/main" id="{079CB844-FEE4-4442-9C69-FB50E66E7562}"/>
              </a:ext>
            </a:extLst>
          </p:cNvPr>
          <p:cNvSpPr>
            <a:spLocks noGrp="1"/>
          </p:cNvSpPr>
          <p:nvPr/>
        </p:nvSpPr>
        <p:spPr>
          <a:xfrm>
            <a:off x="8858250" y="5133975"/>
            <a:ext cx="2476500" cy="400050"/>
          </a:xfrm>
          <a:prstGeom prst="rect">
            <a:avLst/>
          </a:prstGeom>
          <a:noFill/>
          <a:ln w="0">
            <a:noFill/>
            <a:prstDash val="solid"/>
          </a:ln>
        </p:spPr>
        <p:txBody>
          <a:bodyPr/>
          <a:lstStyle/>
          <a:p>
            <a:pPr algn="l">
              <a:defRPr sz="1275" b="1">
                <a:solidFill>
                  <a:srgbClr val="18A6B8"/>
                </a:solidFill>
              </a:defRPr>
            </a:pPr>
            <a:r>
              <a:rPr sz="1275" b="1">
                <a:solidFill>
                  <a:srgbClr val="18A6B8"/>
                </a:solidFill>
              </a:rPr>
              <a:t>SQLBolt / HackerRank SQL</a:t>
            </a:r>
          </a:p>
        </p:txBody>
      </p:sp>
      <p:sp>
        <p:nvSpPr>
          <p:cNvPr id="18" name="Rectangle 17">
            <a:extLst>
              <a:ext uri="{FF2B5EF4-FFF2-40B4-BE49-F238E27FC236}">
                <a16:creationId xmlns:a16="http://schemas.microsoft.com/office/drawing/2014/main" id="{2F9AC306-9595-41A1-B181-4357351D3702}"/>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21</a:t>
            </a:r>
          </a:p>
        </p:txBody>
      </p:sp>
    </p:spTree>
    <p:extLst>
      <p:ext uri="{BB962C8B-B14F-4D97-AF65-F5344CB8AC3E}">
        <p14:creationId xmlns:p14="http://schemas.microsoft.com/office/powerpoint/2010/main" val="612301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829523-20DB-454C-872E-4AEEE4BC18AB}"/>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Certifications can extend—but do not replace—your portfolio</a:t>
            </a:r>
          </a:p>
        </p:txBody>
      </p:sp>
      <p:sp>
        <p:nvSpPr>
          <p:cNvPr id="2" name="Rectangle 1">
            <a:extLst>
              <a:ext uri="{FF2B5EF4-FFF2-40B4-BE49-F238E27FC236}">
                <a16:creationId xmlns:a16="http://schemas.microsoft.com/office/drawing/2014/main" id="{19DF55B2-76D5-4285-9677-E74B2F95E7B4}"/>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A17CA274-1D4C-454E-952A-4C0B19A31119}"/>
              </a:ext>
            </a:extLst>
          </p:cNvPr>
          <p:cNvSpPr>
            <a:spLocks noGrp="1"/>
          </p:cNvSpPr>
          <p:nvPr/>
        </p:nvSpPr>
        <p:spPr>
          <a:xfrm>
            <a:off x="685800" y="1524000"/>
            <a:ext cx="4524375" cy="495300"/>
          </a:xfrm>
          <a:prstGeom prst="rect">
            <a:avLst/>
          </a:prstGeom>
          <a:noFill/>
          <a:ln w="0">
            <a:noFill/>
            <a:prstDash val="solid"/>
          </a:ln>
        </p:spPr>
        <p:txBody>
          <a:bodyPr/>
          <a:lstStyle/>
          <a:p>
            <a:pPr algn="l">
              <a:defRPr sz="1575" b="1">
                <a:solidFill>
                  <a:srgbClr val="1261A0"/>
                </a:solidFill>
              </a:defRPr>
            </a:pPr>
            <a:r>
              <a:rPr sz="1575" b="1">
                <a:solidFill>
                  <a:srgbClr val="1261A0"/>
                </a:solidFill>
              </a:rPr>
              <a:t>Microsoft Azure Database Administrator Associate</a:t>
            </a:r>
          </a:p>
        </p:txBody>
      </p:sp>
      <p:sp>
        <p:nvSpPr>
          <p:cNvPr id="4" name="Rectangle 3">
            <a:extLst>
              <a:ext uri="{FF2B5EF4-FFF2-40B4-BE49-F238E27FC236}">
                <a16:creationId xmlns:a16="http://schemas.microsoft.com/office/drawing/2014/main" id="{EFC9AE57-D539-43D3-85BE-151439075DE8}"/>
              </a:ext>
            </a:extLst>
          </p:cNvPr>
          <p:cNvSpPr>
            <a:spLocks noGrp="1"/>
          </p:cNvSpPr>
          <p:nvPr/>
        </p:nvSpPr>
        <p:spPr>
          <a:xfrm>
            <a:off x="5476875" y="1524000"/>
            <a:ext cx="5762625" cy="590550"/>
          </a:xfrm>
          <a:prstGeom prst="rect">
            <a:avLst/>
          </a:prstGeom>
          <a:noFill/>
          <a:ln w="0">
            <a:noFill/>
            <a:prstDash val="solid"/>
          </a:ln>
        </p:spPr>
        <p:txBody>
          <a:bodyPr/>
          <a:lstStyle/>
          <a:p>
            <a:pPr algn="l">
              <a:defRPr sz="1350" b="0">
                <a:solidFill>
                  <a:srgbClr val="526777"/>
                </a:solidFill>
              </a:defRPr>
            </a:pPr>
            <a:r>
              <a:rPr sz="1350" b="0">
                <a:solidFill>
                  <a:srgbClr val="526777"/>
                </a:solidFill>
              </a:rPr>
              <a:t>Intermediate cloud/on-premises database administration; exam DP-300.</a:t>
            </a:r>
          </a:p>
        </p:txBody>
      </p:sp>
      <p:sp>
        <p:nvSpPr>
          <p:cNvPr id="5" name="Rectangle 4">
            <a:extLst>
              <a:ext uri="{FF2B5EF4-FFF2-40B4-BE49-F238E27FC236}">
                <a16:creationId xmlns:a16="http://schemas.microsoft.com/office/drawing/2014/main" id="{786A7F94-9D57-46E5-9DA4-461E95216512}"/>
              </a:ext>
            </a:extLst>
          </p:cNvPr>
          <p:cNvSpPr>
            <a:spLocks noGrp="1"/>
          </p:cNvSpPr>
          <p:nvPr/>
        </p:nvSpPr>
        <p:spPr>
          <a:xfrm>
            <a:off x="685800" y="2590800"/>
            <a:ext cx="4524375" cy="495300"/>
          </a:xfrm>
          <a:prstGeom prst="rect">
            <a:avLst/>
          </a:prstGeom>
          <a:noFill/>
          <a:ln w="0">
            <a:noFill/>
            <a:prstDash val="solid"/>
          </a:ln>
        </p:spPr>
        <p:txBody>
          <a:bodyPr/>
          <a:lstStyle/>
          <a:p>
            <a:pPr algn="l">
              <a:defRPr sz="1575" b="1">
                <a:solidFill>
                  <a:srgbClr val="102A43"/>
                </a:solidFill>
              </a:defRPr>
            </a:pPr>
            <a:r>
              <a:rPr sz="1575" b="1">
                <a:solidFill>
                  <a:srgbClr val="102A43"/>
                </a:solidFill>
              </a:rPr>
              <a:t>MongoDB Associate Database Administrator</a:t>
            </a:r>
          </a:p>
        </p:txBody>
      </p:sp>
      <p:sp>
        <p:nvSpPr>
          <p:cNvPr id="6" name="Rectangle 5">
            <a:extLst>
              <a:ext uri="{FF2B5EF4-FFF2-40B4-BE49-F238E27FC236}">
                <a16:creationId xmlns:a16="http://schemas.microsoft.com/office/drawing/2014/main" id="{FBFFF831-8E15-4A2F-85FF-FD9031D77A35}"/>
              </a:ext>
            </a:extLst>
          </p:cNvPr>
          <p:cNvSpPr>
            <a:spLocks noGrp="1"/>
          </p:cNvSpPr>
          <p:nvPr/>
        </p:nvSpPr>
        <p:spPr>
          <a:xfrm>
            <a:off x="5476875" y="2590800"/>
            <a:ext cx="5762625" cy="590550"/>
          </a:xfrm>
          <a:prstGeom prst="rect">
            <a:avLst/>
          </a:prstGeom>
          <a:noFill/>
          <a:ln w="0">
            <a:noFill/>
            <a:prstDash val="solid"/>
          </a:ln>
        </p:spPr>
        <p:txBody>
          <a:bodyPr/>
          <a:lstStyle/>
          <a:p>
            <a:pPr algn="l">
              <a:defRPr sz="1350" b="0">
                <a:solidFill>
                  <a:srgbClr val="526777"/>
                </a:solidFill>
              </a:defRPr>
            </a:pPr>
            <a:r>
              <a:rPr sz="1350" b="0">
                <a:solidFill>
                  <a:srgbClr val="526777"/>
                </a:solidFill>
              </a:rPr>
              <a:t>NoSQL administration; useful after the distributed/NoSQL topic.</a:t>
            </a:r>
          </a:p>
        </p:txBody>
      </p:sp>
      <p:sp>
        <p:nvSpPr>
          <p:cNvPr id="7" name="Rectangle 6">
            <a:extLst>
              <a:ext uri="{FF2B5EF4-FFF2-40B4-BE49-F238E27FC236}">
                <a16:creationId xmlns:a16="http://schemas.microsoft.com/office/drawing/2014/main" id="{BBF61508-BEF6-4222-9671-28FFE6D6CC64}"/>
              </a:ext>
            </a:extLst>
          </p:cNvPr>
          <p:cNvSpPr>
            <a:spLocks noGrp="1"/>
          </p:cNvSpPr>
          <p:nvPr/>
        </p:nvSpPr>
        <p:spPr>
          <a:xfrm>
            <a:off x="685800" y="3657600"/>
            <a:ext cx="4524375" cy="495300"/>
          </a:xfrm>
          <a:prstGeom prst="rect">
            <a:avLst/>
          </a:prstGeom>
          <a:noFill/>
          <a:ln w="0">
            <a:noFill/>
            <a:prstDash val="solid"/>
          </a:ln>
        </p:spPr>
        <p:txBody>
          <a:bodyPr/>
          <a:lstStyle/>
          <a:p>
            <a:pPr algn="l">
              <a:defRPr sz="1575" b="1">
                <a:solidFill>
                  <a:srgbClr val="102A43"/>
                </a:solidFill>
              </a:defRPr>
            </a:pPr>
            <a:r>
              <a:rPr sz="1575" b="1">
                <a:solidFill>
                  <a:srgbClr val="102A43"/>
                </a:solidFill>
              </a:rPr>
              <a:t>EDB PostgreSQL / EDB Associate pathways</a:t>
            </a:r>
          </a:p>
        </p:txBody>
      </p:sp>
      <p:sp>
        <p:nvSpPr>
          <p:cNvPr id="8" name="Rectangle 7">
            <a:extLst>
              <a:ext uri="{FF2B5EF4-FFF2-40B4-BE49-F238E27FC236}">
                <a16:creationId xmlns:a16="http://schemas.microsoft.com/office/drawing/2014/main" id="{BBBA11C8-B18A-4277-A67E-77DE17E21752}"/>
              </a:ext>
            </a:extLst>
          </p:cNvPr>
          <p:cNvSpPr>
            <a:spLocks noGrp="1"/>
          </p:cNvSpPr>
          <p:nvPr/>
        </p:nvSpPr>
        <p:spPr>
          <a:xfrm>
            <a:off x="5476875" y="3657600"/>
            <a:ext cx="5762625" cy="590550"/>
          </a:xfrm>
          <a:prstGeom prst="rect">
            <a:avLst/>
          </a:prstGeom>
          <a:noFill/>
          <a:ln w="0">
            <a:noFill/>
            <a:prstDash val="solid"/>
          </a:ln>
        </p:spPr>
        <p:txBody>
          <a:bodyPr/>
          <a:lstStyle/>
          <a:p>
            <a:pPr algn="l">
              <a:defRPr sz="1350" b="0">
                <a:solidFill>
                  <a:srgbClr val="526777"/>
                </a:solidFill>
              </a:defRPr>
            </a:pPr>
            <a:r>
              <a:rPr sz="1350" b="0">
                <a:solidFill>
                  <a:srgbClr val="526777"/>
                </a:solidFill>
              </a:rPr>
              <a:t>Postgres-focused training and certification; verify the current version before purchasing.</a:t>
            </a:r>
          </a:p>
        </p:txBody>
      </p:sp>
      <p:sp>
        <p:nvSpPr>
          <p:cNvPr id="9" name="Rectangle 8">
            <a:extLst>
              <a:ext uri="{FF2B5EF4-FFF2-40B4-BE49-F238E27FC236}">
                <a16:creationId xmlns:a16="http://schemas.microsoft.com/office/drawing/2014/main" id="{293CEFF3-8294-4915-88B5-13EB675CA831}"/>
              </a:ext>
            </a:extLst>
          </p:cNvPr>
          <p:cNvSpPr>
            <a:spLocks noGrp="1"/>
          </p:cNvSpPr>
          <p:nvPr/>
        </p:nvSpPr>
        <p:spPr>
          <a:xfrm>
            <a:off x="685800" y="4724400"/>
            <a:ext cx="4524375" cy="495300"/>
          </a:xfrm>
          <a:prstGeom prst="rect">
            <a:avLst/>
          </a:prstGeom>
          <a:noFill/>
          <a:ln w="0">
            <a:noFill/>
            <a:prstDash val="solid"/>
          </a:ln>
        </p:spPr>
        <p:txBody>
          <a:bodyPr/>
          <a:lstStyle/>
          <a:p>
            <a:pPr algn="l">
              <a:defRPr sz="1575" b="1">
                <a:solidFill>
                  <a:srgbClr val="102A43"/>
                </a:solidFill>
              </a:defRPr>
            </a:pPr>
            <a:r>
              <a:rPr sz="1575" b="1">
                <a:solidFill>
                  <a:srgbClr val="102A43"/>
                </a:solidFill>
              </a:rPr>
              <a:t>Oracle Database certifications</a:t>
            </a:r>
          </a:p>
        </p:txBody>
      </p:sp>
      <p:sp>
        <p:nvSpPr>
          <p:cNvPr id="10" name="Rectangle 9">
            <a:extLst>
              <a:ext uri="{FF2B5EF4-FFF2-40B4-BE49-F238E27FC236}">
                <a16:creationId xmlns:a16="http://schemas.microsoft.com/office/drawing/2014/main" id="{3E6125BC-02FD-4C5F-9E3E-75334C300D55}"/>
              </a:ext>
            </a:extLst>
          </p:cNvPr>
          <p:cNvSpPr>
            <a:spLocks noGrp="1"/>
          </p:cNvSpPr>
          <p:nvPr/>
        </p:nvSpPr>
        <p:spPr>
          <a:xfrm>
            <a:off x="5476875" y="4724400"/>
            <a:ext cx="5762625" cy="590550"/>
          </a:xfrm>
          <a:prstGeom prst="rect">
            <a:avLst/>
          </a:prstGeom>
          <a:noFill/>
          <a:ln w="0">
            <a:noFill/>
            <a:prstDash val="solid"/>
          </a:ln>
        </p:spPr>
        <p:txBody>
          <a:bodyPr/>
          <a:lstStyle/>
          <a:p>
            <a:pPr algn="l">
              <a:defRPr sz="1350" b="0">
                <a:solidFill>
                  <a:srgbClr val="526777"/>
                </a:solidFill>
              </a:defRPr>
            </a:pPr>
            <a:r>
              <a:rPr sz="1350" b="0">
                <a:solidFill>
                  <a:srgbClr val="526777"/>
                </a:solidFill>
              </a:rPr>
              <a:t>Relevant where employers use Oracle; choose only after checking target roles.</a:t>
            </a:r>
          </a:p>
        </p:txBody>
      </p:sp>
      <p:sp>
        <p:nvSpPr>
          <p:cNvPr id="11" name="Rectangle 10">
            <a:extLst>
              <a:ext uri="{FF2B5EF4-FFF2-40B4-BE49-F238E27FC236}">
                <a16:creationId xmlns:a16="http://schemas.microsoft.com/office/drawing/2014/main" id="{C54501C6-4D0F-42E8-8712-8602045E9E42}"/>
              </a:ext>
            </a:extLst>
          </p:cNvPr>
          <p:cNvSpPr>
            <a:spLocks noGrp="1"/>
          </p:cNvSpPr>
          <p:nvPr/>
        </p:nvSpPr>
        <p:spPr>
          <a:xfrm>
            <a:off x="1143000" y="5810250"/>
            <a:ext cx="9906000" cy="333375"/>
          </a:xfrm>
          <a:prstGeom prst="rect">
            <a:avLst/>
          </a:prstGeom>
          <a:noFill/>
          <a:ln w="0">
            <a:noFill/>
            <a:prstDash val="solid"/>
          </a:ln>
        </p:spPr>
        <p:txBody>
          <a:bodyPr/>
          <a:lstStyle/>
          <a:p>
            <a:pPr algn="ctr">
              <a:defRPr sz="1425" b="1">
                <a:solidFill>
                  <a:srgbClr val="17845C"/>
                </a:solidFill>
              </a:defRPr>
            </a:pPr>
            <a:r>
              <a:rPr sz="1425" b="1">
                <a:solidFill>
                  <a:srgbClr val="17845C"/>
                </a:solidFill>
              </a:rPr>
              <a:t>Best first evidence: a clean ER model + executable schema + tested queries + a concise README.</a:t>
            </a:r>
          </a:p>
        </p:txBody>
      </p:sp>
      <p:sp>
        <p:nvSpPr>
          <p:cNvPr id="12" name="Rectangle 11">
            <a:extLst>
              <a:ext uri="{FF2B5EF4-FFF2-40B4-BE49-F238E27FC236}">
                <a16:creationId xmlns:a16="http://schemas.microsoft.com/office/drawing/2014/main" id="{EB93306A-61AF-4C82-B975-17F269F3B80B}"/>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22</a:t>
            </a:r>
          </a:p>
        </p:txBody>
      </p:sp>
    </p:spTree>
    <p:extLst>
      <p:ext uri="{BB962C8B-B14F-4D97-AF65-F5344CB8AC3E}">
        <p14:creationId xmlns:p14="http://schemas.microsoft.com/office/powerpoint/2010/main" val="2089244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E61E685-7266-4A55-A81B-FE8EE98B9888}"/>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Questions students often ask</a:t>
            </a:r>
          </a:p>
        </p:txBody>
      </p:sp>
      <p:sp>
        <p:nvSpPr>
          <p:cNvPr id="2" name="Rectangle 1">
            <a:extLst>
              <a:ext uri="{FF2B5EF4-FFF2-40B4-BE49-F238E27FC236}">
                <a16:creationId xmlns:a16="http://schemas.microsoft.com/office/drawing/2014/main" id="{A77324A3-FEC5-47F8-99CA-17A715098461}"/>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7D9A1E8F-7F34-469F-BDDA-1AAF139C54EB}"/>
              </a:ext>
            </a:extLst>
          </p:cNvPr>
          <p:cNvSpPr>
            <a:spLocks noGrp="1"/>
          </p:cNvSpPr>
          <p:nvPr/>
        </p:nvSpPr>
        <p:spPr>
          <a:xfrm>
            <a:off x="666750" y="1428750"/>
            <a:ext cx="5000625" cy="342900"/>
          </a:xfrm>
          <a:prstGeom prst="rect">
            <a:avLst/>
          </a:prstGeom>
          <a:noFill/>
          <a:ln w="0">
            <a:noFill/>
            <a:prstDash val="solid"/>
          </a:ln>
        </p:spPr>
        <p:txBody>
          <a:bodyPr/>
          <a:lstStyle/>
          <a:p>
            <a:pPr algn="l">
              <a:defRPr sz="1500" b="1">
                <a:solidFill>
                  <a:srgbClr val="1261A0"/>
                </a:solidFill>
              </a:defRPr>
            </a:pPr>
            <a:r>
              <a:rPr sz="1500" b="1">
                <a:solidFill>
                  <a:srgbClr val="1261A0"/>
                </a:solidFill>
              </a:rPr>
              <a:t>Do I need previous SQL experience?</a:t>
            </a:r>
          </a:p>
        </p:txBody>
      </p:sp>
      <p:sp>
        <p:nvSpPr>
          <p:cNvPr id="4" name="Rectangle 3">
            <a:extLst>
              <a:ext uri="{FF2B5EF4-FFF2-40B4-BE49-F238E27FC236}">
                <a16:creationId xmlns:a16="http://schemas.microsoft.com/office/drawing/2014/main" id="{3DA1ADE2-CDBD-4C82-AF42-1B7CE48A2B3E}"/>
              </a:ext>
            </a:extLst>
          </p:cNvPr>
          <p:cNvSpPr>
            <a:spLocks noGrp="1"/>
          </p:cNvSpPr>
          <p:nvPr/>
        </p:nvSpPr>
        <p:spPr>
          <a:xfrm>
            <a:off x="666750" y="1866900"/>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No. We begin with foundations, but regular practice is essential.</a:t>
            </a:r>
          </a:p>
        </p:txBody>
      </p:sp>
      <p:sp>
        <p:nvSpPr>
          <p:cNvPr id="5" name="Rectangle 4">
            <a:extLst>
              <a:ext uri="{FF2B5EF4-FFF2-40B4-BE49-F238E27FC236}">
                <a16:creationId xmlns:a16="http://schemas.microsoft.com/office/drawing/2014/main" id="{A89CBE48-42F6-4480-9E67-E2F6A5C48C62}"/>
              </a:ext>
            </a:extLst>
          </p:cNvPr>
          <p:cNvSpPr>
            <a:spLocks noGrp="1"/>
          </p:cNvSpPr>
          <p:nvPr/>
        </p:nvSpPr>
        <p:spPr>
          <a:xfrm>
            <a:off x="6286500" y="1428750"/>
            <a:ext cx="5000625" cy="342900"/>
          </a:xfrm>
          <a:prstGeom prst="rect">
            <a:avLst/>
          </a:prstGeom>
          <a:noFill/>
          <a:ln w="0">
            <a:noFill/>
            <a:prstDash val="solid"/>
          </a:ln>
        </p:spPr>
        <p:txBody>
          <a:bodyPr/>
          <a:lstStyle/>
          <a:p>
            <a:pPr algn="l">
              <a:defRPr sz="1500" b="1">
                <a:solidFill>
                  <a:srgbClr val="18A6B8"/>
                </a:solidFill>
              </a:defRPr>
            </a:pPr>
            <a:r>
              <a:rPr sz="1500" b="1">
                <a:solidFill>
                  <a:srgbClr val="18A6B8"/>
                </a:solidFill>
              </a:rPr>
              <a:t>Can I use MySQL instead?</a:t>
            </a:r>
          </a:p>
        </p:txBody>
      </p:sp>
      <p:sp>
        <p:nvSpPr>
          <p:cNvPr id="6" name="Rectangle 5">
            <a:extLst>
              <a:ext uri="{FF2B5EF4-FFF2-40B4-BE49-F238E27FC236}">
                <a16:creationId xmlns:a16="http://schemas.microsoft.com/office/drawing/2014/main" id="{7438BD3C-C9EA-4ACC-B7F6-93FF9E6BC2C5}"/>
              </a:ext>
            </a:extLst>
          </p:cNvPr>
          <p:cNvSpPr>
            <a:spLocks noGrp="1"/>
          </p:cNvSpPr>
          <p:nvPr/>
        </p:nvSpPr>
        <p:spPr>
          <a:xfrm>
            <a:off x="6286500" y="1866900"/>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Use PostgreSQL and DBeaver for class and assessment unless written instructions permit another DBMS.</a:t>
            </a:r>
          </a:p>
        </p:txBody>
      </p:sp>
      <p:sp>
        <p:nvSpPr>
          <p:cNvPr id="7" name="Rectangle 6">
            <a:extLst>
              <a:ext uri="{FF2B5EF4-FFF2-40B4-BE49-F238E27FC236}">
                <a16:creationId xmlns:a16="http://schemas.microsoft.com/office/drawing/2014/main" id="{7FC7B05C-6FE8-42F7-B7CB-C19DAE2CC38D}"/>
              </a:ext>
            </a:extLst>
          </p:cNvPr>
          <p:cNvSpPr>
            <a:spLocks noGrp="1"/>
          </p:cNvSpPr>
          <p:nvPr/>
        </p:nvSpPr>
        <p:spPr>
          <a:xfrm>
            <a:off x="666750" y="3000375"/>
            <a:ext cx="5000625" cy="342900"/>
          </a:xfrm>
          <a:prstGeom prst="rect">
            <a:avLst/>
          </a:prstGeom>
          <a:noFill/>
          <a:ln w="0">
            <a:noFill/>
            <a:prstDash val="solid"/>
          </a:ln>
        </p:spPr>
        <p:txBody>
          <a:bodyPr/>
          <a:lstStyle/>
          <a:p>
            <a:pPr algn="l">
              <a:defRPr sz="1500" b="1">
                <a:solidFill>
                  <a:srgbClr val="1261A0"/>
                </a:solidFill>
              </a:defRPr>
            </a:pPr>
            <a:r>
              <a:rPr sz="1500" b="1">
                <a:solidFill>
                  <a:srgbClr val="1261A0"/>
                </a:solidFill>
              </a:rPr>
              <a:t>Where are the test dates?</a:t>
            </a:r>
          </a:p>
        </p:txBody>
      </p:sp>
      <p:sp>
        <p:nvSpPr>
          <p:cNvPr id="8" name="Rectangle 7">
            <a:extLst>
              <a:ext uri="{FF2B5EF4-FFF2-40B4-BE49-F238E27FC236}">
                <a16:creationId xmlns:a16="http://schemas.microsoft.com/office/drawing/2014/main" id="{9FA3D977-6F95-4556-B2FF-B5EEE69C0C50}"/>
              </a:ext>
            </a:extLst>
          </p:cNvPr>
          <p:cNvSpPr>
            <a:spLocks noGrp="1"/>
          </p:cNvSpPr>
          <p:nvPr/>
        </p:nvSpPr>
        <p:spPr>
          <a:xfrm>
            <a:off x="666750" y="3438525"/>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Check the current Blackboard assessment folder and announcements.</a:t>
            </a:r>
          </a:p>
        </p:txBody>
      </p:sp>
      <p:sp>
        <p:nvSpPr>
          <p:cNvPr id="9" name="Rectangle 8">
            <a:extLst>
              <a:ext uri="{FF2B5EF4-FFF2-40B4-BE49-F238E27FC236}">
                <a16:creationId xmlns:a16="http://schemas.microsoft.com/office/drawing/2014/main" id="{9401C033-6F9C-459E-8ED8-32A6AD533535}"/>
              </a:ext>
            </a:extLst>
          </p:cNvPr>
          <p:cNvSpPr>
            <a:spLocks noGrp="1"/>
          </p:cNvSpPr>
          <p:nvPr/>
        </p:nvSpPr>
        <p:spPr>
          <a:xfrm>
            <a:off x="6286500" y="3000375"/>
            <a:ext cx="5000625" cy="342900"/>
          </a:xfrm>
          <a:prstGeom prst="rect">
            <a:avLst/>
          </a:prstGeom>
          <a:noFill/>
          <a:ln w="0">
            <a:noFill/>
            <a:prstDash val="solid"/>
          </a:ln>
        </p:spPr>
        <p:txBody>
          <a:bodyPr/>
          <a:lstStyle/>
          <a:p>
            <a:pPr algn="l">
              <a:defRPr sz="1500" b="1">
                <a:solidFill>
                  <a:srgbClr val="18A6B8"/>
                </a:solidFill>
              </a:defRPr>
            </a:pPr>
            <a:r>
              <a:rPr sz="1500" b="1">
                <a:solidFill>
                  <a:srgbClr val="18A6B8"/>
                </a:solidFill>
              </a:rPr>
              <a:t>How are groups formed?</a:t>
            </a:r>
          </a:p>
        </p:txBody>
      </p:sp>
      <p:sp>
        <p:nvSpPr>
          <p:cNvPr id="10" name="Rectangle 9">
            <a:extLst>
              <a:ext uri="{FF2B5EF4-FFF2-40B4-BE49-F238E27FC236}">
                <a16:creationId xmlns:a16="http://schemas.microsoft.com/office/drawing/2014/main" id="{B4EB1903-F4FB-4589-B26F-1E2F7ACBDC3C}"/>
              </a:ext>
            </a:extLst>
          </p:cNvPr>
          <p:cNvSpPr>
            <a:spLocks noGrp="1"/>
          </p:cNvSpPr>
          <p:nvPr/>
        </p:nvSpPr>
        <p:spPr>
          <a:xfrm>
            <a:off x="6286500" y="3438525"/>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The case study is normally completed in groups of three, subject to the coordinator’s instructions.</a:t>
            </a:r>
          </a:p>
        </p:txBody>
      </p:sp>
      <p:sp>
        <p:nvSpPr>
          <p:cNvPr id="11" name="Rectangle 10">
            <a:extLst>
              <a:ext uri="{FF2B5EF4-FFF2-40B4-BE49-F238E27FC236}">
                <a16:creationId xmlns:a16="http://schemas.microsoft.com/office/drawing/2014/main" id="{E9EA4C57-DCCD-4735-967A-8E2E8A6D5E1E}"/>
              </a:ext>
            </a:extLst>
          </p:cNvPr>
          <p:cNvSpPr>
            <a:spLocks noGrp="1"/>
          </p:cNvSpPr>
          <p:nvPr/>
        </p:nvSpPr>
        <p:spPr>
          <a:xfrm>
            <a:off x="666750" y="4572000"/>
            <a:ext cx="5000625" cy="342900"/>
          </a:xfrm>
          <a:prstGeom prst="rect">
            <a:avLst/>
          </a:prstGeom>
          <a:noFill/>
          <a:ln w="0">
            <a:noFill/>
            <a:prstDash val="solid"/>
          </a:ln>
        </p:spPr>
        <p:txBody>
          <a:bodyPr/>
          <a:lstStyle/>
          <a:p>
            <a:pPr algn="l">
              <a:defRPr sz="1500" b="1">
                <a:solidFill>
                  <a:srgbClr val="1261A0"/>
                </a:solidFill>
              </a:defRPr>
            </a:pPr>
            <a:r>
              <a:rPr sz="1500" b="1">
                <a:solidFill>
                  <a:srgbClr val="1261A0"/>
                </a:solidFill>
              </a:rPr>
              <a:t>Can I use generative AI?</a:t>
            </a:r>
          </a:p>
        </p:txBody>
      </p:sp>
      <p:sp>
        <p:nvSpPr>
          <p:cNvPr id="12" name="Rectangle 11">
            <a:extLst>
              <a:ext uri="{FF2B5EF4-FFF2-40B4-BE49-F238E27FC236}">
                <a16:creationId xmlns:a16="http://schemas.microsoft.com/office/drawing/2014/main" id="{F8343BD8-CA03-4346-A78F-21807EA6DC7C}"/>
              </a:ext>
            </a:extLst>
          </p:cNvPr>
          <p:cNvSpPr>
            <a:spLocks noGrp="1"/>
          </p:cNvSpPr>
          <p:nvPr/>
        </p:nvSpPr>
        <p:spPr>
          <a:xfrm>
            <a:off x="666750" y="5010150"/>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Only within the current assessment rules. You remain responsible for accuracy, authorship, disclosure and evidence.</a:t>
            </a:r>
          </a:p>
        </p:txBody>
      </p:sp>
      <p:sp>
        <p:nvSpPr>
          <p:cNvPr id="13" name="Rectangle 12">
            <a:extLst>
              <a:ext uri="{FF2B5EF4-FFF2-40B4-BE49-F238E27FC236}">
                <a16:creationId xmlns:a16="http://schemas.microsoft.com/office/drawing/2014/main" id="{E9AE57EB-B337-45B5-87C0-3236980D4000}"/>
              </a:ext>
            </a:extLst>
          </p:cNvPr>
          <p:cNvSpPr>
            <a:spLocks noGrp="1"/>
          </p:cNvSpPr>
          <p:nvPr/>
        </p:nvSpPr>
        <p:spPr>
          <a:xfrm>
            <a:off x="6286500" y="4572000"/>
            <a:ext cx="5000625" cy="342900"/>
          </a:xfrm>
          <a:prstGeom prst="rect">
            <a:avLst/>
          </a:prstGeom>
          <a:noFill/>
          <a:ln w="0">
            <a:noFill/>
            <a:prstDash val="solid"/>
          </a:ln>
        </p:spPr>
        <p:txBody>
          <a:bodyPr/>
          <a:lstStyle/>
          <a:p>
            <a:pPr algn="l">
              <a:defRPr sz="1500" b="1">
                <a:solidFill>
                  <a:srgbClr val="18A6B8"/>
                </a:solidFill>
              </a:defRPr>
            </a:pPr>
            <a:r>
              <a:rPr sz="1500" b="1">
                <a:solidFill>
                  <a:srgbClr val="18A6B8"/>
                </a:solidFill>
              </a:rPr>
              <a:t>What if I miss a deadline?</a:t>
            </a:r>
          </a:p>
        </p:txBody>
      </p:sp>
      <p:sp>
        <p:nvSpPr>
          <p:cNvPr id="14" name="Rectangle 13">
            <a:extLst>
              <a:ext uri="{FF2B5EF4-FFF2-40B4-BE49-F238E27FC236}">
                <a16:creationId xmlns:a16="http://schemas.microsoft.com/office/drawing/2014/main" id="{C078321F-705F-4690-BD71-E8F25C2EC9A2}"/>
              </a:ext>
            </a:extLst>
          </p:cNvPr>
          <p:cNvSpPr>
            <a:spLocks noGrp="1"/>
          </p:cNvSpPr>
          <p:nvPr/>
        </p:nvSpPr>
        <p:spPr>
          <a:xfrm>
            <a:off x="6286500" y="5010150"/>
            <a:ext cx="4953000" cy="828675"/>
          </a:xfrm>
          <a:prstGeom prst="rect">
            <a:avLst/>
          </a:prstGeom>
          <a:noFill/>
          <a:ln w="0">
            <a:noFill/>
            <a:prstDash val="solid"/>
          </a:ln>
        </p:spPr>
        <p:txBody>
          <a:bodyPr/>
          <a:lstStyle/>
          <a:p>
            <a:pPr algn="l">
              <a:defRPr sz="1275" b="0">
                <a:solidFill>
                  <a:srgbClr val="102A43"/>
                </a:solidFill>
              </a:defRPr>
            </a:pPr>
            <a:r>
              <a:rPr sz="1275" b="0">
                <a:solidFill>
                  <a:srgbClr val="102A43"/>
                </a:solidFill>
              </a:rPr>
              <a:t>Review Section 9 and submit the Special Consideration Form with evidence within three working days where eligible.</a:t>
            </a:r>
          </a:p>
        </p:txBody>
      </p:sp>
      <p:sp>
        <p:nvSpPr>
          <p:cNvPr id="15" name="Rectangle 14">
            <a:extLst>
              <a:ext uri="{FF2B5EF4-FFF2-40B4-BE49-F238E27FC236}">
                <a16:creationId xmlns:a16="http://schemas.microsoft.com/office/drawing/2014/main" id="{A7A2B62F-5507-4326-8956-43D3B10F1CBF}"/>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23</a:t>
            </a:r>
          </a:p>
        </p:txBody>
      </p:sp>
    </p:spTree>
    <p:extLst>
      <p:ext uri="{BB962C8B-B14F-4D97-AF65-F5344CB8AC3E}">
        <p14:creationId xmlns:p14="http://schemas.microsoft.com/office/powerpoint/2010/main" val="74398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FF44C0D-B16E-47B9-937A-24D9D57B5751}"/>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Special consideration follows a formal process</a:t>
            </a:r>
          </a:p>
        </p:txBody>
      </p:sp>
      <p:sp>
        <p:nvSpPr>
          <p:cNvPr id="2" name="Rectangle 1">
            <a:extLst>
              <a:ext uri="{FF2B5EF4-FFF2-40B4-BE49-F238E27FC236}">
                <a16:creationId xmlns:a16="http://schemas.microsoft.com/office/drawing/2014/main" id="{ABF09313-1D75-4E62-83E9-3D405981FF45}"/>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F808AB51-FF98-4DE9-8E7A-7C2036E768C6}"/>
              </a:ext>
            </a:extLst>
          </p:cNvPr>
          <p:cNvSpPr>
            <a:spLocks noGrp="1"/>
          </p:cNvSpPr>
          <p:nvPr/>
        </p:nvSpPr>
        <p:spPr>
          <a:xfrm>
            <a:off x="714375" y="1571625"/>
            <a:ext cx="10572750" cy="3714750"/>
          </a:xfrm>
          <a:prstGeom prst="rect">
            <a:avLst/>
          </a:prstGeom>
          <a:noFill/>
          <a:ln w="0">
            <a:noFill/>
            <a:prstDash val="solid"/>
          </a:ln>
        </p:spPr>
        <p:txBody>
          <a:bodyPr/>
          <a:lstStyle/>
          <a:p>
            <a:pPr algn="l">
              <a:defRPr sz="1500" b="0">
                <a:solidFill>
                  <a:srgbClr val="102A43"/>
                </a:solidFill>
              </a:defRPr>
            </a:pPr>
            <a:r>
              <a:rPr sz="1500" b="0">
                <a:solidFill>
                  <a:srgbClr val="102A43"/>
                </a:solidFill>
              </a:rPr>
              <a:t>• For genuine serious illness, trauma or incapacity—not normally minor ailments</a:t>
            </a:r>
          </a:p>
          <a:p>
            <a:pPr algn="l">
              <a:defRPr sz="1500" b="0">
                <a:solidFill>
                  <a:srgbClr val="102A43"/>
                </a:solidFill>
              </a:defRPr>
            </a:pPr>
            <a:r>
              <a:rPr sz="1500" b="0">
                <a:solidFill>
                  <a:srgbClr val="102A43"/>
                </a:solidFill>
              </a:rPr>
              <a:t>• Submit the Special Consideration Form and supporting documents to hello@holmes.edu.au</a:t>
            </a:r>
          </a:p>
          <a:p>
            <a:pPr algn="l">
              <a:defRPr sz="1500" b="0">
                <a:solidFill>
                  <a:srgbClr val="102A43"/>
                </a:solidFill>
              </a:defRPr>
            </a:pPr>
            <a:r>
              <a:rPr sz="1500" b="0">
                <a:solidFill>
                  <a:srgbClr val="102A43"/>
                </a:solidFill>
              </a:rPr>
              <a:t>• Normally lodge within three working days of the assessment due date</a:t>
            </a:r>
          </a:p>
          <a:p>
            <a:pPr algn="l">
              <a:defRPr sz="1500" b="0">
                <a:solidFill>
                  <a:srgbClr val="102A43"/>
                </a:solidFill>
              </a:defRPr>
            </a:pPr>
            <a:r>
              <a:rPr sz="1500" b="0">
                <a:solidFill>
                  <a:srgbClr val="102A43"/>
                </a:solidFill>
              </a:rPr>
              <a:t>• Medical claims require the completed form and original medical certificate</a:t>
            </a:r>
          </a:p>
          <a:p>
            <a:pPr algn="l">
              <a:defRPr sz="1500" b="0">
                <a:solidFill>
                  <a:srgbClr val="102A43"/>
                </a:solidFill>
              </a:defRPr>
            </a:pPr>
            <a:r>
              <a:rPr sz="1500" b="0">
                <a:solidFill>
                  <a:srgbClr val="102A43"/>
                </a:solidFill>
              </a:rPr>
              <a:t>• Trauma claims may require a police report or equivalent</a:t>
            </a:r>
          </a:p>
          <a:p>
            <a:pPr algn="l">
              <a:defRPr sz="1500" b="0">
                <a:solidFill>
                  <a:srgbClr val="102A43"/>
                </a:solidFill>
              </a:defRPr>
            </a:pPr>
            <a:r>
              <a:rPr sz="1500" b="0">
                <a:solidFill>
                  <a:srgbClr val="102A43"/>
                </a:solidFill>
              </a:rPr>
              <a:t>• The Dean, Operations or delegate assesses applications; outcomes are normally notified within seven days after complete documentation</a:t>
            </a:r>
          </a:p>
        </p:txBody>
      </p:sp>
      <p:sp>
        <p:nvSpPr>
          <p:cNvPr id="4" name="Rectangle 3">
            <a:extLst>
              <a:ext uri="{FF2B5EF4-FFF2-40B4-BE49-F238E27FC236}">
                <a16:creationId xmlns:a16="http://schemas.microsoft.com/office/drawing/2014/main" id="{F40A4F21-0315-4ED6-8343-0C04AFB86AE5}"/>
              </a:ext>
            </a:extLst>
          </p:cNvPr>
          <p:cNvSpPr>
            <a:spLocks noGrp="1"/>
          </p:cNvSpPr>
          <p:nvPr/>
        </p:nvSpPr>
        <p:spPr>
          <a:xfrm>
            <a:off x="952500" y="5619750"/>
            <a:ext cx="10287000" cy="523875"/>
          </a:xfrm>
          <a:prstGeom prst="rect">
            <a:avLst/>
          </a:prstGeom>
          <a:noFill/>
          <a:ln w="0">
            <a:noFill/>
            <a:prstDash val="solid"/>
          </a:ln>
        </p:spPr>
        <p:txBody>
          <a:bodyPr/>
          <a:lstStyle/>
          <a:p>
            <a:pPr algn="ctr">
              <a:defRPr sz="1500" b="1">
                <a:solidFill>
                  <a:srgbClr val="B33A3A"/>
                </a:solidFill>
              </a:defRPr>
            </a:pPr>
            <a:r>
              <a:rPr sz="1500" b="1">
                <a:solidFill>
                  <a:srgbClr val="B33A3A"/>
                </a:solidFill>
              </a:rPr>
              <a:t>Missing a deadline? Read Section 9 of the Assessment Policy. Do not rely on an email to Blackboard or the lecturer.</a:t>
            </a:r>
          </a:p>
        </p:txBody>
      </p:sp>
      <p:sp>
        <p:nvSpPr>
          <p:cNvPr id="5" name="Rectangle 4">
            <a:extLst>
              <a:ext uri="{FF2B5EF4-FFF2-40B4-BE49-F238E27FC236}">
                <a16:creationId xmlns:a16="http://schemas.microsoft.com/office/drawing/2014/main" id="{3ACD2CE3-810D-47E7-BA99-11C8DC9F0AB7}"/>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24</a:t>
            </a:r>
          </a:p>
        </p:txBody>
      </p:sp>
    </p:spTree>
    <p:extLst>
      <p:ext uri="{BB962C8B-B14F-4D97-AF65-F5344CB8AC3E}">
        <p14:creationId xmlns:p14="http://schemas.microsoft.com/office/powerpoint/2010/main" val="2093775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65F220-8CA0-448A-BE01-6F43FDFD98FD}"/>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Week 1 prepares the environment for hands-on learning</a:t>
            </a:r>
          </a:p>
        </p:txBody>
      </p:sp>
      <p:sp>
        <p:nvSpPr>
          <p:cNvPr id="2" name="Rectangle 1">
            <a:extLst>
              <a:ext uri="{FF2B5EF4-FFF2-40B4-BE49-F238E27FC236}">
                <a16:creationId xmlns:a16="http://schemas.microsoft.com/office/drawing/2014/main" id="{752AF88B-EFA8-4FC1-BB5C-34FBA7552D9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96E67BB8-D127-4F3C-87BD-D8890A2AF8CA}"/>
              </a:ext>
            </a:extLst>
          </p:cNvPr>
          <p:cNvSpPr>
            <a:spLocks noGrp="1"/>
          </p:cNvSpPr>
          <p:nvPr/>
        </p:nvSpPr>
        <p:spPr>
          <a:xfrm>
            <a:off x="685800" y="1619250"/>
            <a:ext cx="4381500" cy="361950"/>
          </a:xfrm>
          <a:prstGeom prst="rect">
            <a:avLst/>
          </a:prstGeom>
          <a:noFill/>
          <a:ln w="0">
            <a:noFill/>
            <a:prstDash val="solid"/>
          </a:ln>
        </p:spPr>
        <p:txBody>
          <a:bodyPr/>
          <a:lstStyle/>
          <a:p>
            <a:pPr algn="l">
              <a:defRPr sz="1875" b="1">
                <a:solidFill>
                  <a:srgbClr val="1261A0"/>
                </a:solidFill>
              </a:defRPr>
            </a:pPr>
            <a:r>
              <a:rPr sz="1875" b="1">
                <a:solidFill>
                  <a:srgbClr val="1261A0"/>
                </a:solidFill>
              </a:rPr>
              <a:t>This week</a:t>
            </a:r>
          </a:p>
        </p:txBody>
      </p:sp>
      <p:sp>
        <p:nvSpPr>
          <p:cNvPr id="4" name="Rectangle 3">
            <a:extLst>
              <a:ext uri="{FF2B5EF4-FFF2-40B4-BE49-F238E27FC236}">
                <a16:creationId xmlns:a16="http://schemas.microsoft.com/office/drawing/2014/main" id="{D5E7679A-EFBF-4920-846A-7488F11EDD0D}"/>
              </a:ext>
            </a:extLst>
          </p:cNvPr>
          <p:cNvSpPr>
            <a:spLocks noGrp="1"/>
          </p:cNvSpPr>
          <p:nvPr/>
        </p:nvSpPr>
        <p:spPr>
          <a:xfrm>
            <a:off x="685800" y="2143125"/>
            <a:ext cx="4762500" cy="2619375"/>
          </a:xfrm>
          <a:prstGeom prst="rect">
            <a:avLst/>
          </a:prstGeom>
          <a:noFill/>
          <a:ln w="0">
            <a:noFill/>
            <a:prstDash val="solid"/>
          </a:ln>
        </p:spPr>
        <p:txBody>
          <a:bodyPr/>
          <a:lstStyle/>
          <a:p>
            <a:pPr algn="l">
              <a:defRPr sz="1575" b="0">
                <a:solidFill>
                  <a:srgbClr val="102A43"/>
                </a:solidFill>
              </a:defRPr>
            </a:pPr>
            <a:r>
              <a:rPr sz="1575" b="0">
                <a:solidFill>
                  <a:srgbClr val="102A43"/>
                </a:solidFill>
              </a:rPr>
              <a:t>• Become familiar with HI5033 and how the unit is organised</a:t>
            </a:r>
          </a:p>
          <a:p>
            <a:pPr algn="l">
              <a:defRPr sz="1575" b="0">
                <a:solidFill>
                  <a:srgbClr val="102A43"/>
                </a:solidFill>
              </a:defRPr>
            </a:pPr>
            <a:r>
              <a:rPr sz="1575" b="0">
                <a:solidFill>
                  <a:srgbClr val="102A43"/>
                </a:solidFill>
              </a:rPr>
              <a:t>• Understand how database design supports contemporary business</a:t>
            </a:r>
          </a:p>
          <a:p>
            <a:pPr algn="l">
              <a:defRPr sz="1575" b="0">
                <a:solidFill>
                  <a:srgbClr val="102A43"/>
                </a:solidFill>
              </a:defRPr>
            </a:pPr>
            <a:r>
              <a:rPr sz="1575" b="0">
                <a:solidFill>
                  <a:srgbClr val="102A43"/>
                </a:solidFill>
              </a:rPr>
              <a:t>• Review assessments, expectations and support arrangements</a:t>
            </a:r>
          </a:p>
          <a:p>
            <a:pPr algn="l">
              <a:defRPr sz="1575" b="0">
                <a:solidFill>
                  <a:srgbClr val="102A43"/>
                </a:solidFill>
              </a:defRPr>
            </a:pPr>
            <a:r>
              <a:rPr sz="1575" b="0">
                <a:solidFill>
                  <a:srgbClr val="102A43"/>
                </a:solidFill>
              </a:rPr>
              <a:t>• Install and verify the software required for later tutorials</a:t>
            </a:r>
          </a:p>
        </p:txBody>
      </p:sp>
      <p:sp>
        <p:nvSpPr>
          <p:cNvPr id="5" name="Rectangle 4">
            <a:extLst>
              <a:ext uri="{FF2B5EF4-FFF2-40B4-BE49-F238E27FC236}">
                <a16:creationId xmlns:a16="http://schemas.microsoft.com/office/drawing/2014/main" id="{E14689AD-9B1B-4D29-9ED2-1A438E531A4C}"/>
              </a:ext>
            </a:extLst>
          </p:cNvPr>
          <p:cNvSpPr>
            <a:spLocks noGrp="1"/>
          </p:cNvSpPr>
          <p:nvPr/>
        </p:nvSpPr>
        <p:spPr>
          <a:xfrm>
            <a:off x="6381750" y="1619250"/>
            <a:ext cx="4000500" cy="361950"/>
          </a:xfrm>
          <a:prstGeom prst="rect">
            <a:avLst/>
          </a:prstGeom>
          <a:noFill/>
          <a:ln w="0">
            <a:noFill/>
            <a:prstDash val="solid"/>
          </a:ln>
        </p:spPr>
        <p:txBody>
          <a:bodyPr/>
          <a:lstStyle/>
          <a:p>
            <a:pPr algn="l">
              <a:defRPr sz="1875" b="1">
                <a:solidFill>
                  <a:srgbClr val="18A6B8"/>
                </a:solidFill>
              </a:defRPr>
            </a:pPr>
            <a:r>
              <a:rPr sz="1875" b="1">
                <a:solidFill>
                  <a:srgbClr val="18A6B8"/>
                </a:solidFill>
              </a:rPr>
              <a:t>From Week 2</a:t>
            </a:r>
          </a:p>
        </p:txBody>
      </p:sp>
      <p:sp>
        <p:nvSpPr>
          <p:cNvPr id="6" name="Rectangle 5">
            <a:extLst>
              <a:ext uri="{FF2B5EF4-FFF2-40B4-BE49-F238E27FC236}">
                <a16:creationId xmlns:a16="http://schemas.microsoft.com/office/drawing/2014/main" id="{AC864B49-9BC6-4432-8150-642C3BD73C83}"/>
              </a:ext>
            </a:extLst>
          </p:cNvPr>
          <p:cNvSpPr>
            <a:spLocks noGrp="1"/>
          </p:cNvSpPr>
          <p:nvPr/>
        </p:nvSpPr>
        <p:spPr>
          <a:xfrm>
            <a:off x="6381750" y="2143125"/>
            <a:ext cx="4762500" cy="2619375"/>
          </a:xfrm>
          <a:prstGeom prst="rect">
            <a:avLst/>
          </a:prstGeom>
          <a:noFill/>
          <a:ln w="0">
            <a:noFill/>
            <a:prstDash val="solid"/>
          </a:ln>
        </p:spPr>
        <p:txBody>
          <a:bodyPr/>
          <a:lstStyle/>
          <a:p>
            <a:pPr algn="l">
              <a:defRPr sz="1575" b="0">
                <a:solidFill>
                  <a:srgbClr val="102A43"/>
                </a:solidFill>
              </a:defRPr>
            </a:pPr>
            <a:r>
              <a:rPr sz="1575" b="0">
                <a:solidFill>
                  <a:srgbClr val="102A43"/>
                </a:solidFill>
              </a:rPr>
              <a:t>• Begin structured hands-on tutorial activities</a:t>
            </a:r>
          </a:p>
          <a:p>
            <a:pPr algn="l">
              <a:defRPr sz="1575" b="0">
                <a:solidFill>
                  <a:srgbClr val="102A43"/>
                </a:solidFill>
              </a:defRPr>
            </a:pPr>
            <a:r>
              <a:rPr sz="1575" b="0">
                <a:solidFill>
                  <a:srgbClr val="102A43"/>
                </a:solidFill>
              </a:rPr>
              <a:t>• Apply lecture concepts using PostgreSQL</a:t>
            </a:r>
          </a:p>
          <a:p>
            <a:pPr algn="l">
              <a:defRPr sz="1575" b="0">
                <a:solidFill>
                  <a:srgbClr val="102A43"/>
                </a:solidFill>
              </a:defRPr>
            </a:pPr>
            <a:r>
              <a:rPr sz="1575" b="0">
                <a:solidFill>
                  <a:srgbClr val="102A43"/>
                </a:solidFill>
              </a:rPr>
              <a:t>• Use DBeaver to create, inspect and query databases</a:t>
            </a:r>
          </a:p>
          <a:p>
            <a:pPr algn="l">
              <a:defRPr sz="1575" b="0">
                <a:solidFill>
                  <a:srgbClr val="102A43"/>
                </a:solidFill>
              </a:defRPr>
            </a:pPr>
            <a:r>
              <a:rPr sz="1575" b="0">
                <a:solidFill>
                  <a:srgbClr val="102A43"/>
                </a:solidFill>
              </a:rPr>
              <a:t>• Build evidence and skills progressively across the trimester</a:t>
            </a:r>
          </a:p>
        </p:txBody>
      </p:sp>
      <p:sp>
        <p:nvSpPr>
          <p:cNvPr id="7" name="Rectangle 6">
            <a:extLst>
              <a:ext uri="{FF2B5EF4-FFF2-40B4-BE49-F238E27FC236}">
                <a16:creationId xmlns:a16="http://schemas.microsoft.com/office/drawing/2014/main" id="{92D701B9-3AB8-428B-A8EA-2EF7B83F88D0}"/>
              </a:ext>
            </a:extLst>
          </p:cNvPr>
          <p:cNvSpPr>
            <a:spLocks noGrp="1"/>
          </p:cNvSpPr>
          <p:nvPr/>
        </p:nvSpPr>
        <p:spPr>
          <a:xfrm>
            <a:off x="1047750" y="5286375"/>
            <a:ext cx="10096500" cy="476250"/>
          </a:xfrm>
          <a:prstGeom prst="rect">
            <a:avLst/>
          </a:prstGeom>
          <a:noFill/>
          <a:ln w="0">
            <a:noFill/>
            <a:prstDash val="solid"/>
          </a:ln>
        </p:spPr>
        <p:txBody>
          <a:bodyPr/>
          <a:lstStyle/>
          <a:p>
            <a:pPr algn="ctr">
              <a:defRPr sz="1650" b="1">
                <a:solidFill>
                  <a:srgbClr val="17845C"/>
                </a:solidFill>
              </a:defRPr>
            </a:pPr>
            <a:r>
              <a:rPr sz="1650" b="1">
                <a:solidFill>
                  <a:srgbClr val="17845C"/>
                </a:solidFill>
              </a:rPr>
              <a:t>Today’s setup work removes avoidable technical barriers before practical classes begin.</a:t>
            </a:r>
          </a:p>
        </p:txBody>
      </p:sp>
      <p:sp>
        <p:nvSpPr>
          <p:cNvPr id="8" name="Rectangle 7">
            <a:extLst>
              <a:ext uri="{FF2B5EF4-FFF2-40B4-BE49-F238E27FC236}">
                <a16:creationId xmlns:a16="http://schemas.microsoft.com/office/drawing/2014/main" id="{75F94962-B378-47E2-B639-AD05424CA5F2}"/>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25</a:t>
            </a:r>
          </a:p>
        </p:txBody>
      </p:sp>
    </p:spTree>
    <p:extLst>
      <p:ext uri="{BB962C8B-B14F-4D97-AF65-F5344CB8AC3E}">
        <p14:creationId xmlns:p14="http://schemas.microsoft.com/office/powerpoint/2010/main" val="16056965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CEEE35D-4BCA-4C66-913F-340AE03CA4E9}"/>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PostgreSQL is the database engine behind our practical work</a:t>
            </a:r>
          </a:p>
        </p:txBody>
      </p:sp>
      <p:sp>
        <p:nvSpPr>
          <p:cNvPr id="2" name="Rectangle 1">
            <a:extLst>
              <a:ext uri="{FF2B5EF4-FFF2-40B4-BE49-F238E27FC236}">
                <a16:creationId xmlns:a16="http://schemas.microsoft.com/office/drawing/2014/main" id="{7E5FDCAA-F4AC-4FE4-AE2A-83A48225BA9D}"/>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3ACB7B44-C646-45B0-AE4A-BDA406DB93DA}"/>
              </a:ext>
            </a:extLst>
          </p:cNvPr>
          <p:cNvSpPr>
            <a:spLocks noGrp="1"/>
          </p:cNvSpPr>
          <p:nvPr/>
        </p:nvSpPr>
        <p:spPr>
          <a:xfrm>
            <a:off x="685800" y="1571625"/>
            <a:ext cx="3000375" cy="323850"/>
          </a:xfrm>
          <a:prstGeom prst="rect">
            <a:avLst/>
          </a:prstGeom>
          <a:noFill/>
          <a:ln w="0">
            <a:noFill/>
            <a:prstDash val="solid"/>
          </a:ln>
        </p:spPr>
        <p:txBody>
          <a:bodyPr/>
          <a:lstStyle/>
          <a:p>
            <a:pPr algn="l">
              <a:defRPr sz="1800" b="1">
                <a:solidFill>
                  <a:srgbClr val="1261A0"/>
                </a:solidFill>
              </a:defRPr>
            </a:pPr>
            <a:r>
              <a:rPr sz="1800" b="1">
                <a:solidFill>
                  <a:srgbClr val="1261A0"/>
                </a:solidFill>
              </a:rPr>
              <a:t>What it is</a:t>
            </a:r>
          </a:p>
        </p:txBody>
      </p:sp>
      <p:sp>
        <p:nvSpPr>
          <p:cNvPr id="4" name="Rectangle 3">
            <a:extLst>
              <a:ext uri="{FF2B5EF4-FFF2-40B4-BE49-F238E27FC236}">
                <a16:creationId xmlns:a16="http://schemas.microsoft.com/office/drawing/2014/main" id="{8BB7DC71-2944-47A1-8DEC-2972055F8F12}"/>
              </a:ext>
            </a:extLst>
          </p:cNvPr>
          <p:cNvSpPr>
            <a:spLocks noGrp="1"/>
          </p:cNvSpPr>
          <p:nvPr/>
        </p:nvSpPr>
        <p:spPr>
          <a:xfrm>
            <a:off x="685800" y="2047875"/>
            <a:ext cx="4572000" cy="1095375"/>
          </a:xfrm>
          <a:prstGeom prst="rect">
            <a:avLst/>
          </a:prstGeom>
          <a:noFill/>
          <a:ln w="0">
            <a:noFill/>
            <a:prstDash val="solid"/>
          </a:ln>
        </p:spPr>
        <p:txBody>
          <a:bodyPr/>
          <a:lstStyle/>
          <a:p>
            <a:pPr algn="l">
              <a:defRPr sz="1575" b="0">
                <a:solidFill>
                  <a:srgbClr val="102A43"/>
                </a:solidFill>
              </a:defRPr>
            </a:pPr>
            <a:r>
              <a:rPr sz="1575" b="0">
                <a:solidFill>
                  <a:srgbClr val="102A43"/>
                </a:solidFill>
              </a:rPr>
              <a:t>A powerful, open-source relational database management system used to store, secure and process structured data.</a:t>
            </a:r>
          </a:p>
        </p:txBody>
      </p:sp>
      <p:sp>
        <p:nvSpPr>
          <p:cNvPr id="5" name="Rectangle 4">
            <a:extLst>
              <a:ext uri="{FF2B5EF4-FFF2-40B4-BE49-F238E27FC236}">
                <a16:creationId xmlns:a16="http://schemas.microsoft.com/office/drawing/2014/main" id="{BFF7CB52-C41C-4632-9CDE-8100447BAC6C}"/>
              </a:ext>
            </a:extLst>
          </p:cNvPr>
          <p:cNvSpPr>
            <a:spLocks noGrp="1"/>
          </p:cNvSpPr>
          <p:nvPr/>
        </p:nvSpPr>
        <p:spPr>
          <a:xfrm>
            <a:off x="685800" y="3524250"/>
            <a:ext cx="3000375" cy="323850"/>
          </a:xfrm>
          <a:prstGeom prst="rect">
            <a:avLst/>
          </a:prstGeom>
          <a:noFill/>
          <a:ln w="0">
            <a:noFill/>
            <a:prstDash val="solid"/>
          </a:ln>
        </p:spPr>
        <p:txBody>
          <a:bodyPr/>
          <a:lstStyle/>
          <a:p>
            <a:pPr algn="l">
              <a:defRPr sz="1800" b="1">
                <a:solidFill>
                  <a:srgbClr val="1261A0"/>
                </a:solidFill>
              </a:defRPr>
            </a:pPr>
            <a:r>
              <a:rPr sz="1800" b="1">
                <a:solidFill>
                  <a:srgbClr val="1261A0"/>
                </a:solidFill>
              </a:rPr>
              <a:t>Why we use it</a:t>
            </a:r>
          </a:p>
        </p:txBody>
      </p:sp>
      <p:sp>
        <p:nvSpPr>
          <p:cNvPr id="6" name="Rectangle 5">
            <a:extLst>
              <a:ext uri="{FF2B5EF4-FFF2-40B4-BE49-F238E27FC236}">
                <a16:creationId xmlns:a16="http://schemas.microsoft.com/office/drawing/2014/main" id="{34672C5D-1FBC-4C7C-848C-460FB36A419E}"/>
              </a:ext>
            </a:extLst>
          </p:cNvPr>
          <p:cNvSpPr>
            <a:spLocks noGrp="1"/>
          </p:cNvSpPr>
          <p:nvPr/>
        </p:nvSpPr>
        <p:spPr>
          <a:xfrm>
            <a:off x="685800" y="4000500"/>
            <a:ext cx="4476750" cy="1714500"/>
          </a:xfrm>
          <a:prstGeom prst="rect">
            <a:avLst/>
          </a:prstGeom>
          <a:noFill/>
          <a:ln w="0">
            <a:noFill/>
            <a:prstDash val="solid"/>
          </a:ln>
        </p:spPr>
        <p:txBody>
          <a:bodyPr/>
          <a:lstStyle/>
          <a:p>
            <a:pPr algn="l">
              <a:defRPr sz="1500" b="0">
                <a:solidFill>
                  <a:srgbClr val="102A43"/>
                </a:solidFill>
              </a:defRPr>
            </a:pPr>
            <a:r>
              <a:rPr sz="1500" b="0">
                <a:solidFill>
                  <a:srgbClr val="102A43"/>
                </a:solidFill>
              </a:rPr>
              <a:t>• Strong SQL standards support</a:t>
            </a:r>
          </a:p>
          <a:p>
            <a:pPr algn="l">
              <a:defRPr sz="1500" b="0">
                <a:solidFill>
                  <a:srgbClr val="102A43"/>
                </a:solidFill>
              </a:defRPr>
            </a:pPr>
            <a:r>
              <a:rPr sz="1500" b="0">
                <a:solidFill>
                  <a:srgbClr val="102A43"/>
                </a:solidFill>
              </a:rPr>
              <a:t>• Keys, constraints and transactions</a:t>
            </a:r>
          </a:p>
          <a:p>
            <a:pPr algn="l">
              <a:defRPr sz="1500" b="0">
                <a:solidFill>
                  <a:srgbClr val="102A43"/>
                </a:solidFill>
              </a:defRPr>
            </a:pPr>
            <a:r>
              <a:rPr sz="1500" b="0">
                <a:solidFill>
                  <a:srgbClr val="102A43"/>
                </a:solidFill>
              </a:rPr>
              <a:t>• Security and administration features</a:t>
            </a:r>
          </a:p>
          <a:p>
            <a:pPr algn="l">
              <a:defRPr sz="1500" b="0">
                <a:solidFill>
                  <a:srgbClr val="102A43"/>
                </a:solidFill>
              </a:defRPr>
            </a:pPr>
            <a:r>
              <a:rPr sz="1500" b="0">
                <a:solidFill>
                  <a:srgbClr val="102A43"/>
                </a:solidFill>
              </a:rPr>
              <a:t>• Real industry relevance</a:t>
            </a:r>
          </a:p>
        </p:txBody>
      </p:sp>
      <p:sp>
        <p:nvSpPr>
          <p:cNvPr id="7" name="Rectangle: Rounded Corners 6">
            <a:extLst>
              <a:ext uri="{FF2B5EF4-FFF2-40B4-BE49-F238E27FC236}">
                <a16:creationId xmlns:a16="http://schemas.microsoft.com/office/drawing/2014/main" id="{F674D5DF-03C0-4796-B4CE-CFC98C2FA1C7}"/>
              </a:ext>
            </a:extLst>
          </p:cNvPr>
          <p:cNvSpPr>
            <a:spLocks noGrp="1"/>
          </p:cNvSpPr>
          <p:nvPr/>
        </p:nvSpPr>
        <p:spPr>
          <a:xfrm>
            <a:off x="6191250" y="1619250"/>
            <a:ext cx="4762500" cy="3429000"/>
          </a:xfrm>
          <a:prstGeom prst="roundRect">
            <a:avLst>
              <a:gd name="adj" fmla="val 3333"/>
            </a:avLst>
          </a:prstGeom>
          <a:solidFill>
            <a:srgbClr val="EAF4F8"/>
          </a:solidFill>
          <a:ln w="9525">
            <a:solidFill>
              <a:srgbClr val="EAF4F8"/>
            </a:solidFill>
            <a:prstDash val="solid"/>
          </a:ln>
        </p:spPr>
        <p:txBody>
          <a:bodyPr/>
          <a:lstStyle/>
          <a:p>
            <a:endParaRPr lang="en-US"/>
          </a:p>
        </p:txBody>
      </p:sp>
      <p:sp>
        <p:nvSpPr>
          <p:cNvPr id="8" name="Rectangle 7">
            <a:extLst>
              <a:ext uri="{FF2B5EF4-FFF2-40B4-BE49-F238E27FC236}">
                <a16:creationId xmlns:a16="http://schemas.microsoft.com/office/drawing/2014/main" id="{3291E029-1FDC-4DDC-9016-4540B1E28C20}"/>
              </a:ext>
            </a:extLst>
          </p:cNvPr>
          <p:cNvSpPr>
            <a:spLocks noGrp="1"/>
          </p:cNvSpPr>
          <p:nvPr/>
        </p:nvSpPr>
        <p:spPr>
          <a:xfrm>
            <a:off x="6572250" y="1952625"/>
            <a:ext cx="4000500" cy="342900"/>
          </a:xfrm>
          <a:prstGeom prst="rect">
            <a:avLst/>
          </a:prstGeom>
          <a:noFill/>
          <a:ln w="0">
            <a:noFill/>
            <a:prstDash val="solid"/>
          </a:ln>
        </p:spPr>
        <p:txBody>
          <a:bodyPr/>
          <a:lstStyle/>
          <a:p>
            <a:pPr algn="l">
              <a:defRPr sz="1875" b="1">
                <a:solidFill>
                  <a:srgbClr val="18A6B8"/>
                </a:solidFill>
              </a:defRPr>
            </a:pPr>
            <a:r>
              <a:rPr sz="1875" b="1">
                <a:solidFill>
                  <a:srgbClr val="18A6B8"/>
                </a:solidFill>
              </a:rPr>
              <a:t>What you will practise</a:t>
            </a:r>
          </a:p>
        </p:txBody>
      </p:sp>
      <p:sp>
        <p:nvSpPr>
          <p:cNvPr id="9" name="Rectangle 8">
            <a:extLst>
              <a:ext uri="{FF2B5EF4-FFF2-40B4-BE49-F238E27FC236}">
                <a16:creationId xmlns:a16="http://schemas.microsoft.com/office/drawing/2014/main" id="{005A9E9D-4CED-4912-A9C2-6E27EEC731E8}"/>
              </a:ext>
            </a:extLst>
          </p:cNvPr>
          <p:cNvSpPr>
            <a:spLocks noGrp="1"/>
          </p:cNvSpPr>
          <p:nvPr/>
        </p:nvSpPr>
        <p:spPr>
          <a:xfrm>
            <a:off x="6572250" y="2524125"/>
            <a:ext cx="3905250" cy="2428875"/>
          </a:xfrm>
          <a:prstGeom prst="rect">
            <a:avLst/>
          </a:prstGeom>
          <a:noFill/>
          <a:ln w="0">
            <a:noFill/>
            <a:prstDash val="solid"/>
          </a:ln>
        </p:spPr>
        <p:txBody>
          <a:bodyPr/>
          <a:lstStyle/>
          <a:p>
            <a:pPr algn="l">
              <a:defRPr sz="1575" b="0">
                <a:solidFill>
                  <a:srgbClr val="102A43"/>
                </a:solidFill>
              </a:defRPr>
            </a:pPr>
            <a:r>
              <a:rPr sz="1575" b="0">
                <a:solidFill>
                  <a:srgbClr val="102A43"/>
                </a:solidFill>
              </a:rPr>
              <a:t>• Creating databases and tables</a:t>
            </a:r>
          </a:p>
          <a:p>
            <a:pPr algn="l">
              <a:defRPr sz="1575" b="0">
                <a:solidFill>
                  <a:srgbClr val="102A43"/>
                </a:solidFill>
              </a:defRPr>
            </a:pPr>
            <a:r>
              <a:rPr sz="1575" b="0">
                <a:solidFill>
                  <a:srgbClr val="102A43"/>
                </a:solidFill>
              </a:rPr>
              <a:t>• Defining primary and foreign keys</a:t>
            </a:r>
          </a:p>
          <a:p>
            <a:pPr algn="l">
              <a:defRPr sz="1575" b="0">
                <a:solidFill>
                  <a:srgbClr val="102A43"/>
                </a:solidFill>
              </a:defRPr>
            </a:pPr>
            <a:r>
              <a:rPr sz="1575" b="0">
                <a:solidFill>
                  <a:srgbClr val="102A43"/>
                </a:solidFill>
              </a:rPr>
              <a:t>• Inserting, updating and deleting data</a:t>
            </a:r>
          </a:p>
          <a:p>
            <a:pPr algn="l">
              <a:defRPr sz="1575" b="0">
                <a:solidFill>
                  <a:srgbClr val="102A43"/>
                </a:solidFill>
              </a:defRPr>
            </a:pPr>
            <a:r>
              <a:rPr sz="1575" b="0">
                <a:solidFill>
                  <a:srgbClr val="102A43"/>
                </a:solidFill>
              </a:rPr>
              <a:t>• Writing joins and advanced queries</a:t>
            </a:r>
          </a:p>
          <a:p>
            <a:pPr algn="l">
              <a:defRPr sz="1575" b="0">
                <a:solidFill>
                  <a:srgbClr val="102A43"/>
                </a:solidFill>
              </a:defRPr>
            </a:pPr>
            <a:r>
              <a:rPr sz="1575" b="0">
                <a:solidFill>
                  <a:srgbClr val="102A43"/>
                </a:solidFill>
              </a:rPr>
              <a:t>• Applying integrity and security rules</a:t>
            </a:r>
          </a:p>
          <a:p>
            <a:pPr algn="l">
              <a:defRPr sz="1575" b="0">
                <a:solidFill>
                  <a:srgbClr val="102A43"/>
                </a:solidFill>
              </a:defRPr>
            </a:pPr>
            <a:r>
              <a:rPr sz="1575" b="0">
                <a:solidFill>
                  <a:srgbClr val="102A43"/>
                </a:solidFill>
              </a:rPr>
              <a:t>• Considering performance and administration</a:t>
            </a:r>
          </a:p>
        </p:txBody>
      </p:sp>
      <p:sp>
        <p:nvSpPr>
          <p:cNvPr id="10" name="Rectangle 9">
            <a:extLst>
              <a:ext uri="{FF2B5EF4-FFF2-40B4-BE49-F238E27FC236}">
                <a16:creationId xmlns:a16="http://schemas.microsoft.com/office/drawing/2014/main" id="{EC5EBC79-EB45-40EB-9868-174DBB64B310}"/>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26</a:t>
            </a:r>
          </a:p>
        </p:txBody>
      </p:sp>
    </p:spTree>
    <p:extLst>
      <p:ext uri="{BB962C8B-B14F-4D97-AF65-F5344CB8AC3E}">
        <p14:creationId xmlns:p14="http://schemas.microsoft.com/office/powerpoint/2010/main" val="1260887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49CB896-23FB-4753-9608-6CBB4590E200}"/>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DBeaver provides a productive interface to PostgreSQL</a:t>
            </a:r>
          </a:p>
        </p:txBody>
      </p:sp>
      <p:sp>
        <p:nvSpPr>
          <p:cNvPr id="2" name="Rectangle 1">
            <a:extLst>
              <a:ext uri="{FF2B5EF4-FFF2-40B4-BE49-F238E27FC236}">
                <a16:creationId xmlns:a16="http://schemas.microsoft.com/office/drawing/2014/main" id="{167CEC38-4EA7-47B2-AC5A-314AE8358AD1}"/>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A12414E1-C9C0-44A4-AAED-E6A12181A93B}"/>
              </a:ext>
            </a:extLst>
          </p:cNvPr>
          <p:cNvSpPr>
            <a:spLocks noGrp="1"/>
          </p:cNvSpPr>
          <p:nvPr/>
        </p:nvSpPr>
        <p:spPr>
          <a:xfrm>
            <a:off x="685800" y="1666875"/>
            <a:ext cx="4476750" cy="381000"/>
          </a:xfrm>
          <a:prstGeom prst="rect">
            <a:avLst/>
          </a:prstGeom>
          <a:noFill/>
          <a:ln w="0">
            <a:noFill/>
            <a:prstDash val="solid"/>
          </a:ln>
        </p:spPr>
        <p:txBody>
          <a:bodyPr/>
          <a:lstStyle/>
          <a:p>
            <a:pPr algn="l">
              <a:defRPr sz="2025" b="1">
                <a:solidFill>
                  <a:srgbClr val="1261A0"/>
                </a:solidFill>
              </a:defRPr>
            </a:pPr>
            <a:r>
              <a:rPr sz="2025" b="1">
                <a:solidFill>
                  <a:srgbClr val="1261A0"/>
                </a:solidFill>
              </a:rPr>
              <a:t>DBeaver Community</a:t>
            </a:r>
          </a:p>
        </p:txBody>
      </p:sp>
      <p:sp>
        <p:nvSpPr>
          <p:cNvPr id="4" name="Rectangle 3">
            <a:extLst>
              <a:ext uri="{FF2B5EF4-FFF2-40B4-BE49-F238E27FC236}">
                <a16:creationId xmlns:a16="http://schemas.microsoft.com/office/drawing/2014/main" id="{70C2230C-0FBE-47BD-BFE3-955584B7F552}"/>
              </a:ext>
            </a:extLst>
          </p:cNvPr>
          <p:cNvSpPr>
            <a:spLocks noGrp="1"/>
          </p:cNvSpPr>
          <p:nvPr/>
        </p:nvSpPr>
        <p:spPr>
          <a:xfrm>
            <a:off x="685800" y="2238375"/>
            <a:ext cx="4762500" cy="809625"/>
          </a:xfrm>
          <a:prstGeom prst="rect">
            <a:avLst/>
          </a:prstGeom>
          <a:noFill/>
          <a:ln w="0">
            <a:noFill/>
            <a:prstDash val="solid"/>
          </a:ln>
        </p:spPr>
        <p:txBody>
          <a:bodyPr/>
          <a:lstStyle/>
          <a:p>
            <a:pPr algn="l">
              <a:defRPr sz="1650" b="0">
                <a:solidFill>
                  <a:srgbClr val="102A43"/>
                </a:solidFill>
              </a:defRPr>
            </a:pPr>
            <a:r>
              <a:rPr sz="1650" b="0">
                <a:solidFill>
                  <a:srgbClr val="102A43"/>
                </a:solidFill>
              </a:rPr>
              <a:t>A free, multi-platform database tool for developers, administrators, analysts and students.</a:t>
            </a:r>
          </a:p>
        </p:txBody>
      </p:sp>
      <p:sp>
        <p:nvSpPr>
          <p:cNvPr id="5" name="Rectangle 4">
            <a:extLst>
              <a:ext uri="{FF2B5EF4-FFF2-40B4-BE49-F238E27FC236}">
                <a16:creationId xmlns:a16="http://schemas.microsoft.com/office/drawing/2014/main" id="{F880F39D-D78B-40C9-BC38-504FD43AB434}"/>
              </a:ext>
            </a:extLst>
          </p:cNvPr>
          <p:cNvSpPr>
            <a:spLocks noGrp="1"/>
          </p:cNvSpPr>
          <p:nvPr/>
        </p:nvSpPr>
        <p:spPr>
          <a:xfrm>
            <a:off x="685800" y="3333750"/>
            <a:ext cx="4762500" cy="361950"/>
          </a:xfrm>
          <a:prstGeom prst="rect">
            <a:avLst/>
          </a:prstGeom>
          <a:noFill/>
          <a:ln w="0">
            <a:noFill/>
            <a:prstDash val="solid"/>
          </a:ln>
        </p:spPr>
        <p:txBody>
          <a:bodyPr/>
          <a:lstStyle/>
          <a:p>
            <a:pPr algn="l">
              <a:defRPr sz="1650" b="1">
                <a:solidFill>
                  <a:srgbClr val="B33A3A"/>
                </a:solidFill>
              </a:defRPr>
            </a:pPr>
            <a:r>
              <a:rPr sz="1650" b="1">
                <a:solidFill>
                  <a:srgbClr val="B33A3A"/>
                </a:solidFill>
              </a:rPr>
              <a:t>It does not replace PostgreSQL.</a:t>
            </a:r>
          </a:p>
        </p:txBody>
      </p:sp>
      <p:sp>
        <p:nvSpPr>
          <p:cNvPr id="6" name="Rectangle 5">
            <a:extLst>
              <a:ext uri="{FF2B5EF4-FFF2-40B4-BE49-F238E27FC236}">
                <a16:creationId xmlns:a16="http://schemas.microsoft.com/office/drawing/2014/main" id="{27A17AE2-0A92-4332-93B1-A169C094C333}"/>
              </a:ext>
            </a:extLst>
          </p:cNvPr>
          <p:cNvSpPr>
            <a:spLocks noGrp="1"/>
          </p:cNvSpPr>
          <p:nvPr/>
        </p:nvSpPr>
        <p:spPr>
          <a:xfrm>
            <a:off x="685800" y="3810000"/>
            <a:ext cx="4762500" cy="714375"/>
          </a:xfrm>
          <a:prstGeom prst="rect">
            <a:avLst/>
          </a:prstGeom>
          <a:noFill/>
          <a:ln w="0">
            <a:noFill/>
            <a:prstDash val="solid"/>
          </a:ln>
        </p:spPr>
        <p:txBody>
          <a:bodyPr/>
          <a:lstStyle/>
          <a:p>
            <a:pPr algn="l">
              <a:defRPr sz="1575" b="0">
                <a:solidFill>
                  <a:srgbClr val="102A43"/>
                </a:solidFill>
              </a:defRPr>
            </a:pPr>
            <a:r>
              <a:rPr sz="1575" b="0">
                <a:solidFill>
                  <a:srgbClr val="102A43"/>
                </a:solidFill>
              </a:rPr>
              <a:t>PostgreSQL is the server; DBeaver is the client used to communicate with it.</a:t>
            </a:r>
          </a:p>
        </p:txBody>
      </p:sp>
      <p:sp>
        <p:nvSpPr>
          <p:cNvPr id="7" name="Rectangle: Rounded Corners 6">
            <a:extLst>
              <a:ext uri="{FF2B5EF4-FFF2-40B4-BE49-F238E27FC236}">
                <a16:creationId xmlns:a16="http://schemas.microsoft.com/office/drawing/2014/main" id="{16EDDC85-AB19-4A9F-98E2-CD2D149F9D1A}"/>
              </a:ext>
            </a:extLst>
          </p:cNvPr>
          <p:cNvSpPr>
            <a:spLocks noGrp="1"/>
          </p:cNvSpPr>
          <p:nvPr/>
        </p:nvSpPr>
        <p:spPr>
          <a:xfrm>
            <a:off x="6191250" y="1619250"/>
            <a:ext cx="4762500" cy="3333750"/>
          </a:xfrm>
          <a:prstGeom prst="roundRect">
            <a:avLst>
              <a:gd name="adj" fmla="val 3429"/>
            </a:avLst>
          </a:prstGeom>
          <a:solidFill>
            <a:srgbClr val="EAF4F8"/>
          </a:solidFill>
          <a:ln w="9525">
            <a:solidFill>
              <a:srgbClr val="EAF4F8"/>
            </a:solidFill>
            <a:prstDash val="solid"/>
          </a:ln>
        </p:spPr>
        <p:txBody>
          <a:bodyPr/>
          <a:lstStyle/>
          <a:p>
            <a:endParaRPr lang="en-US"/>
          </a:p>
        </p:txBody>
      </p:sp>
      <p:sp>
        <p:nvSpPr>
          <p:cNvPr id="8" name="Rectangle 7">
            <a:extLst>
              <a:ext uri="{FF2B5EF4-FFF2-40B4-BE49-F238E27FC236}">
                <a16:creationId xmlns:a16="http://schemas.microsoft.com/office/drawing/2014/main" id="{19F5EF4E-4ECB-4B75-A997-57EAD0CABFB5}"/>
              </a:ext>
            </a:extLst>
          </p:cNvPr>
          <p:cNvSpPr>
            <a:spLocks noGrp="1"/>
          </p:cNvSpPr>
          <p:nvPr/>
        </p:nvSpPr>
        <p:spPr>
          <a:xfrm>
            <a:off x="6572250" y="1952625"/>
            <a:ext cx="4000500" cy="342900"/>
          </a:xfrm>
          <a:prstGeom prst="rect">
            <a:avLst/>
          </a:prstGeom>
          <a:noFill/>
          <a:ln w="0">
            <a:noFill/>
            <a:prstDash val="solid"/>
          </a:ln>
        </p:spPr>
        <p:txBody>
          <a:bodyPr/>
          <a:lstStyle/>
          <a:p>
            <a:pPr algn="l">
              <a:defRPr sz="1875" b="1">
                <a:solidFill>
                  <a:srgbClr val="18A6B8"/>
                </a:solidFill>
              </a:defRPr>
            </a:pPr>
            <a:r>
              <a:rPr sz="1875" b="1">
                <a:solidFill>
                  <a:srgbClr val="18A6B8"/>
                </a:solidFill>
              </a:rPr>
              <a:t>Useful features</a:t>
            </a:r>
          </a:p>
        </p:txBody>
      </p:sp>
      <p:sp>
        <p:nvSpPr>
          <p:cNvPr id="9" name="Rectangle 8">
            <a:extLst>
              <a:ext uri="{FF2B5EF4-FFF2-40B4-BE49-F238E27FC236}">
                <a16:creationId xmlns:a16="http://schemas.microsoft.com/office/drawing/2014/main" id="{CA94549D-97C1-4395-AC84-D5BBD5F07633}"/>
              </a:ext>
            </a:extLst>
          </p:cNvPr>
          <p:cNvSpPr>
            <a:spLocks noGrp="1"/>
          </p:cNvSpPr>
          <p:nvPr/>
        </p:nvSpPr>
        <p:spPr>
          <a:xfrm>
            <a:off x="6572250" y="2524125"/>
            <a:ext cx="3905250" cy="2333625"/>
          </a:xfrm>
          <a:prstGeom prst="rect">
            <a:avLst/>
          </a:prstGeom>
          <a:noFill/>
          <a:ln w="0">
            <a:noFill/>
            <a:prstDash val="solid"/>
          </a:ln>
        </p:spPr>
        <p:txBody>
          <a:bodyPr/>
          <a:lstStyle/>
          <a:p>
            <a:pPr algn="l">
              <a:defRPr sz="1575" b="0">
                <a:solidFill>
                  <a:srgbClr val="102A43"/>
                </a:solidFill>
              </a:defRPr>
            </a:pPr>
            <a:r>
              <a:rPr sz="1575" b="0">
                <a:solidFill>
                  <a:srgbClr val="102A43"/>
                </a:solidFill>
              </a:rPr>
              <a:t>• Database connection management</a:t>
            </a:r>
          </a:p>
          <a:p>
            <a:pPr algn="l">
              <a:defRPr sz="1575" b="0">
                <a:solidFill>
                  <a:srgbClr val="102A43"/>
                </a:solidFill>
              </a:defRPr>
            </a:pPr>
            <a:r>
              <a:rPr sz="1575" b="0">
                <a:solidFill>
                  <a:srgbClr val="102A43"/>
                </a:solidFill>
              </a:rPr>
              <a:t>• SQL editor and execution history</a:t>
            </a:r>
          </a:p>
          <a:p>
            <a:pPr algn="l">
              <a:defRPr sz="1575" b="0">
                <a:solidFill>
                  <a:srgbClr val="102A43"/>
                </a:solidFill>
              </a:defRPr>
            </a:pPr>
            <a:r>
              <a:rPr sz="1575" b="0">
                <a:solidFill>
                  <a:srgbClr val="102A43"/>
                </a:solidFill>
              </a:rPr>
              <a:t>• Table and data browsing</a:t>
            </a:r>
          </a:p>
          <a:p>
            <a:pPr algn="l">
              <a:defRPr sz="1575" b="0">
                <a:solidFill>
                  <a:srgbClr val="102A43"/>
                </a:solidFill>
              </a:defRPr>
            </a:pPr>
            <a:r>
              <a:rPr sz="1575" b="0">
                <a:solidFill>
                  <a:srgbClr val="102A43"/>
                </a:solidFill>
              </a:rPr>
              <a:t>• Import and export tools</a:t>
            </a:r>
          </a:p>
          <a:p>
            <a:pPr algn="l">
              <a:defRPr sz="1575" b="0">
                <a:solidFill>
                  <a:srgbClr val="102A43"/>
                </a:solidFill>
              </a:defRPr>
            </a:pPr>
            <a:r>
              <a:rPr sz="1575" b="0">
                <a:solidFill>
                  <a:srgbClr val="102A43"/>
                </a:solidFill>
              </a:rPr>
              <a:t>• Metadata and relationship inspection</a:t>
            </a:r>
          </a:p>
          <a:p>
            <a:pPr algn="l">
              <a:defRPr sz="1575" b="0">
                <a:solidFill>
                  <a:srgbClr val="102A43"/>
                </a:solidFill>
              </a:defRPr>
            </a:pPr>
            <a:r>
              <a:rPr sz="1575" b="0">
                <a:solidFill>
                  <a:srgbClr val="102A43"/>
                </a:solidFill>
              </a:rPr>
              <a:t>• Readable result grids</a:t>
            </a:r>
          </a:p>
        </p:txBody>
      </p:sp>
      <p:sp>
        <p:nvSpPr>
          <p:cNvPr id="10" name="Rectangle 9">
            <a:extLst>
              <a:ext uri="{FF2B5EF4-FFF2-40B4-BE49-F238E27FC236}">
                <a16:creationId xmlns:a16="http://schemas.microsoft.com/office/drawing/2014/main" id="{20BCB27C-E3FD-4FD2-8EFE-90F44245CEE6}"/>
              </a:ext>
            </a:extLst>
          </p:cNvPr>
          <p:cNvSpPr>
            <a:spLocks noGrp="1"/>
          </p:cNvSpPr>
          <p:nvPr/>
        </p:nvSpPr>
        <p:spPr>
          <a:xfrm>
            <a:off x="1143000" y="5381625"/>
            <a:ext cx="9906000" cy="400050"/>
          </a:xfrm>
          <a:prstGeom prst="rect">
            <a:avLst/>
          </a:prstGeom>
          <a:noFill/>
          <a:ln w="0">
            <a:noFill/>
            <a:prstDash val="solid"/>
          </a:ln>
        </p:spPr>
        <p:txBody>
          <a:bodyPr/>
          <a:lstStyle/>
          <a:p>
            <a:pPr algn="ctr">
              <a:defRPr sz="1725" b="1">
                <a:solidFill>
                  <a:srgbClr val="17845C"/>
                </a:solidFill>
              </a:defRPr>
            </a:pPr>
            <a:r>
              <a:rPr sz="1725" b="1">
                <a:solidFill>
                  <a:srgbClr val="17845C"/>
                </a:solidFill>
              </a:rPr>
              <a:t>Install both tools and test the connection before Week 2.</a:t>
            </a:r>
          </a:p>
        </p:txBody>
      </p:sp>
      <p:sp>
        <p:nvSpPr>
          <p:cNvPr id="11" name="Rectangle 10">
            <a:extLst>
              <a:ext uri="{FF2B5EF4-FFF2-40B4-BE49-F238E27FC236}">
                <a16:creationId xmlns:a16="http://schemas.microsoft.com/office/drawing/2014/main" id="{BFF79271-5C80-4A7D-BCFC-218D69DC892C}"/>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27</a:t>
            </a:r>
          </a:p>
        </p:txBody>
      </p:sp>
    </p:spTree>
    <p:extLst>
      <p:ext uri="{BB962C8B-B14F-4D97-AF65-F5344CB8AC3E}">
        <p14:creationId xmlns:p14="http://schemas.microsoft.com/office/powerpoint/2010/main" val="1621123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C1989E8D-88B9-4C0E-825A-9306D36D1466}"/>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Assessment 1: complete each online test carefully</a:t>
            </a:r>
          </a:p>
        </p:txBody>
      </p:sp>
      <p:sp>
        <p:nvSpPr>
          <p:cNvPr id="2" name="Rectangle 1">
            <a:extLst>
              <a:ext uri="{FF2B5EF4-FFF2-40B4-BE49-F238E27FC236}">
                <a16:creationId xmlns:a16="http://schemas.microsoft.com/office/drawing/2014/main" id="{469EEC14-5F0B-46E0-95C2-7E6831892636}"/>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1B6E4F03-2E4C-4721-B478-6D8FA4F12A83}"/>
              </a:ext>
            </a:extLst>
          </p:cNvPr>
          <p:cNvSpPr>
            <a:spLocks noGrp="1"/>
          </p:cNvSpPr>
          <p:nvPr/>
        </p:nvSpPr>
        <p:spPr>
          <a:xfrm>
            <a:off x="609600" y="1257300"/>
            <a:ext cx="10858500" cy="361950"/>
          </a:xfrm>
          <a:prstGeom prst="rect">
            <a:avLst/>
          </a:prstGeom>
          <a:noFill/>
          <a:ln w="0">
            <a:noFill/>
            <a:prstDash val="solid"/>
          </a:ln>
        </p:spPr>
        <p:txBody>
          <a:bodyPr/>
          <a:lstStyle/>
          <a:p>
            <a:pPr algn="l">
              <a:defRPr sz="1350" b="0">
                <a:solidFill>
                  <a:srgbClr val="526777"/>
                </a:solidFill>
              </a:defRPr>
            </a:pPr>
            <a:r>
              <a:rPr sz="1350" b="0">
                <a:solidFill>
                  <a:srgbClr val="526777"/>
                </a:solidFill>
              </a:rPr>
              <a:t>Two tests • 20% combined • 30 minutes per test</a:t>
            </a:r>
          </a:p>
        </p:txBody>
      </p:sp>
      <p:sp>
        <p:nvSpPr>
          <p:cNvPr id="4" name="Rectangle: Rounded Corners 3">
            <a:extLst>
              <a:ext uri="{FF2B5EF4-FFF2-40B4-BE49-F238E27FC236}">
                <a16:creationId xmlns:a16="http://schemas.microsoft.com/office/drawing/2014/main" id="{04F43D3A-0D2D-4E74-8D68-48ED86EBD6B2}"/>
              </a:ext>
            </a:extLst>
          </p:cNvPr>
          <p:cNvSpPr>
            <a:spLocks noGrp="1"/>
          </p:cNvSpPr>
          <p:nvPr/>
        </p:nvSpPr>
        <p:spPr>
          <a:xfrm>
            <a:off x="628650" y="1428750"/>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5" name="Rectangle 4">
            <a:extLst>
              <a:ext uri="{FF2B5EF4-FFF2-40B4-BE49-F238E27FC236}">
                <a16:creationId xmlns:a16="http://schemas.microsoft.com/office/drawing/2014/main" id="{5C79B5F5-AF03-4403-8484-CAE6DE457F8C}"/>
              </a:ext>
            </a:extLst>
          </p:cNvPr>
          <p:cNvSpPr>
            <a:spLocks noGrp="1"/>
          </p:cNvSpPr>
          <p:nvPr/>
        </p:nvSpPr>
        <p:spPr>
          <a:xfrm>
            <a:off x="628650" y="1495425"/>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1</a:t>
            </a:r>
          </a:p>
        </p:txBody>
      </p:sp>
      <p:sp>
        <p:nvSpPr>
          <p:cNvPr id="6" name="Rectangle 5">
            <a:extLst>
              <a:ext uri="{FF2B5EF4-FFF2-40B4-BE49-F238E27FC236}">
                <a16:creationId xmlns:a16="http://schemas.microsoft.com/office/drawing/2014/main" id="{29B34064-1744-49C2-910C-7B8DC99E8D69}"/>
              </a:ext>
            </a:extLst>
          </p:cNvPr>
          <p:cNvSpPr>
            <a:spLocks noGrp="1"/>
          </p:cNvSpPr>
          <p:nvPr/>
        </p:nvSpPr>
        <p:spPr>
          <a:xfrm>
            <a:off x="1219200" y="1428750"/>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Before the day: revise weekly concepts and practise without relying on notes</a:t>
            </a:r>
          </a:p>
        </p:txBody>
      </p:sp>
      <p:sp>
        <p:nvSpPr>
          <p:cNvPr id="7" name="Rectangle: Rounded Corners 6">
            <a:extLst>
              <a:ext uri="{FF2B5EF4-FFF2-40B4-BE49-F238E27FC236}">
                <a16:creationId xmlns:a16="http://schemas.microsoft.com/office/drawing/2014/main" id="{E3AEC9FD-9A6E-4910-A71B-811E8E8E9876}"/>
              </a:ext>
            </a:extLst>
          </p:cNvPr>
          <p:cNvSpPr>
            <a:spLocks noGrp="1"/>
          </p:cNvSpPr>
          <p:nvPr/>
        </p:nvSpPr>
        <p:spPr>
          <a:xfrm>
            <a:off x="628650" y="2009775"/>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8" name="Rectangle 7">
            <a:extLst>
              <a:ext uri="{FF2B5EF4-FFF2-40B4-BE49-F238E27FC236}">
                <a16:creationId xmlns:a16="http://schemas.microsoft.com/office/drawing/2014/main" id="{454401FB-E05B-48BA-BD00-03319476C655}"/>
              </a:ext>
            </a:extLst>
          </p:cNvPr>
          <p:cNvSpPr>
            <a:spLocks noGrp="1"/>
          </p:cNvSpPr>
          <p:nvPr/>
        </p:nvSpPr>
        <p:spPr>
          <a:xfrm>
            <a:off x="628650" y="2076450"/>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2</a:t>
            </a:r>
          </a:p>
        </p:txBody>
      </p:sp>
      <p:sp>
        <p:nvSpPr>
          <p:cNvPr id="9" name="Rectangle 8">
            <a:extLst>
              <a:ext uri="{FF2B5EF4-FFF2-40B4-BE49-F238E27FC236}">
                <a16:creationId xmlns:a16="http://schemas.microsoft.com/office/drawing/2014/main" id="{B0A53AE1-5135-47BB-BDD5-6D8D1049F3A8}"/>
              </a:ext>
            </a:extLst>
          </p:cNvPr>
          <p:cNvSpPr>
            <a:spLocks noGrp="1"/>
          </p:cNvSpPr>
          <p:nvPr/>
        </p:nvSpPr>
        <p:spPr>
          <a:xfrm>
            <a:off x="1219200" y="2009775"/>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Check the availability period: Test 1 is 21 August 2026; Test 2 is TBC</a:t>
            </a:r>
          </a:p>
        </p:txBody>
      </p:sp>
      <p:sp>
        <p:nvSpPr>
          <p:cNvPr id="10" name="Rectangle: Rounded Corners 9">
            <a:extLst>
              <a:ext uri="{FF2B5EF4-FFF2-40B4-BE49-F238E27FC236}">
                <a16:creationId xmlns:a16="http://schemas.microsoft.com/office/drawing/2014/main" id="{B5C3D650-79A4-4CEF-88C5-2F8F6F96CF2C}"/>
              </a:ext>
            </a:extLst>
          </p:cNvPr>
          <p:cNvSpPr>
            <a:spLocks noGrp="1"/>
          </p:cNvSpPr>
          <p:nvPr/>
        </p:nvSpPr>
        <p:spPr>
          <a:xfrm>
            <a:off x="628650" y="2590800"/>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11" name="Rectangle 10">
            <a:extLst>
              <a:ext uri="{FF2B5EF4-FFF2-40B4-BE49-F238E27FC236}">
                <a16:creationId xmlns:a16="http://schemas.microsoft.com/office/drawing/2014/main" id="{64D343C2-1780-42F2-9196-78FCE063465D}"/>
              </a:ext>
            </a:extLst>
          </p:cNvPr>
          <p:cNvSpPr>
            <a:spLocks noGrp="1"/>
          </p:cNvSpPr>
          <p:nvPr/>
        </p:nvSpPr>
        <p:spPr>
          <a:xfrm>
            <a:off x="628650" y="2657475"/>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3</a:t>
            </a:r>
          </a:p>
        </p:txBody>
      </p:sp>
      <p:sp>
        <p:nvSpPr>
          <p:cNvPr id="12" name="Rectangle 11">
            <a:extLst>
              <a:ext uri="{FF2B5EF4-FFF2-40B4-BE49-F238E27FC236}">
                <a16:creationId xmlns:a16="http://schemas.microsoft.com/office/drawing/2014/main" id="{68E62108-1B13-485E-9906-E34643ECB138}"/>
              </a:ext>
            </a:extLst>
          </p:cNvPr>
          <p:cNvSpPr>
            <a:spLocks noGrp="1"/>
          </p:cNvSpPr>
          <p:nvPr/>
        </p:nvSpPr>
        <p:spPr>
          <a:xfrm>
            <a:off x="1219200" y="2590800"/>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Use an updated, reliable Windows 10+ computer or laptop with stable internet</a:t>
            </a:r>
          </a:p>
        </p:txBody>
      </p:sp>
      <p:sp>
        <p:nvSpPr>
          <p:cNvPr id="13" name="Rectangle: Rounded Corners 12">
            <a:extLst>
              <a:ext uri="{FF2B5EF4-FFF2-40B4-BE49-F238E27FC236}">
                <a16:creationId xmlns:a16="http://schemas.microsoft.com/office/drawing/2014/main" id="{9A1EDFD1-8081-4B87-9E82-8553ABD83F17}"/>
              </a:ext>
            </a:extLst>
          </p:cNvPr>
          <p:cNvSpPr>
            <a:spLocks noGrp="1"/>
          </p:cNvSpPr>
          <p:nvPr/>
        </p:nvSpPr>
        <p:spPr>
          <a:xfrm>
            <a:off x="628650" y="3171825"/>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14" name="Rectangle 13">
            <a:extLst>
              <a:ext uri="{FF2B5EF4-FFF2-40B4-BE49-F238E27FC236}">
                <a16:creationId xmlns:a16="http://schemas.microsoft.com/office/drawing/2014/main" id="{850522F8-06C7-4821-9414-452B35DBAD52}"/>
              </a:ext>
            </a:extLst>
          </p:cNvPr>
          <p:cNvSpPr>
            <a:spLocks noGrp="1"/>
          </p:cNvSpPr>
          <p:nvPr/>
        </p:nvSpPr>
        <p:spPr>
          <a:xfrm>
            <a:off x="628650" y="3238500"/>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4</a:t>
            </a:r>
          </a:p>
        </p:txBody>
      </p:sp>
      <p:sp>
        <p:nvSpPr>
          <p:cNvPr id="15" name="Rectangle 14">
            <a:extLst>
              <a:ext uri="{FF2B5EF4-FFF2-40B4-BE49-F238E27FC236}">
                <a16:creationId xmlns:a16="http://schemas.microsoft.com/office/drawing/2014/main" id="{99268085-9D89-4421-A203-3B93D8407D8D}"/>
              </a:ext>
            </a:extLst>
          </p:cNvPr>
          <p:cNvSpPr>
            <a:spLocks noGrp="1"/>
          </p:cNvSpPr>
          <p:nvPr/>
        </p:nvSpPr>
        <p:spPr>
          <a:xfrm>
            <a:off x="1219200" y="3171825"/>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Use current Chrome or Firefox—no mobile device, Blackboard app, VPN or overseas IP</a:t>
            </a:r>
          </a:p>
        </p:txBody>
      </p:sp>
      <p:sp>
        <p:nvSpPr>
          <p:cNvPr id="16" name="Rectangle: Rounded Corners 15">
            <a:extLst>
              <a:ext uri="{FF2B5EF4-FFF2-40B4-BE49-F238E27FC236}">
                <a16:creationId xmlns:a16="http://schemas.microsoft.com/office/drawing/2014/main" id="{1B002B4E-738B-4B50-9EE1-C0F946ADF72B}"/>
              </a:ext>
            </a:extLst>
          </p:cNvPr>
          <p:cNvSpPr>
            <a:spLocks noGrp="1"/>
          </p:cNvSpPr>
          <p:nvPr/>
        </p:nvSpPr>
        <p:spPr>
          <a:xfrm>
            <a:off x="628650" y="3752850"/>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17" name="Rectangle 16">
            <a:extLst>
              <a:ext uri="{FF2B5EF4-FFF2-40B4-BE49-F238E27FC236}">
                <a16:creationId xmlns:a16="http://schemas.microsoft.com/office/drawing/2014/main" id="{404CD8A7-4BF6-480D-8995-2B59456CA5DC}"/>
              </a:ext>
            </a:extLst>
          </p:cNvPr>
          <p:cNvSpPr>
            <a:spLocks noGrp="1"/>
          </p:cNvSpPr>
          <p:nvPr/>
        </p:nvSpPr>
        <p:spPr>
          <a:xfrm>
            <a:off x="628650" y="3819525"/>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5</a:t>
            </a:r>
          </a:p>
        </p:txBody>
      </p:sp>
      <p:sp>
        <p:nvSpPr>
          <p:cNvPr id="18" name="Rectangle 17">
            <a:extLst>
              <a:ext uri="{FF2B5EF4-FFF2-40B4-BE49-F238E27FC236}">
                <a16:creationId xmlns:a16="http://schemas.microsoft.com/office/drawing/2014/main" id="{4D10E959-14B5-4A8D-B3B3-A018A84DFC59}"/>
              </a:ext>
            </a:extLst>
          </p:cNvPr>
          <p:cNvSpPr>
            <a:spLocks noGrp="1"/>
          </p:cNvSpPr>
          <p:nvPr/>
        </p:nvSpPr>
        <p:spPr>
          <a:xfrm>
            <a:off x="1219200" y="3752850"/>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Close other devices, browsers and tabs; open the test on one device and one tab only</a:t>
            </a:r>
          </a:p>
        </p:txBody>
      </p:sp>
      <p:sp>
        <p:nvSpPr>
          <p:cNvPr id="19" name="Rectangle: Rounded Corners 18">
            <a:extLst>
              <a:ext uri="{FF2B5EF4-FFF2-40B4-BE49-F238E27FC236}">
                <a16:creationId xmlns:a16="http://schemas.microsoft.com/office/drawing/2014/main" id="{359E9C36-B303-4C3D-9B22-8C0722DDEAF3}"/>
              </a:ext>
            </a:extLst>
          </p:cNvPr>
          <p:cNvSpPr>
            <a:spLocks noGrp="1"/>
          </p:cNvSpPr>
          <p:nvPr/>
        </p:nvSpPr>
        <p:spPr>
          <a:xfrm>
            <a:off x="628650" y="4333875"/>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20" name="Rectangle 19">
            <a:extLst>
              <a:ext uri="{FF2B5EF4-FFF2-40B4-BE49-F238E27FC236}">
                <a16:creationId xmlns:a16="http://schemas.microsoft.com/office/drawing/2014/main" id="{211BFBBA-807F-480F-BC83-F2B7546A5186}"/>
              </a:ext>
            </a:extLst>
          </p:cNvPr>
          <p:cNvSpPr>
            <a:spLocks noGrp="1"/>
          </p:cNvSpPr>
          <p:nvPr/>
        </p:nvSpPr>
        <p:spPr>
          <a:xfrm>
            <a:off x="628650" y="4400550"/>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6</a:t>
            </a:r>
          </a:p>
        </p:txBody>
      </p:sp>
      <p:sp>
        <p:nvSpPr>
          <p:cNvPr id="21" name="Rectangle 20">
            <a:extLst>
              <a:ext uri="{FF2B5EF4-FFF2-40B4-BE49-F238E27FC236}">
                <a16:creationId xmlns:a16="http://schemas.microsoft.com/office/drawing/2014/main" id="{F90A90F9-199E-4BEB-BB8F-7381BB1D71FA}"/>
              </a:ext>
            </a:extLst>
          </p:cNvPr>
          <p:cNvSpPr>
            <a:spLocks noGrp="1"/>
          </p:cNvSpPr>
          <p:nvPr/>
        </p:nvSpPr>
        <p:spPr>
          <a:xfrm>
            <a:off x="1219200" y="4333875"/>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Select Begin only when ready; the 30-minute timer continues if you leave</a:t>
            </a:r>
          </a:p>
        </p:txBody>
      </p:sp>
      <p:sp>
        <p:nvSpPr>
          <p:cNvPr id="22" name="Rectangle: Rounded Corners 21">
            <a:extLst>
              <a:ext uri="{FF2B5EF4-FFF2-40B4-BE49-F238E27FC236}">
                <a16:creationId xmlns:a16="http://schemas.microsoft.com/office/drawing/2014/main" id="{F25794C2-E048-498C-94C9-D565E73174C6}"/>
              </a:ext>
            </a:extLst>
          </p:cNvPr>
          <p:cNvSpPr>
            <a:spLocks noGrp="1"/>
          </p:cNvSpPr>
          <p:nvPr/>
        </p:nvSpPr>
        <p:spPr>
          <a:xfrm>
            <a:off x="628650" y="4914900"/>
            <a:ext cx="400050" cy="400050"/>
          </a:xfrm>
          <a:prstGeom prst="roundRect">
            <a:avLst>
              <a:gd name="adj" fmla="val 28571"/>
            </a:avLst>
          </a:prstGeom>
          <a:solidFill>
            <a:srgbClr val="1261A0"/>
          </a:solidFill>
          <a:ln w="9525">
            <a:solidFill>
              <a:srgbClr val="1261A0"/>
            </a:solidFill>
            <a:prstDash val="solid"/>
          </a:ln>
        </p:spPr>
        <p:txBody>
          <a:bodyPr/>
          <a:lstStyle/>
          <a:p>
            <a:endParaRPr lang="en-US"/>
          </a:p>
        </p:txBody>
      </p:sp>
      <p:sp>
        <p:nvSpPr>
          <p:cNvPr id="23" name="Rectangle 22">
            <a:extLst>
              <a:ext uri="{FF2B5EF4-FFF2-40B4-BE49-F238E27FC236}">
                <a16:creationId xmlns:a16="http://schemas.microsoft.com/office/drawing/2014/main" id="{B6B1CA60-697E-4B38-86C9-4596F3A6A78A}"/>
              </a:ext>
            </a:extLst>
          </p:cNvPr>
          <p:cNvSpPr>
            <a:spLocks noGrp="1"/>
          </p:cNvSpPr>
          <p:nvPr/>
        </p:nvSpPr>
        <p:spPr>
          <a:xfrm>
            <a:off x="628650" y="4981575"/>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7</a:t>
            </a:r>
          </a:p>
        </p:txBody>
      </p:sp>
      <p:sp>
        <p:nvSpPr>
          <p:cNvPr id="24" name="Rectangle 23">
            <a:extLst>
              <a:ext uri="{FF2B5EF4-FFF2-40B4-BE49-F238E27FC236}">
                <a16:creationId xmlns:a16="http://schemas.microsoft.com/office/drawing/2014/main" id="{54767CB9-445A-4088-9BAA-B73843B4F743}"/>
              </a:ext>
            </a:extLst>
          </p:cNvPr>
          <p:cNvSpPr>
            <a:spLocks noGrp="1"/>
          </p:cNvSpPr>
          <p:nvPr/>
        </p:nvSpPr>
        <p:spPr>
          <a:xfrm>
            <a:off x="1219200" y="4914900"/>
            <a:ext cx="10096500" cy="419100"/>
          </a:xfrm>
          <a:prstGeom prst="rect">
            <a:avLst/>
          </a:prstGeom>
          <a:noFill/>
          <a:ln w="0">
            <a:noFill/>
            <a:prstDash val="solid"/>
          </a:ln>
        </p:spPr>
        <p:txBody>
          <a:bodyPr/>
          <a:lstStyle/>
          <a:p>
            <a:pPr algn="l">
              <a:defRPr sz="1350" b="0">
                <a:solidFill>
                  <a:srgbClr val="102A43"/>
                </a:solidFill>
              </a:defRPr>
            </a:pPr>
            <a:r>
              <a:rPr sz="1350" b="0">
                <a:solidFill>
                  <a:srgbClr val="102A43"/>
                </a:solidFill>
              </a:rPr>
              <a:t>Answer a question, review it, then select CONTINUE—you cannot return to change it</a:t>
            </a:r>
          </a:p>
        </p:txBody>
      </p:sp>
      <p:sp>
        <p:nvSpPr>
          <p:cNvPr id="25" name="Rectangle: Rounded Corners 24">
            <a:extLst>
              <a:ext uri="{FF2B5EF4-FFF2-40B4-BE49-F238E27FC236}">
                <a16:creationId xmlns:a16="http://schemas.microsoft.com/office/drawing/2014/main" id="{184FBFAE-B212-41BD-A0B6-056202EDF8FA}"/>
              </a:ext>
            </a:extLst>
          </p:cNvPr>
          <p:cNvSpPr>
            <a:spLocks noGrp="1"/>
          </p:cNvSpPr>
          <p:nvPr/>
        </p:nvSpPr>
        <p:spPr>
          <a:xfrm>
            <a:off x="628650" y="5495925"/>
            <a:ext cx="400050" cy="400050"/>
          </a:xfrm>
          <a:prstGeom prst="roundRect">
            <a:avLst>
              <a:gd name="adj" fmla="val 28571"/>
            </a:avLst>
          </a:prstGeom>
          <a:solidFill>
            <a:srgbClr val="17845C"/>
          </a:solidFill>
          <a:ln w="9525">
            <a:solidFill>
              <a:srgbClr val="17845C"/>
            </a:solidFill>
            <a:prstDash val="solid"/>
          </a:ln>
        </p:spPr>
        <p:txBody>
          <a:bodyPr/>
          <a:lstStyle/>
          <a:p>
            <a:endParaRPr lang="en-US"/>
          </a:p>
        </p:txBody>
      </p:sp>
      <p:sp>
        <p:nvSpPr>
          <p:cNvPr id="26" name="Rectangle 25">
            <a:extLst>
              <a:ext uri="{FF2B5EF4-FFF2-40B4-BE49-F238E27FC236}">
                <a16:creationId xmlns:a16="http://schemas.microsoft.com/office/drawing/2014/main" id="{FBEEA69F-364D-4E16-A2C2-93F6BD0355D2}"/>
              </a:ext>
            </a:extLst>
          </p:cNvPr>
          <p:cNvSpPr>
            <a:spLocks noGrp="1"/>
          </p:cNvSpPr>
          <p:nvPr/>
        </p:nvSpPr>
        <p:spPr>
          <a:xfrm>
            <a:off x="628650" y="5562600"/>
            <a:ext cx="400050" cy="238125"/>
          </a:xfrm>
          <a:prstGeom prst="rect">
            <a:avLst/>
          </a:prstGeom>
          <a:noFill/>
          <a:ln w="0">
            <a:noFill/>
            <a:prstDash val="solid"/>
          </a:ln>
        </p:spPr>
        <p:txBody>
          <a:bodyPr/>
          <a:lstStyle/>
          <a:p>
            <a:pPr algn="ctr">
              <a:defRPr sz="1125" b="1">
                <a:solidFill>
                  <a:srgbClr val="FFFFFF"/>
                </a:solidFill>
              </a:defRPr>
            </a:pPr>
            <a:r>
              <a:rPr sz="1125" b="1">
                <a:solidFill>
                  <a:srgbClr val="FFFFFF"/>
                </a:solidFill>
              </a:rPr>
              <a:t>8</a:t>
            </a:r>
          </a:p>
        </p:txBody>
      </p:sp>
      <p:sp>
        <p:nvSpPr>
          <p:cNvPr id="27" name="Rectangle 26">
            <a:extLst>
              <a:ext uri="{FF2B5EF4-FFF2-40B4-BE49-F238E27FC236}">
                <a16:creationId xmlns:a16="http://schemas.microsoft.com/office/drawing/2014/main" id="{79F1E200-88EC-4941-B1B7-D318299B59DF}"/>
              </a:ext>
            </a:extLst>
          </p:cNvPr>
          <p:cNvSpPr>
            <a:spLocks noGrp="1"/>
          </p:cNvSpPr>
          <p:nvPr/>
        </p:nvSpPr>
        <p:spPr>
          <a:xfrm>
            <a:off x="1219200" y="5495925"/>
            <a:ext cx="10096500" cy="419100"/>
          </a:xfrm>
          <a:prstGeom prst="rect">
            <a:avLst/>
          </a:prstGeom>
          <a:noFill/>
          <a:ln w="0">
            <a:noFill/>
            <a:prstDash val="solid"/>
          </a:ln>
        </p:spPr>
        <p:txBody>
          <a:bodyPr/>
          <a:lstStyle/>
          <a:p>
            <a:pPr algn="l">
              <a:defRPr sz="1350" b="1">
                <a:solidFill>
                  <a:srgbClr val="102A43"/>
                </a:solidFill>
              </a:defRPr>
            </a:pPr>
            <a:r>
              <a:rPr sz="1350" b="1">
                <a:solidFill>
                  <a:srgbClr val="102A43"/>
                </a:solidFill>
              </a:rPr>
              <a:t>After every question is answered, select SUBMIT once and confirm completion</a:t>
            </a:r>
          </a:p>
        </p:txBody>
      </p:sp>
      <p:sp>
        <p:nvSpPr>
          <p:cNvPr id="28" name="Rectangle 27">
            <a:extLst>
              <a:ext uri="{FF2B5EF4-FFF2-40B4-BE49-F238E27FC236}">
                <a16:creationId xmlns:a16="http://schemas.microsoft.com/office/drawing/2014/main" id="{A6D059E8-375C-497A-96B6-235E50EB50D9}"/>
              </a:ext>
            </a:extLst>
          </p:cNvPr>
          <p:cNvSpPr>
            <a:spLocks noGrp="1"/>
          </p:cNvSpPr>
          <p:nvPr/>
        </p:nvSpPr>
        <p:spPr>
          <a:xfrm>
            <a:off x="857250" y="6162675"/>
            <a:ext cx="10477500" cy="266700"/>
          </a:xfrm>
          <a:prstGeom prst="rect">
            <a:avLst/>
          </a:prstGeom>
          <a:noFill/>
          <a:ln w="0">
            <a:noFill/>
            <a:prstDash val="solid"/>
          </a:ln>
        </p:spPr>
        <p:txBody>
          <a:bodyPr/>
          <a:lstStyle/>
          <a:p>
            <a:pPr algn="ctr">
              <a:defRPr sz="1125" b="1">
                <a:solidFill>
                  <a:srgbClr val="B33A3A"/>
                </a:solidFill>
              </a:defRPr>
            </a:pPr>
            <a:r>
              <a:rPr sz="1125" b="1">
                <a:solidFill>
                  <a:srgbClr val="B33A3A"/>
                </a:solidFill>
              </a:rPr>
              <a:t>Availability window: 6:00 am–9:00 pm on the listed date. Starting late does not extend the closing time.</a:t>
            </a:r>
          </a:p>
        </p:txBody>
      </p:sp>
      <p:sp>
        <p:nvSpPr>
          <p:cNvPr id="29" name="Rectangle 28">
            <a:extLst>
              <a:ext uri="{FF2B5EF4-FFF2-40B4-BE49-F238E27FC236}">
                <a16:creationId xmlns:a16="http://schemas.microsoft.com/office/drawing/2014/main" id="{4BD13554-E49B-418A-B98A-D4ED472AE76D}"/>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28</a:t>
            </a:r>
          </a:p>
        </p:txBody>
      </p:sp>
    </p:spTree>
    <p:extLst>
      <p:ext uri="{BB962C8B-B14F-4D97-AF65-F5344CB8AC3E}">
        <p14:creationId xmlns:p14="http://schemas.microsoft.com/office/powerpoint/2010/main" val="476354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0B5A055B-4932-4F82-9D19-9E09639F8A59}"/>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Assessment 2: build the group case study systematically</a:t>
            </a:r>
          </a:p>
        </p:txBody>
      </p:sp>
      <p:sp>
        <p:nvSpPr>
          <p:cNvPr id="2" name="Rectangle 1">
            <a:extLst>
              <a:ext uri="{FF2B5EF4-FFF2-40B4-BE49-F238E27FC236}">
                <a16:creationId xmlns:a16="http://schemas.microsoft.com/office/drawing/2014/main" id="{CEA77007-DEF2-4849-A74D-C5F9D96E1605}"/>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265E0CC4-85F1-4012-B36C-F22C90EF878F}"/>
              </a:ext>
            </a:extLst>
          </p:cNvPr>
          <p:cNvSpPr>
            <a:spLocks noGrp="1"/>
          </p:cNvSpPr>
          <p:nvPr/>
        </p:nvSpPr>
        <p:spPr>
          <a:xfrm>
            <a:off x="609600" y="1123950"/>
            <a:ext cx="10858500" cy="361950"/>
          </a:xfrm>
          <a:prstGeom prst="rect">
            <a:avLst/>
          </a:prstGeom>
          <a:noFill/>
          <a:ln w="0">
            <a:noFill/>
            <a:prstDash val="solid"/>
          </a:ln>
        </p:spPr>
        <p:txBody>
          <a:bodyPr/>
          <a:lstStyle/>
          <a:p>
            <a:pPr algn="l">
              <a:defRPr sz="1350" b="0">
                <a:solidFill>
                  <a:srgbClr val="526777"/>
                </a:solidFill>
              </a:defRPr>
            </a:pPr>
            <a:r>
              <a:rPr sz="1350" b="0">
                <a:solidFill>
                  <a:srgbClr val="526777"/>
                </a:solidFill>
              </a:rPr>
              <a:t>Due 21 September 2026 at 11:59 pm • 40%</a:t>
            </a:r>
          </a:p>
        </p:txBody>
      </p:sp>
      <p:sp>
        <p:nvSpPr>
          <p:cNvPr id="4" name="Rectangle 3">
            <a:extLst>
              <a:ext uri="{FF2B5EF4-FFF2-40B4-BE49-F238E27FC236}">
                <a16:creationId xmlns:a16="http://schemas.microsoft.com/office/drawing/2014/main" id="{B39716EC-BB53-4618-BA32-70D6FE57F483}"/>
              </a:ext>
            </a:extLst>
          </p:cNvPr>
          <p:cNvSpPr>
            <a:spLocks noGrp="1"/>
          </p:cNvSpPr>
          <p:nvPr/>
        </p:nvSpPr>
        <p:spPr>
          <a:xfrm>
            <a:off x="619125" y="1381125"/>
            <a:ext cx="1714500"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1. Form and register</a:t>
            </a:r>
          </a:p>
        </p:txBody>
      </p:sp>
      <p:sp>
        <p:nvSpPr>
          <p:cNvPr id="5" name="Rectangle 4">
            <a:extLst>
              <a:ext uri="{FF2B5EF4-FFF2-40B4-BE49-F238E27FC236}">
                <a16:creationId xmlns:a16="http://schemas.microsoft.com/office/drawing/2014/main" id="{2D448C6B-3DD7-4924-B162-5F09CB40D458}"/>
              </a:ext>
            </a:extLst>
          </p:cNvPr>
          <p:cNvSpPr>
            <a:spLocks noGrp="1"/>
          </p:cNvSpPr>
          <p:nvPr/>
        </p:nvSpPr>
        <p:spPr>
          <a:xfrm>
            <a:off x="2381250" y="1381125"/>
            <a:ext cx="3714750" cy="647700"/>
          </a:xfrm>
          <a:prstGeom prst="rect">
            <a:avLst/>
          </a:prstGeom>
          <a:noFill/>
          <a:ln w="0">
            <a:noFill/>
            <a:prstDash val="solid"/>
          </a:ln>
        </p:spPr>
        <p:txBody>
          <a:bodyPr/>
          <a:lstStyle/>
          <a:p>
            <a:pPr algn="l">
              <a:defRPr sz="1200" b="0">
                <a:solidFill>
                  <a:srgbClr val="102A43"/>
                </a:solidFill>
              </a:defRPr>
            </a:pPr>
            <a:r>
              <a:rPr sz="1200" b="0" dirty="0">
                <a:solidFill>
                  <a:srgbClr val="102A43"/>
                </a:solidFill>
              </a:rPr>
              <a:t>Join an official Blackboard group at your campus/class before the membership deadline.</a:t>
            </a:r>
          </a:p>
        </p:txBody>
      </p:sp>
      <p:sp>
        <p:nvSpPr>
          <p:cNvPr id="6" name="Rectangle 5">
            <a:extLst>
              <a:ext uri="{FF2B5EF4-FFF2-40B4-BE49-F238E27FC236}">
                <a16:creationId xmlns:a16="http://schemas.microsoft.com/office/drawing/2014/main" id="{A58F6585-9F93-40B2-A1A6-D20C4E0EFA37}"/>
              </a:ext>
            </a:extLst>
          </p:cNvPr>
          <p:cNvSpPr>
            <a:spLocks noGrp="1"/>
          </p:cNvSpPr>
          <p:nvPr/>
        </p:nvSpPr>
        <p:spPr>
          <a:xfrm>
            <a:off x="619125" y="2314575"/>
            <a:ext cx="1714500"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2. Read the specification</a:t>
            </a:r>
          </a:p>
        </p:txBody>
      </p:sp>
      <p:sp>
        <p:nvSpPr>
          <p:cNvPr id="7" name="Rectangle 6">
            <a:extLst>
              <a:ext uri="{FF2B5EF4-FFF2-40B4-BE49-F238E27FC236}">
                <a16:creationId xmlns:a16="http://schemas.microsoft.com/office/drawing/2014/main" id="{7D3D2358-AB56-41BB-BE48-6AE0AC14897E}"/>
              </a:ext>
            </a:extLst>
          </p:cNvPr>
          <p:cNvSpPr>
            <a:spLocks noGrp="1"/>
          </p:cNvSpPr>
          <p:nvPr/>
        </p:nvSpPr>
        <p:spPr>
          <a:xfrm>
            <a:off x="2381250" y="231457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Identify the business problem, required outputs, evidence, format and marking criteria.</a:t>
            </a:r>
          </a:p>
        </p:txBody>
      </p:sp>
      <p:sp>
        <p:nvSpPr>
          <p:cNvPr id="8" name="Rectangle 7">
            <a:extLst>
              <a:ext uri="{FF2B5EF4-FFF2-40B4-BE49-F238E27FC236}">
                <a16:creationId xmlns:a16="http://schemas.microsoft.com/office/drawing/2014/main" id="{8321096F-6D83-44FE-A489-BB82EC66970E}"/>
              </a:ext>
            </a:extLst>
          </p:cNvPr>
          <p:cNvSpPr>
            <a:spLocks noGrp="1"/>
          </p:cNvSpPr>
          <p:nvPr/>
        </p:nvSpPr>
        <p:spPr>
          <a:xfrm>
            <a:off x="619125" y="3248025"/>
            <a:ext cx="1714500"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3. Agree on governance</a:t>
            </a:r>
          </a:p>
        </p:txBody>
      </p:sp>
      <p:sp>
        <p:nvSpPr>
          <p:cNvPr id="9" name="Rectangle 8">
            <a:extLst>
              <a:ext uri="{FF2B5EF4-FFF2-40B4-BE49-F238E27FC236}">
                <a16:creationId xmlns:a16="http://schemas.microsoft.com/office/drawing/2014/main" id="{77BDF6A5-5D57-486C-AFFC-3903B060AF1E}"/>
              </a:ext>
            </a:extLst>
          </p:cNvPr>
          <p:cNvSpPr>
            <a:spLocks noGrp="1"/>
          </p:cNvSpPr>
          <p:nvPr/>
        </p:nvSpPr>
        <p:spPr>
          <a:xfrm>
            <a:off x="2381250" y="324802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Set roles, milestones, communication channels and a shared record of contributions.</a:t>
            </a:r>
          </a:p>
        </p:txBody>
      </p:sp>
      <p:sp>
        <p:nvSpPr>
          <p:cNvPr id="10" name="Rectangle 9">
            <a:extLst>
              <a:ext uri="{FF2B5EF4-FFF2-40B4-BE49-F238E27FC236}">
                <a16:creationId xmlns:a16="http://schemas.microsoft.com/office/drawing/2014/main" id="{EA31E261-92E9-417B-BCDD-A8EEE7185E2B}"/>
              </a:ext>
            </a:extLst>
          </p:cNvPr>
          <p:cNvSpPr>
            <a:spLocks noGrp="1"/>
          </p:cNvSpPr>
          <p:nvPr/>
        </p:nvSpPr>
        <p:spPr>
          <a:xfrm>
            <a:off x="619125" y="4181475"/>
            <a:ext cx="1714500"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4. Analyse requirements</a:t>
            </a:r>
          </a:p>
        </p:txBody>
      </p:sp>
      <p:sp>
        <p:nvSpPr>
          <p:cNvPr id="11" name="Rectangle 10">
            <a:extLst>
              <a:ext uri="{FF2B5EF4-FFF2-40B4-BE49-F238E27FC236}">
                <a16:creationId xmlns:a16="http://schemas.microsoft.com/office/drawing/2014/main" id="{2A17DB1D-0B6B-4339-B31D-66E91BCDDD8B}"/>
              </a:ext>
            </a:extLst>
          </p:cNvPr>
          <p:cNvSpPr>
            <a:spLocks noGrp="1"/>
          </p:cNvSpPr>
          <p:nvPr/>
        </p:nvSpPr>
        <p:spPr>
          <a:xfrm>
            <a:off x="2381250" y="418147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Identify entities, attributes, relationships, business rules and assumptions.</a:t>
            </a:r>
          </a:p>
        </p:txBody>
      </p:sp>
      <p:sp>
        <p:nvSpPr>
          <p:cNvPr id="12" name="Rectangle 11">
            <a:extLst>
              <a:ext uri="{FF2B5EF4-FFF2-40B4-BE49-F238E27FC236}">
                <a16:creationId xmlns:a16="http://schemas.microsoft.com/office/drawing/2014/main" id="{0694DE97-9CDD-443F-9166-49BEBE342DE5}"/>
              </a:ext>
            </a:extLst>
          </p:cNvPr>
          <p:cNvSpPr>
            <a:spLocks noGrp="1"/>
          </p:cNvSpPr>
          <p:nvPr/>
        </p:nvSpPr>
        <p:spPr>
          <a:xfrm>
            <a:off x="619125" y="5114925"/>
            <a:ext cx="1714500"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5. Design and validate</a:t>
            </a:r>
          </a:p>
        </p:txBody>
      </p:sp>
      <p:sp>
        <p:nvSpPr>
          <p:cNvPr id="13" name="Rectangle 12">
            <a:extLst>
              <a:ext uri="{FF2B5EF4-FFF2-40B4-BE49-F238E27FC236}">
                <a16:creationId xmlns:a16="http://schemas.microsoft.com/office/drawing/2014/main" id="{838FE6F9-22F2-406F-92DE-ABC74E88D3AE}"/>
              </a:ext>
            </a:extLst>
          </p:cNvPr>
          <p:cNvSpPr>
            <a:spLocks noGrp="1"/>
          </p:cNvSpPr>
          <p:nvPr/>
        </p:nvSpPr>
        <p:spPr>
          <a:xfrm>
            <a:off x="2381250" y="511492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Create the data model; examine keys, dependencies and normalisation; resolve anomalies.</a:t>
            </a:r>
          </a:p>
        </p:txBody>
      </p:sp>
      <p:sp>
        <p:nvSpPr>
          <p:cNvPr id="14" name="Rectangle 13">
            <a:extLst>
              <a:ext uri="{FF2B5EF4-FFF2-40B4-BE49-F238E27FC236}">
                <a16:creationId xmlns:a16="http://schemas.microsoft.com/office/drawing/2014/main" id="{10E8386F-F05C-402B-9B6A-CB194553246B}"/>
              </a:ext>
            </a:extLst>
          </p:cNvPr>
          <p:cNvSpPr>
            <a:spLocks noGrp="1"/>
          </p:cNvSpPr>
          <p:nvPr/>
        </p:nvSpPr>
        <p:spPr>
          <a:xfrm>
            <a:off x="6381750" y="1381125"/>
            <a:ext cx="171450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6. Implement</a:t>
            </a:r>
          </a:p>
        </p:txBody>
      </p:sp>
      <p:sp>
        <p:nvSpPr>
          <p:cNvPr id="15" name="Rectangle 14">
            <a:extLst>
              <a:ext uri="{FF2B5EF4-FFF2-40B4-BE49-F238E27FC236}">
                <a16:creationId xmlns:a16="http://schemas.microsoft.com/office/drawing/2014/main" id="{599C8DC9-3FB1-419F-808C-745DF64A2F41}"/>
              </a:ext>
            </a:extLst>
          </p:cNvPr>
          <p:cNvSpPr>
            <a:spLocks noGrp="1"/>
          </p:cNvSpPr>
          <p:nvPr/>
        </p:nvSpPr>
        <p:spPr>
          <a:xfrm>
            <a:off x="8143875" y="138112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Build the relational schema with DDL, constraints and suitable sample data.</a:t>
            </a:r>
          </a:p>
        </p:txBody>
      </p:sp>
      <p:sp>
        <p:nvSpPr>
          <p:cNvPr id="16" name="Rectangle 15">
            <a:extLst>
              <a:ext uri="{FF2B5EF4-FFF2-40B4-BE49-F238E27FC236}">
                <a16:creationId xmlns:a16="http://schemas.microsoft.com/office/drawing/2014/main" id="{C6470243-DEEB-4B06-8715-CE500D61A801}"/>
              </a:ext>
            </a:extLst>
          </p:cNvPr>
          <p:cNvSpPr>
            <a:spLocks noGrp="1"/>
          </p:cNvSpPr>
          <p:nvPr/>
        </p:nvSpPr>
        <p:spPr>
          <a:xfrm>
            <a:off x="6381750" y="2314575"/>
            <a:ext cx="171450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7. Demonstrate access</a:t>
            </a:r>
          </a:p>
        </p:txBody>
      </p:sp>
      <p:sp>
        <p:nvSpPr>
          <p:cNvPr id="17" name="Rectangle 16">
            <a:extLst>
              <a:ext uri="{FF2B5EF4-FFF2-40B4-BE49-F238E27FC236}">
                <a16:creationId xmlns:a16="http://schemas.microsoft.com/office/drawing/2014/main" id="{F9597822-EB9C-4974-B40B-664B9F7FF640}"/>
              </a:ext>
            </a:extLst>
          </p:cNvPr>
          <p:cNvSpPr>
            <a:spLocks noGrp="1"/>
          </p:cNvSpPr>
          <p:nvPr/>
        </p:nvSpPr>
        <p:spPr>
          <a:xfrm>
            <a:off x="8143875" y="231457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Develop required DML and sophisticated queries; test expected and invalid cases.</a:t>
            </a:r>
          </a:p>
        </p:txBody>
      </p:sp>
      <p:sp>
        <p:nvSpPr>
          <p:cNvPr id="18" name="Rectangle 17">
            <a:extLst>
              <a:ext uri="{FF2B5EF4-FFF2-40B4-BE49-F238E27FC236}">
                <a16:creationId xmlns:a16="http://schemas.microsoft.com/office/drawing/2014/main" id="{B3BC5BC2-80D2-43C8-830A-830EF6EBFBF1}"/>
              </a:ext>
            </a:extLst>
          </p:cNvPr>
          <p:cNvSpPr>
            <a:spLocks noGrp="1"/>
          </p:cNvSpPr>
          <p:nvPr/>
        </p:nvSpPr>
        <p:spPr>
          <a:xfrm>
            <a:off x="6381750" y="3248025"/>
            <a:ext cx="171450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8. Review and present</a:t>
            </a:r>
          </a:p>
        </p:txBody>
      </p:sp>
      <p:sp>
        <p:nvSpPr>
          <p:cNvPr id="19" name="Rectangle 18">
            <a:extLst>
              <a:ext uri="{FF2B5EF4-FFF2-40B4-BE49-F238E27FC236}">
                <a16:creationId xmlns:a16="http://schemas.microsoft.com/office/drawing/2014/main" id="{A90F87D2-7BD8-44F4-820F-EA1EE2316C07}"/>
              </a:ext>
            </a:extLst>
          </p:cNvPr>
          <p:cNvSpPr>
            <a:spLocks noGrp="1"/>
          </p:cNvSpPr>
          <p:nvPr/>
        </p:nvSpPr>
        <p:spPr>
          <a:xfrm>
            <a:off x="8143875" y="324802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Integrate one consistent solution, proofread, rehearse and justify design decisions.</a:t>
            </a:r>
          </a:p>
        </p:txBody>
      </p:sp>
      <p:sp>
        <p:nvSpPr>
          <p:cNvPr id="20" name="Rectangle 19">
            <a:extLst>
              <a:ext uri="{FF2B5EF4-FFF2-40B4-BE49-F238E27FC236}">
                <a16:creationId xmlns:a16="http://schemas.microsoft.com/office/drawing/2014/main" id="{26CB74AC-FDA1-4881-BD98-82145CCE76FC}"/>
              </a:ext>
            </a:extLst>
          </p:cNvPr>
          <p:cNvSpPr>
            <a:spLocks noGrp="1"/>
          </p:cNvSpPr>
          <p:nvPr/>
        </p:nvSpPr>
        <p:spPr>
          <a:xfrm>
            <a:off x="6381750" y="4181475"/>
            <a:ext cx="1714500"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9. Submit correctly</a:t>
            </a:r>
          </a:p>
        </p:txBody>
      </p:sp>
      <p:sp>
        <p:nvSpPr>
          <p:cNvPr id="21" name="Rectangle 20">
            <a:extLst>
              <a:ext uri="{FF2B5EF4-FFF2-40B4-BE49-F238E27FC236}">
                <a16:creationId xmlns:a16="http://schemas.microsoft.com/office/drawing/2014/main" id="{DC8166B0-A8FA-43C2-A3EF-765AFF5EE37A}"/>
              </a:ext>
            </a:extLst>
          </p:cNvPr>
          <p:cNvSpPr>
            <a:spLocks noGrp="1"/>
          </p:cNvSpPr>
          <p:nvPr/>
        </p:nvSpPr>
        <p:spPr>
          <a:xfrm>
            <a:off x="8143875" y="4181475"/>
            <a:ext cx="3714750" cy="647700"/>
          </a:xfrm>
          <a:prstGeom prst="rect">
            <a:avLst/>
          </a:prstGeom>
          <a:noFill/>
          <a:ln w="0">
            <a:noFill/>
            <a:prstDash val="solid"/>
          </a:ln>
        </p:spPr>
        <p:txBody>
          <a:bodyPr/>
          <a:lstStyle/>
          <a:p>
            <a:pPr algn="l">
              <a:defRPr sz="1200" b="0">
                <a:solidFill>
                  <a:srgbClr val="102A43"/>
                </a:solidFill>
              </a:defRPr>
            </a:pPr>
            <a:r>
              <a:rPr sz="1200" b="0">
                <a:solidFill>
                  <a:srgbClr val="102A43"/>
                </a:solidFill>
              </a:rPr>
              <a:t>Use the official group link, verify members and files, and retain confirmation.</a:t>
            </a:r>
          </a:p>
        </p:txBody>
      </p:sp>
      <p:sp>
        <p:nvSpPr>
          <p:cNvPr id="22" name="Rectangle 21">
            <a:extLst>
              <a:ext uri="{FF2B5EF4-FFF2-40B4-BE49-F238E27FC236}">
                <a16:creationId xmlns:a16="http://schemas.microsoft.com/office/drawing/2014/main" id="{F460BE98-B184-479A-8300-C43466025BA8}"/>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29</a:t>
            </a:r>
          </a:p>
        </p:txBody>
      </p:sp>
    </p:spTree>
    <p:extLst>
      <p:ext uri="{BB962C8B-B14F-4D97-AF65-F5344CB8AC3E}">
        <p14:creationId xmlns:p14="http://schemas.microsoft.com/office/powerpoint/2010/main" val="8729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17CCA45-0BA2-4E72-9A3E-4B1D3D5DC7F9}"/>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Register your group correctly before starting</a:t>
            </a:r>
          </a:p>
        </p:txBody>
      </p:sp>
      <p:sp>
        <p:nvSpPr>
          <p:cNvPr id="2" name="Rectangle 1">
            <a:extLst>
              <a:ext uri="{FF2B5EF4-FFF2-40B4-BE49-F238E27FC236}">
                <a16:creationId xmlns:a16="http://schemas.microsoft.com/office/drawing/2014/main" id="{C3ABB9B9-12E5-494D-94FF-DB107D9D44A1}"/>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53070319-405C-4111-B752-7958B372DCE3}"/>
              </a:ext>
            </a:extLst>
          </p:cNvPr>
          <p:cNvSpPr>
            <a:spLocks noGrp="1"/>
          </p:cNvSpPr>
          <p:nvPr/>
        </p:nvSpPr>
        <p:spPr>
          <a:xfrm>
            <a:off x="666750" y="1381125"/>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4" name="Rectangle 3">
            <a:extLst>
              <a:ext uri="{FF2B5EF4-FFF2-40B4-BE49-F238E27FC236}">
                <a16:creationId xmlns:a16="http://schemas.microsoft.com/office/drawing/2014/main" id="{12BCD4EC-5C8E-4C47-B6FA-89C904854248}"/>
              </a:ext>
            </a:extLst>
          </p:cNvPr>
          <p:cNvSpPr>
            <a:spLocks noGrp="1"/>
          </p:cNvSpPr>
          <p:nvPr/>
        </p:nvSpPr>
        <p:spPr>
          <a:xfrm>
            <a:off x="1190625" y="1381125"/>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Use Groups in the HI5033 Blackboard site; registration is the student’s responsibility</a:t>
            </a:r>
          </a:p>
        </p:txBody>
      </p:sp>
      <p:sp>
        <p:nvSpPr>
          <p:cNvPr id="5" name="Rectangle 4">
            <a:extLst>
              <a:ext uri="{FF2B5EF4-FFF2-40B4-BE49-F238E27FC236}">
                <a16:creationId xmlns:a16="http://schemas.microsoft.com/office/drawing/2014/main" id="{D7D055F4-2B12-4A8E-8FBE-D1B2718428CE}"/>
              </a:ext>
            </a:extLst>
          </p:cNvPr>
          <p:cNvSpPr>
            <a:spLocks noGrp="1"/>
          </p:cNvSpPr>
          <p:nvPr/>
        </p:nvSpPr>
        <p:spPr>
          <a:xfrm>
            <a:off x="666750" y="1981200"/>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6" name="Rectangle 5">
            <a:extLst>
              <a:ext uri="{FF2B5EF4-FFF2-40B4-BE49-F238E27FC236}">
                <a16:creationId xmlns:a16="http://schemas.microsoft.com/office/drawing/2014/main" id="{3E8EEE60-1EE2-41CB-A079-2222ECE1AD15}"/>
              </a:ext>
            </a:extLst>
          </p:cNvPr>
          <p:cNvSpPr>
            <a:spLocks noGrp="1"/>
          </p:cNvSpPr>
          <p:nvPr/>
        </p:nvSpPr>
        <p:spPr>
          <a:xfrm>
            <a:off x="1190625" y="1981200"/>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Join only a group permitted for your campus or class</a:t>
            </a:r>
          </a:p>
        </p:txBody>
      </p:sp>
      <p:sp>
        <p:nvSpPr>
          <p:cNvPr id="7" name="Rectangle 6">
            <a:extLst>
              <a:ext uri="{FF2B5EF4-FFF2-40B4-BE49-F238E27FC236}">
                <a16:creationId xmlns:a16="http://schemas.microsoft.com/office/drawing/2014/main" id="{A10427B3-141D-413B-A4D6-5AD54F9454D4}"/>
              </a:ext>
            </a:extLst>
          </p:cNvPr>
          <p:cNvSpPr>
            <a:spLocks noGrp="1"/>
          </p:cNvSpPr>
          <p:nvPr/>
        </p:nvSpPr>
        <p:spPr>
          <a:xfrm>
            <a:off x="666750" y="2581275"/>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8" name="Rectangle 7">
            <a:extLst>
              <a:ext uri="{FF2B5EF4-FFF2-40B4-BE49-F238E27FC236}">
                <a16:creationId xmlns:a16="http://schemas.microsoft.com/office/drawing/2014/main" id="{0DE49B78-695F-427E-9802-06E9CBF6B186}"/>
              </a:ext>
            </a:extLst>
          </p:cNvPr>
          <p:cNvSpPr>
            <a:spLocks noGrp="1"/>
          </p:cNvSpPr>
          <p:nvPr/>
        </p:nvSpPr>
        <p:spPr>
          <a:xfrm>
            <a:off x="1190625" y="2581275"/>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Ask existing members for permission before joining their group</a:t>
            </a:r>
          </a:p>
        </p:txBody>
      </p:sp>
      <p:sp>
        <p:nvSpPr>
          <p:cNvPr id="9" name="Rectangle 8">
            <a:extLst>
              <a:ext uri="{FF2B5EF4-FFF2-40B4-BE49-F238E27FC236}">
                <a16:creationId xmlns:a16="http://schemas.microsoft.com/office/drawing/2014/main" id="{76D48A5D-F7FF-4473-B848-DEFBA7C18B29}"/>
              </a:ext>
            </a:extLst>
          </p:cNvPr>
          <p:cNvSpPr>
            <a:spLocks noGrp="1"/>
          </p:cNvSpPr>
          <p:nvPr/>
        </p:nvSpPr>
        <p:spPr>
          <a:xfrm>
            <a:off x="666750" y="3181350"/>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10" name="Rectangle 9">
            <a:extLst>
              <a:ext uri="{FF2B5EF4-FFF2-40B4-BE49-F238E27FC236}">
                <a16:creationId xmlns:a16="http://schemas.microsoft.com/office/drawing/2014/main" id="{9602887C-BE6E-4C43-8E79-ECFD9D947637}"/>
              </a:ext>
            </a:extLst>
          </p:cNvPr>
          <p:cNvSpPr>
            <a:spLocks noGrp="1"/>
          </p:cNvSpPr>
          <p:nvPr/>
        </p:nvSpPr>
        <p:spPr>
          <a:xfrm>
            <a:off x="1190625" y="3181350"/>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Blackboard status must show Joined to access the group submission link and receive marks</a:t>
            </a:r>
          </a:p>
        </p:txBody>
      </p:sp>
      <p:sp>
        <p:nvSpPr>
          <p:cNvPr id="11" name="Rectangle 10">
            <a:extLst>
              <a:ext uri="{FF2B5EF4-FFF2-40B4-BE49-F238E27FC236}">
                <a16:creationId xmlns:a16="http://schemas.microsoft.com/office/drawing/2014/main" id="{18C3FF8D-56AA-48AD-99B7-8835C4D6E222}"/>
              </a:ext>
            </a:extLst>
          </p:cNvPr>
          <p:cNvSpPr>
            <a:spLocks noGrp="1"/>
          </p:cNvSpPr>
          <p:nvPr/>
        </p:nvSpPr>
        <p:spPr>
          <a:xfrm>
            <a:off x="666750" y="3781425"/>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12" name="Rectangle 11">
            <a:extLst>
              <a:ext uri="{FF2B5EF4-FFF2-40B4-BE49-F238E27FC236}">
                <a16:creationId xmlns:a16="http://schemas.microsoft.com/office/drawing/2014/main" id="{341510A9-F83E-4FBB-9ADA-32417C30B415}"/>
              </a:ext>
            </a:extLst>
          </p:cNvPr>
          <p:cNvSpPr>
            <a:spLocks noGrp="1"/>
          </p:cNvSpPr>
          <p:nvPr/>
        </p:nvSpPr>
        <p:spPr>
          <a:xfrm>
            <a:off x="1190625" y="3781425"/>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Groups may contain up to four students under the current Blackboard instructions</a:t>
            </a:r>
          </a:p>
        </p:txBody>
      </p:sp>
      <p:sp>
        <p:nvSpPr>
          <p:cNvPr id="13" name="Rectangle 12">
            <a:extLst>
              <a:ext uri="{FF2B5EF4-FFF2-40B4-BE49-F238E27FC236}">
                <a16:creationId xmlns:a16="http://schemas.microsoft.com/office/drawing/2014/main" id="{E509A72B-3011-4047-AB8C-7C7DAB377DCB}"/>
              </a:ext>
            </a:extLst>
          </p:cNvPr>
          <p:cNvSpPr>
            <a:spLocks noGrp="1"/>
          </p:cNvSpPr>
          <p:nvPr/>
        </p:nvSpPr>
        <p:spPr>
          <a:xfrm>
            <a:off x="666750" y="4381500"/>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14" name="Rectangle 13">
            <a:extLst>
              <a:ext uri="{FF2B5EF4-FFF2-40B4-BE49-F238E27FC236}">
                <a16:creationId xmlns:a16="http://schemas.microsoft.com/office/drawing/2014/main" id="{D441EB3C-B2CB-4B17-80C9-FF34146FF5FD}"/>
              </a:ext>
            </a:extLst>
          </p:cNvPr>
          <p:cNvSpPr>
            <a:spLocks noGrp="1"/>
          </p:cNvSpPr>
          <p:nvPr/>
        </p:nvSpPr>
        <p:spPr>
          <a:xfrm>
            <a:off x="1190625" y="4381500"/>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Check membership details before submitting; claimed but unregistered membership is not accepted</a:t>
            </a:r>
          </a:p>
        </p:txBody>
      </p:sp>
      <p:sp>
        <p:nvSpPr>
          <p:cNvPr id="15" name="Rectangle 14">
            <a:extLst>
              <a:ext uri="{FF2B5EF4-FFF2-40B4-BE49-F238E27FC236}">
                <a16:creationId xmlns:a16="http://schemas.microsoft.com/office/drawing/2014/main" id="{B9F9229C-17B1-4ED2-AC38-6A9723A0B6CC}"/>
              </a:ext>
            </a:extLst>
          </p:cNvPr>
          <p:cNvSpPr>
            <a:spLocks noGrp="1"/>
          </p:cNvSpPr>
          <p:nvPr/>
        </p:nvSpPr>
        <p:spPr>
          <a:xfrm>
            <a:off x="666750" y="4981575"/>
            <a:ext cx="333375" cy="266700"/>
          </a:xfrm>
          <a:prstGeom prst="rect">
            <a:avLst/>
          </a:prstGeom>
          <a:noFill/>
          <a:ln w="0">
            <a:noFill/>
            <a:prstDash val="solid"/>
          </a:ln>
        </p:spPr>
        <p:txBody>
          <a:bodyPr/>
          <a:lstStyle/>
          <a:p>
            <a:pPr algn="ctr">
              <a:defRPr sz="1350" b="1">
                <a:solidFill>
                  <a:srgbClr val="17845C"/>
                </a:solidFill>
              </a:defRPr>
            </a:pPr>
            <a:r>
              <a:rPr sz="1350" b="1">
                <a:solidFill>
                  <a:srgbClr val="17845C"/>
                </a:solidFill>
              </a:rPr>
              <a:t>✓</a:t>
            </a:r>
          </a:p>
        </p:txBody>
      </p:sp>
      <p:sp>
        <p:nvSpPr>
          <p:cNvPr id="16" name="Rectangle 15">
            <a:extLst>
              <a:ext uri="{FF2B5EF4-FFF2-40B4-BE49-F238E27FC236}">
                <a16:creationId xmlns:a16="http://schemas.microsoft.com/office/drawing/2014/main" id="{F7DFAEB8-53D9-472F-BF06-13CC5DB8CE50}"/>
              </a:ext>
            </a:extLst>
          </p:cNvPr>
          <p:cNvSpPr>
            <a:spLocks noGrp="1"/>
          </p:cNvSpPr>
          <p:nvPr/>
        </p:nvSpPr>
        <p:spPr>
          <a:xfrm>
            <a:off x="1190625" y="4981575"/>
            <a:ext cx="10048875" cy="428625"/>
          </a:xfrm>
          <a:prstGeom prst="rect">
            <a:avLst/>
          </a:prstGeom>
          <a:noFill/>
          <a:ln w="0">
            <a:noFill/>
            <a:prstDash val="solid"/>
          </a:ln>
        </p:spPr>
        <p:txBody>
          <a:bodyPr/>
          <a:lstStyle/>
          <a:p>
            <a:pPr algn="l">
              <a:defRPr sz="1350" b="0">
                <a:solidFill>
                  <a:srgbClr val="102A43"/>
                </a:solidFill>
              </a:defRPr>
            </a:pPr>
            <a:r>
              <a:rPr sz="1350" b="0">
                <a:solidFill>
                  <a:srgbClr val="102A43"/>
                </a:solidFill>
              </a:rPr>
              <a:t>Join or change by the published membership deadline; after it, only a solo group may be available</a:t>
            </a:r>
          </a:p>
        </p:txBody>
      </p:sp>
      <p:sp>
        <p:nvSpPr>
          <p:cNvPr id="17" name="Rectangle 16">
            <a:extLst>
              <a:ext uri="{FF2B5EF4-FFF2-40B4-BE49-F238E27FC236}">
                <a16:creationId xmlns:a16="http://schemas.microsoft.com/office/drawing/2014/main" id="{975E1C79-7856-412F-B9A2-8C62548BABB3}"/>
              </a:ext>
            </a:extLst>
          </p:cNvPr>
          <p:cNvSpPr>
            <a:spLocks noGrp="1"/>
          </p:cNvSpPr>
          <p:nvPr/>
        </p:nvSpPr>
        <p:spPr>
          <a:xfrm>
            <a:off x="666750" y="5581650"/>
            <a:ext cx="333375" cy="266700"/>
          </a:xfrm>
          <a:prstGeom prst="rect">
            <a:avLst/>
          </a:prstGeom>
          <a:noFill/>
          <a:ln w="0">
            <a:noFill/>
            <a:prstDash val="solid"/>
          </a:ln>
        </p:spPr>
        <p:txBody>
          <a:bodyPr/>
          <a:lstStyle/>
          <a:p>
            <a:pPr algn="ctr">
              <a:defRPr sz="1350" b="1">
                <a:solidFill>
                  <a:srgbClr val="B33A3A"/>
                </a:solidFill>
              </a:defRPr>
            </a:pPr>
            <a:r>
              <a:rPr sz="1350" b="1">
                <a:solidFill>
                  <a:srgbClr val="B33A3A"/>
                </a:solidFill>
              </a:rPr>
              <a:t>!</a:t>
            </a:r>
          </a:p>
        </p:txBody>
      </p:sp>
      <p:sp>
        <p:nvSpPr>
          <p:cNvPr id="18" name="Rectangle 17">
            <a:extLst>
              <a:ext uri="{FF2B5EF4-FFF2-40B4-BE49-F238E27FC236}">
                <a16:creationId xmlns:a16="http://schemas.microsoft.com/office/drawing/2014/main" id="{20E5F954-92C6-41A8-89F7-1D85B100CB92}"/>
              </a:ext>
            </a:extLst>
          </p:cNvPr>
          <p:cNvSpPr>
            <a:spLocks noGrp="1"/>
          </p:cNvSpPr>
          <p:nvPr/>
        </p:nvSpPr>
        <p:spPr>
          <a:xfrm>
            <a:off x="1190625" y="5581650"/>
            <a:ext cx="10048875" cy="428625"/>
          </a:xfrm>
          <a:prstGeom prst="rect">
            <a:avLst/>
          </a:prstGeom>
          <a:noFill/>
          <a:ln w="0">
            <a:noFill/>
            <a:prstDash val="solid"/>
          </a:ln>
        </p:spPr>
        <p:txBody>
          <a:bodyPr/>
          <a:lstStyle/>
          <a:p>
            <a:pPr algn="l">
              <a:defRPr sz="1350" b="1">
                <a:solidFill>
                  <a:srgbClr val="102A43"/>
                </a:solidFill>
              </a:defRPr>
            </a:pPr>
            <a:r>
              <a:rPr sz="1350" b="1">
                <a:solidFill>
                  <a:srgbClr val="102A43"/>
                </a:solidFill>
              </a:rPr>
              <a:t>A single-student group incurs a 20% assessment marking penalty</a:t>
            </a:r>
          </a:p>
        </p:txBody>
      </p:sp>
      <p:sp>
        <p:nvSpPr>
          <p:cNvPr id="19" name="Rectangle 18">
            <a:extLst>
              <a:ext uri="{FF2B5EF4-FFF2-40B4-BE49-F238E27FC236}">
                <a16:creationId xmlns:a16="http://schemas.microsoft.com/office/drawing/2014/main" id="{7BF75840-3F32-4BC2-8E3A-A22B3CC9EEF5}"/>
              </a:ext>
            </a:extLst>
          </p:cNvPr>
          <p:cNvSpPr>
            <a:spLocks noGrp="1"/>
          </p:cNvSpPr>
          <p:nvPr/>
        </p:nvSpPr>
        <p:spPr>
          <a:xfrm>
            <a:off x="1047750" y="6153150"/>
            <a:ext cx="10096500" cy="247650"/>
          </a:xfrm>
          <a:prstGeom prst="rect">
            <a:avLst/>
          </a:prstGeom>
          <a:noFill/>
          <a:ln w="0">
            <a:noFill/>
            <a:prstDash val="solid"/>
          </a:ln>
        </p:spPr>
        <p:txBody>
          <a:bodyPr/>
          <a:lstStyle/>
          <a:p>
            <a:pPr algn="ctr">
              <a:defRPr sz="1200" b="1">
                <a:solidFill>
                  <a:srgbClr val="1261A0"/>
                </a:solidFill>
              </a:defRPr>
            </a:pPr>
            <a:r>
              <a:rPr sz="1200" b="1">
                <a:solidFill>
                  <a:srgbClr val="1261A0"/>
                </a:solidFill>
              </a:rPr>
              <a:t>Group registration and the assessment become available from 10 August 2026.</a:t>
            </a:r>
          </a:p>
        </p:txBody>
      </p:sp>
      <p:sp>
        <p:nvSpPr>
          <p:cNvPr id="20" name="Rectangle 19">
            <a:extLst>
              <a:ext uri="{FF2B5EF4-FFF2-40B4-BE49-F238E27FC236}">
                <a16:creationId xmlns:a16="http://schemas.microsoft.com/office/drawing/2014/main" id="{BA75E58F-F8E6-4173-BA9B-83635E5394DE}"/>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30</a:t>
            </a:r>
          </a:p>
        </p:txBody>
      </p:sp>
    </p:spTree>
    <p:extLst>
      <p:ext uri="{BB962C8B-B14F-4D97-AF65-F5344CB8AC3E}">
        <p14:creationId xmlns:p14="http://schemas.microsoft.com/office/powerpoint/2010/main" val="4924119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9E31438-4CDD-4EC7-A1D7-F4BB0BD097BA}"/>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Resolve group problems early and through the correct channel</a:t>
            </a:r>
          </a:p>
        </p:txBody>
      </p:sp>
      <p:sp>
        <p:nvSpPr>
          <p:cNvPr id="2" name="Rectangle 1">
            <a:extLst>
              <a:ext uri="{FF2B5EF4-FFF2-40B4-BE49-F238E27FC236}">
                <a16:creationId xmlns:a16="http://schemas.microsoft.com/office/drawing/2014/main" id="{8B38F7DF-1AB3-4266-9717-7F07F2CB2202}"/>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46473E85-F11E-49FE-A3EA-E8A329762271}"/>
              </a:ext>
            </a:extLst>
          </p:cNvPr>
          <p:cNvSpPr>
            <a:spLocks noGrp="1"/>
          </p:cNvSpPr>
          <p:nvPr/>
        </p:nvSpPr>
        <p:spPr>
          <a:xfrm>
            <a:off x="666750" y="1381125"/>
            <a:ext cx="2952750" cy="285750"/>
          </a:xfrm>
          <a:prstGeom prst="rect">
            <a:avLst/>
          </a:prstGeom>
          <a:noFill/>
          <a:ln w="0">
            <a:noFill/>
            <a:prstDash val="solid"/>
          </a:ln>
        </p:spPr>
        <p:txBody>
          <a:bodyPr/>
          <a:lstStyle/>
          <a:p>
            <a:pPr algn="l">
              <a:defRPr sz="1425" b="1">
                <a:solidFill>
                  <a:srgbClr val="1261A0"/>
                </a:solidFill>
              </a:defRPr>
            </a:pPr>
            <a:r>
              <a:rPr sz="1425" b="1">
                <a:solidFill>
                  <a:srgbClr val="1261A0"/>
                </a:solidFill>
              </a:rPr>
              <a:t>Need to change groups?</a:t>
            </a:r>
          </a:p>
        </p:txBody>
      </p:sp>
      <p:sp>
        <p:nvSpPr>
          <p:cNvPr id="4" name="Rectangle 3">
            <a:extLst>
              <a:ext uri="{FF2B5EF4-FFF2-40B4-BE49-F238E27FC236}">
                <a16:creationId xmlns:a16="http://schemas.microsoft.com/office/drawing/2014/main" id="{48C7FAA2-9932-4399-B436-9B0CEA1B91DB}"/>
              </a:ext>
            </a:extLst>
          </p:cNvPr>
          <p:cNvSpPr>
            <a:spLocks noGrp="1"/>
          </p:cNvSpPr>
          <p:nvPr/>
        </p:nvSpPr>
        <p:spPr>
          <a:xfrm>
            <a:off x="3810000" y="1381125"/>
            <a:ext cx="7429500" cy="685800"/>
          </a:xfrm>
          <a:prstGeom prst="rect">
            <a:avLst/>
          </a:prstGeom>
          <a:noFill/>
          <a:ln w="0">
            <a:noFill/>
            <a:prstDash val="solid"/>
          </a:ln>
        </p:spPr>
        <p:txBody>
          <a:bodyPr/>
          <a:lstStyle/>
          <a:p>
            <a:pPr algn="l">
              <a:defRPr sz="1275" b="0">
                <a:solidFill>
                  <a:srgbClr val="102A43"/>
                </a:solidFill>
              </a:defRPr>
            </a:pPr>
            <a:r>
              <a:rPr sz="1275" b="0">
                <a:solidFill>
                  <a:srgbClr val="102A43"/>
                </a:solidFill>
              </a:rPr>
              <a:t>Use Move to group if space is available. After the deadline, you may only register solo; contact Blackboard Helpdesk if you need to exit an existing group.</a:t>
            </a:r>
          </a:p>
        </p:txBody>
      </p:sp>
      <p:sp>
        <p:nvSpPr>
          <p:cNvPr id="5" name="Rectangle 4">
            <a:extLst>
              <a:ext uri="{FF2B5EF4-FFF2-40B4-BE49-F238E27FC236}">
                <a16:creationId xmlns:a16="http://schemas.microsoft.com/office/drawing/2014/main" id="{E2D3CA04-96C5-4609-91A0-05C7EBF17902}"/>
              </a:ext>
            </a:extLst>
          </p:cNvPr>
          <p:cNvSpPr>
            <a:spLocks noGrp="1"/>
          </p:cNvSpPr>
          <p:nvPr/>
        </p:nvSpPr>
        <p:spPr>
          <a:xfrm>
            <a:off x="666750" y="2333625"/>
            <a:ext cx="2952750" cy="285750"/>
          </a:xfrm>
          <a:prstGeom prst="rect">
            <a:avLst/>
          </a:prstGeom>
          <a:noFill/>
          <a:ln w="0">
            <a:noFill/>
            <a:prstDash val="solid"/>
          </a:ln>
        </p:spPr>
        <p:txBody>
          <a:bodyPr/>
          <a:lstStyle/>
          <a:p>
            <a:pPr algn="l">
              <a:defRPr sz="1425" b="1">
                <a:solidFill>
                  <a:srgbClr val="1261A0"/>
                </a:solidFill>
              </a:defRPr>
            </a:pPr>
            <a:r>
              <a:rPr sz="1425" b="1">
                <a:solidFill>
                  <a:srgbClr val="1261A0"/>
                </a:solidFill>
              </a:rPr>
              <a:t>Unknown member?</a:t>
            </a:r>
          </a:p>
        </p:txBody>
      </p:sp>
      <p:sp>
        <p:nvSpPr>
          <p:cNvPr id="6" name="Rectangle 5">
            <a:extLst>
              <a:ext uri="{FF2B5EF4-FFF2-40B4-BE49-F238E27FC236}">
                <a16:creationId xmlns:a16="http://schemas.microsoft.com/office/drawing/2014/main" id="{D2077F43-DE59-48C9-9CD1-7F02E183948F}"/>
              </a:ext>
            </a:extLst>
          </p:cNvPr>
          <p:cNvSpPr>
            <a:spLocks noGrp="1"/>
          </p:cNvSpPr>
          <p:nvPr/>
        </p:nvSpPr>
        <p:spPr>
          <a:xfrm>
            <a:off x="3810000" y="2333625"/>
            <a:ext cx="7429500" cy="685800"/>
          </a:xfrm>
          <a:prstGeom prst="rect">
            <a:avLst/>
          </a:prstGeom>
          <a:noFill/>
          <a:ln w="0">
            <a:noFill/>
            <a:prstDash val="solid"/>
          </a:ln>
        </p:spPr>
        <p:txBody>
          <a:bodyPr/>
          <a:lstStyle/>
          <a:p>
            <a:pPr algn="l">
              <a:defRPr sz="1275" b="0">
                <a:solidFill>
                  <a:srgbClr val="102A43"/>
                </a:solidFill>
              </a:defRPr>
            </a:pPr>
            <a:r>
              <a:rPr sz="1275" b="0">
                <a:solidFill>
                  <a:srgbClr val="102A43"/>
                </a:solidFill>
              </a:rPr>
              <a:t>Speak to the student in class or use the Blackboard group email tool. Staff cannot simply remove an unknown student on request.</a:t>
            </a:r>
          </a:p>
        </p:txBody>
      </p:sp>
      <p:sp>
        <p:nvSpPr>
          <p:cNvPr id="7" name="Rectangle 6">
            <a:extLst>
              <a:ext uri="{FF2B5EF4-FFF2-40B4-BE49-F238E27FC236}">
                <a16:creationId xmlns:a16="http://schemas.microsoft.com/office/drawing/2014/main" id="{A634174E-2D92-4300-92CB-2611E56D530E}"/>
              </a:ext>
            </a:extLst>
          </p:cNvPr>
          <p:cNvSpPr>
            <a:spLocks noGrp="1"/>
          </p:cNvSpPr>
          <p:nvPr/>
        </p:nvSpPr>
        <p:spPr>
          <a:xfrm>
            <a:off x="666750" y="3286125"/>
            <a:ext cx="2952750" cy="285750"/>
          </a:xfrm>
          <a:prstGeom prst="rect">
            <a:avLst/>
          </a:prstGeom>
          <a:noFill/>
          <a:ln w="0">
            <a:noFill/>
            <a:prstDash val="solid"/>
          </a:ln>
        </p:spPr>
        <p:txBody>
          <a:bodyPr/>
          <a:lstStyle/>
          <a:p>
            <a:pPr algn="l">
              <a:defRPr sz="1425" b="1">
                <a:solidFill>
                  <a:srgbClr val="1261A0"/>
                </a:solidFill>
              </a:defRPr>
            </a:pPr>
            <a:r>
              <a:rPr sz="1425" b="1">
                <a:solidFill>
                  <a:srgbClr val="1261A0"/>
                </a:solidFill>
              </a:rPr>
              <a:t>Member does not respond?</a:t>
            </a:r>
          </a:p>
        </p:txBody>
      </p:sp>
      <p:sp>
        <p:nvSpPr>
          <p:cNvPr id="8" name="Rectangle 7">
            <a:extLst>
              <a:ext uri="{FF2B5EF4-FFF2-40B4-BE49-F238E27FC236}">
                <a16:creationId xmlns:a16="http://schemas.microsoft.com/office/drawing/2014/main" id="{1ABEAF36-F9B3-4A6E-9DC4-7EB5EC6E963A}"/>
              </a:ext>
            </a:extLst>
          </p:cNvPr>
          <p:cNvSpPr>
            <a:spLocks noGrp="1"/>
          </p:cNvSpPr>
          <p:nvPr/>
        </p:nvSpPr>
        <p:spPr>
          <a:xfrm>
            <a:off x="3810000" y="3286125"/>
            <a:ext cx="7429500" cy="685800"/>
          </a:xfrm>
          <a:prstGeom prst="rect">
            <a:avLst/>
          </a:prstGeom>
          <a:noFill/>
          <a:ln w="0">
            <a:noFill/>
            <a:prstDash val="solid"/>
          </a:ln>
        </p:spPr>
        <p:txBody>
          <a:bodyPr/>
          <a:lstStyle/>
          <a:p>
            <a:pPr algn="l">
              <a:defRPr sz="1275" b="0">
                <a:solidFill>
                  <a:srgbClr val="102A43"/>
                </a:solidFill>
              </a:defRPr>
            </a:pPr>
            <a:r>
              <a:rPr sz="1275" b="0">
                <a:solidFill>
                  <a:srgbClr val="102A43"/>
                </a:solidFill>
              </a:rPr>
              <a:t>Keep documented contact attempts. Either remain and omit a non-contributor from the cover sheet, or move groups under the published rules.</a:t>
            </a:r>
          </a:p>
        </p:txBody>
      </p:sp>
      <p:sp>
        <p:nvSpPr>
          <p:cNvPr id="9" name="Rectangle 8">
            <a:extLst>
              <a:ext uri="{FF2B5EF4-FFF2-40B4-BE49-F238E27FC236}">
                <a16:creationId xmlns:a16="http://schemas.microsoft.com/office/drawing/2014/main" id="{2130377F-6DAD-4AF7-96A1-9349A601174F}"/>
              </a:ext>
            </a:extLst>
          </p:cNvPr>
          <p:cNvSpPr>
            <a:spLocks noGrp="1"/>
          </p:cNvSpPr>
          <p:nvPr/>
        </p:nvSpPr>
        <p:spPr>
          <a:xfrm>
            <a:off x="666750" y="4238625"/>
            <a:ext cx="2952750" cy="285750"/>
          </a:xfrm>
          <a:prstGeom prst="rect">
            <a:avLst/>
          </a:prstGeom>
          <a:noFill/>
          <a:ln w="0">
            <a:noFill/>
            <a:prstDash val="solid"/>
          </a:ln>
        </p:spPr>
        <p:txBody>
          <a:bodyPr/>
          <a:lstStyle/>
          <a:p>
            <a:pPr algn="l">
              <a:defRPr sz="1425" b="1">
                <a:solidFill>
                  <a:srgbClr val="B33A3A"/>
                </a:solidFill>
              </a:defRPr>
            </a:pPr>
            <a:r>
              <a:rPr sz="1425" b="1">
                <a:solidFill>
                  <a:srgbClr val="B33A3A"/>
                </a:solidFill>
              </a:rPr>
              <a:t>Unknown member submitted a file?</a:t>
            </a:r>
          </a:p>
        </p:txBody>
      </p:sp>
      <p:sp>
        <p:nvSpPr>
          <p:cNvPr id="10" name="Rectangle 9">
            <a:extLst>
              <a:ext uri="{FF2B5EF4-FFF2-40B4-BE49-F238E27FC236}">
                <a16:creationId xmlns:a16="http://schemas.microsoft.com/office/drawing/2014/main" id="{4C806776-C61B-4977-A470-ECC8A993BBE6}"/>
              </a:ext>
            </a:extLst>
          </p:cNvPr>
          <p:cNvSpPr>
            <a:spLocks noGrp="1"/>
          </p:cNvSpPr>
          <p:nvPr/>
        </p:nvSpPr>
        <p:spPr>
          <a:xfrm>
            <a:off x="3810000" y="4238625"/>
            <a:ext cx="7429500" cy="685800"/>
          </a:xfrm>
          <a:prstGeom prst="rect">
            <a:avLst/>
          </a:prstGeom>
          <a:noFill/>
          <a:ln w="0">
            <a:noFill/>
            <a:prstDash val="solid"/>
          </a:ln>
        </p:spPr>
        <p:txBody>
          <a:bodyPr/>
          <a:lstStyle/>
          <a:p>
            <a:pPr algn="l">
              <a:defRPr sz="1275" b="0">
                <a:solidFill>
                  <a:srgbClr val="102A43"/>
                </a:solidFill>
              </a:defRPr>
            </a:pPr>
            <a:r>
              <a:rPr sz="1275" b="0">
                <a:solidFill>
                  <a:srgbClr val="102A43"/>
                </a:solidFill>
              </a:rPr>
              <a:t>Email bbhelpdesk@holmes.edu.au immediately. Include unit code, campus, group number and class number where applicable.</a:t>
            </a:r>
          </a:p>
        </p:txBody>
      </p:sp>
      <p:sp>
        <p:nvSpPr>
          <p:cNvPr id="11" name="Rectangle 10">
            <a:extLst>
              <a:ext uri="{FF2B5EF4-FFF2-40B4-BE49-F238E27FC236}">
                <a16:creationId xmlns:a16="http://schemas.microsoft.com/office/drawing/2014/main" id="{3E558B1B-5C33-4613-86E5-486260CCCCC3}"/>
              </a:ext>
            </a:extLst>
          </p:cNvPr>
          <p:cNvSpPr>
            <a:spLocks noGrp="1"/>
          </p:cNvSpPr>
          <p:nvPr/>
        </p:nvSpPr>
        <p:spPr>
          <a:xfrm>
            <a:off x="666750" y="5191125"/>
            <a:ext cx="2952750" cy="285750"/>
          </a:xfrm>
          <a:prstGeom prst="rect">
            <a:avLst/>
          </a:prstGeom>
          <a:noFill/>
          <a:ln w="0">
            <a:noFill/>
            <a:prstDash val="solid"/>
          </a:ln>
        </p:spPr>
        <p:txBody>
          <a:bodyPr/>
          <a:lstStyle/>
          <a:p>
            <a:pPr algn="l">
              <a:defRPr sz="1425" b="1">
                <a:solidFill>
                  <a:srgbClr val="1261A0"/>
                </a:solidFill>
              </a:defRPr>
            </a:pPr>
            <a:r>
              <a:rPr sz="1425" b="1">
                <a:solidFill>
                  <a:srgbClr val="1261A0"/>
                </a:solidFill>
              </a:rPr>
              <a:t>Who can change membership?</a:t>
            </a:r>
          </a:p>
        </p:txBody>
      </p:sp>
      <p:sp>
        <p:nvSpPr>
          <p:cNvPr id="12" name="Rectangle 11">
            <a:extLst>
              <a:ext uri="{FF2B5EF4-FFF2-40B4-BE49-F238E27FC236}">
                <a16:creationId xmlns:a16="http://schemas.microsoft.com/office/drawing/2014/main" id="{BECEAD5F-7EC9-4EC4-A096-2F44D3D8BF48}"/>
              </a:ext>
            </a:extLst>
          </p:cNvPr>
          <p:cNvSpPr>
            <a:spLocks noGrp="1"/>
          </p:cNvSpPr>
          <p:nvPr/>
        </p:nvSpPr>
        <p:spPr>
          <a:xfrm>
            <a:off x="3810000" y="5191125"/>
            <a:ext cx="7429500" cy="685800"/>
          </a:xfrm>
          <a:prstGeom prst="rect">
            <a:avLst/>
          </a:prstGeom>
          <a:noFill/>
          <a:ln w="0">
            <a:noFill/>
            <a:prstDash val="solid"/>
          </a:ln>
        </p:spPr>
        <p:txBody>
          <a:bodyPr/>
          <a:lstStyle/>
          <a:p>
            <a:pPr algn="l">
              <a:defRPr sz="1275" b="0">
                <a:solidFill>
                  <a:srgbClr val="102A43"/>
                </a:solidFill>
              </a:defRPr>
            </a:pPr>
            <a:r>
              <a:rPr sz="1275" b="0">
                <a:solidFill>
                  <a:srgbClr val="102A43"/>
                </a:solidFill>
              </a:rPr>
              <a:t>Only the student can normally manage their membership. Neither classmates nor the lecturer can register a student into a group.</a:t>
            </a:r>
          </a:p>
        </p:txBody>
      </p:sp>
      <p:sp>
        <p:nvSpPr>
          <p:cNvPr id="13" name="Rectangle 12">
            <a:extLst>
              <a:ext uri="{FF2B5EF4-FFF2-40B4-BE49-F238E27FC236}">
                <a16:creationId xmlns:a16="http://schemas.microsoft.com/office/drawing/2014/main" id="{E6CE4DEC-4852-41DF-B91D-CE143BF8D1E1}"/>
              </a:ext>
            </a:extLst>
          </p:cNvPr>
          <p:cNvSpPr>
            <a:spLocks noGrp="1"/>
          </p:cNvSpPr>
          <p:nvPr/>
        </p:nvSpPr>
        <p:spPr>
          <a:xfrm>
            <a:off x="1000125" y="6191250"/>
            <a:ext cx="10191750" cy="247650"/>
          </a:xfrm>
          <a:prstGeom prst="rect">
            <a:avLst/>
          </a:prstGeom>
          <a:noFill/>
          <a:ln w="0">
            <a:noFill/>
            <a:prstDash val="solid"/>
          </a:ln>
        </p:spPr>
        <p:txBody>
          <a:bodyPr/>
          <a:lstStyle/>
          <a:p>
            <a:pPr algn="ctr">
              <a:defRPr sz="1200" b="1">
                <a:solidFill>
                  <a:srgbClr val="B33A3A"/>
                </a:solidFill>
              </a:defRPr>
            </a:pPr>
            <a:r>
              <a:rPr sz="1200" b="1">
                <a:solidFill>
                  <a:srgbClr val="B33A3A"/>
                </a:solidFill>
              </a:rPr>
              <a:t>Do not wait until submission day to discover a membership or contribution problem.</a:t>
            </a:r>
          </a:p>
        </p:txBody>
      </p:sp>
      <p:sp>
        <p:nvSpPr>
          <p:cNvPr id="14" name="Rectangle 13">
            <a:extLst>
              <a:ext uri="{FF2B5EF4-FFF2-40B4-BE49-F238E27FC236}">
                <a16:creationId xmlns:a16="http://schemas.microsoft.com/office/drawing/2014/main" id="{22FC24A3-6FA7-4747-948D-FD7D1EF5694F}"/>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31</a:t>
            </a:r>
          </a:p>
        </p:txBody>
      </p:sp>
    </p:spTree>
    <p:extLst>
      <p:ext uri="{BB962C8B-B14F-4D97-AF65-F5344CB8AC3E}">
        <p14:creationId xmlns:p14="http://schemas.microsoft.com/office/powerpoint/2010/main" val="1962950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312709D-94AF-4D57-A460-5EC66D3C8C47}"/>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Assessment 3: develop the research paper in stages</a:t>
            </a:r>
          </a:p>
        </p:txBody>
      </p:sp>
      <p:sp>
        <p:nvSpPr>
          <p:cNvPr id="2" name="Rectangle 1">
            <a:extLst>
              <a:ext uri="{FF2B5EF4-FFF2-40B4-BE49-F238E27FC236}">
                <a16:creationId xmlns:a16="http://schemas.microsoft.com/office/drawing/2014/main" id="{976BE2F2-67B8-4953-B784-AE8A4A6A2FBA}"/>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B51D3B69-B04C-4142-A532-90D5A18FEBA0}"/>
              </a:ext>
            </a:extLst>
          </p:cNvPr>
          <p:cNvSpPr>
            <a:spLocks noGrp="1"/>
          </p:cNvSpPr>
          <p:nvPr/>
        </p:nvSpPr>
        <p:spPr>
          <a:xfrm>
            <a:off x="609600" y="1133475"/>
            <a:ext cx="10858500" cy="361950"/>
          </a:xfrm>
          <a:prstGeom prst="rect">
            <a:avLst/>
          </a:prstGeom>
          <a:noFill/>
          <a:ln w="0">
            <a:noFill/>
            <a:prstDash val="solid"/>
          </a:ln>
        </p:spPr>
        <p:txBody>
          <a:bodyPr/>
          <a:lstStyle/>
          <a:p>
            <a:pPr algn="l">
              <a:defRPr sz="1350" b="0">
                <a:solidFill>
                  <a:srgbClr val="526777"/>
                </a:solidFill>
              </a:defRPr>
            </a:pPr>
            <a:r>
              <a:rPr sz="1350" b="0" dirty="0">
                <a:solidFill>
                  <a:srgbClr val="526777"/>
                </a:solidFill>
              </a:rPr>
              <a:t>Due 6 October 2026 • 40%</a:t>
            </a:r>
          </a:p>
        </p:txBody>
      </p:sp>
      <p:sp>
        <p:nvSpPr>
          <p:cNvPr id="4" name="Rectangle 3">
            <a:extLst>
              <a:ext uri="{FF2B5EF4-FFF2-40B4-BE49-F238E27FC236}">
                <a16:creationId xmlns:a16="http://schemas.microsoft.com/office/drawing/2014/main" id="{8C021502-09F7-4F2B-81AC-026DA7D46B35}"/>
              </a:ext>
            </a:extLst>
          </p:cNvPr>
          <p:cNvSpPr>
            <a:spLocks noGrp="1"/>
          </p:cNvSpPr>
          <p:nvPr/>
        </p:nvSpPr>
        <p:spPr>
          <a:xfrm>
            <a:off x="666750" y="1381125"/>
            <a:ext cx="1666875"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1. Download</a:t>
            </a:r>
          </a:p>
        </p:txBody>
      </p:sp>
      <p:sp>
        <p:nvSpPr>
          <p:cNvPr id="5" name="Rectangle 4">
            <a:extLst>
              <a:ext uri="{FF2B5EF4-FFF2-40B4-BE49-F238E27FC236}">
                <a16:creationId xmlns:a16="http://schemas.microsoft.com/office/drawing/2014/main" id="{386ED47A-ADEC-4200-9BCB-E46E11F5277A}"/>
              </a:ext>
            </a:extLst>
          </p:cNvPr>
          <p:cNvSpPr>
            <a:spLocks noGrp="1"/>
          </p:cNvSpPr>
          <p:nvPr/>
        </p:nvSpPr>
        <p:spPr>
          <a:xfrm>
            <a:off x="2428875" y="1381125"/>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Read all attached specifications, rubric and official cover sheet.</a:t>
            </a:r>
          </a:p>
        </p:txBody>
      </p:sp>
      <p:sp>
        <p:nvSpPr>
          <p:cNvPr id="6" name="Rectangle 5">
            <a:extLst>
              <a:ext uri="{FF2B5EF4-FFF2-40B4-BE49-F238E27FC236}">
                <a16:creationId xmlns:a16="http://schemas.microsoft.com/office/drawing/2014/main" id="{5FFF0F58-8C6F-4F7C-A452-5FE4A05A99FD}"/>
              </a:ext>
            </a:extLst>
          </p:cNvPr>
          <p:cNvSpPr>
            <a:spLocks noGrp="1"/>
          </p:cNvSpPr>
          <p:nvPr/>
        </p:nvSpPr>
        <p:spPr>
          <a:xfrm>
            <a:off x="666750" y="1981200"/>
            <a:ext cx="1666875"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2. Select and scope</a:t>
            </a:r>
          </a:p>
        </p:txBody>
      </p:sp>
      <p:sp>
        <p:nvSpPr>
          <p:cNvPr id="7" name="Rectangle 6">
            <a:extLst>
              <a:ext uri="{FF2B5EF4-FFF2-40B4-BE49-F238E27FC236}">
                <a16:creationId xmlns:a16="http://schemas.microsoft.com/office/drawing/2014/main" id="{D5AB9CDA-0689-43B5-84D3-236D32BBBF52}"/>
              </a:ext>
            </a:extLst>
          </p:cNvPr>
          <p:cNvSpPr>
            <a:spLocks noGrp="1"/>
          </p:cNvSpPr>
          <p:nvPr/>
        </p:nvSpPr>
        <p:spPr>
          <a:xfrm>
            <a:off x="2428875" y="1981200"/>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Define a contemporary database storage, access, design or information-design issue.</a:t>
            </a:r>
          </a:p>
        </p:txBody>
      </p:sp>
      <p:sp>
        <p:nvSpPr>
          <p:cNvPr id="8" name="Rectangle 7">
            <a:extLst>
              <a:ext uri="{FF2B5EF4-FFF2-40B4-BE49-F238E27FC236}">
                <a16:creationId xmlns:a16="http://schemas.microsoft.com/office/drawing/2014/main" id="{C5CE45D3-8210-4609-B55E-8FA3A82DFC85}"/>
              </a:ext>
            </a:extLst>
          </p:cNvPr>
          <p:cNvSpPr>
            <a:spLocks noGrp="1"/>
          </p:cNvSpPr>
          <p:nvPr/>
        </p:nvSpPr>
        <p:spPr>
          <a:xfrm>
            <a:off x="666750" y="2581275"/>
            <a:ext cx="1666875"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3. Search</a:t>
            </a:r>
          </a:p>
        </p:txBody>
      </p:sp>
      <p:sp>
        <p:nvSpPr>
          <p:cNvPr id="9" name="Rectangle 8">
            <a:extLst>
              <a:ext uri="{FF2B5EF4-FFF2-40B4-BE49-F238E27FC236}">
                <a16:creationId xmlns:a16="http://schemas.microsoft.com/office/drawing/2014/main" id="{907FDC1F-7A94-4E84-BBE2-5943F8C8AB45}"/>
              </a:ext>
            </a:extLst>
          </p:cNvPr>
          <p:cNvSpPr>
            <a:spLocks noGrp="1"/>
          </p:cNvSpPr>
          <p:nvPr/>
        </p:nvSpPr>
        <p:spPr>
          <a:xfrm>
            <a:off x="2428875" y="2581275"/>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Use PROQUEST and library databases to locate current, relevant academic papers.</a:t>
            </a:r>
          </a:p>
        </p:txBody>
      </p:sp>
      <p:sp>
        <p:nvSpPr>
          <p:cNvPr id="10" name="Rectangle 9">
            <a:extLst>
              <a:ext uri="{FF2B5EF4-FFF2-40B4-BE49-F238E27FC236}">
                <a16:creationId xmlns:a16="http://schemas.microsoft.com/office/drawing/2014/main" id="{0A0C16AD-ACF1-4F1B-BAAA-B91E6CD15905}"/>
              </a:ext>
            </a:extLst>
          </p:cNvPr>
          <p:cNvSpPr>
            <a:spLocks noGrp="1"/>
          </p:cNvSpPr>
          <p:nvPr/>
        </p:nvSpPr>
        <p:spPr>
          <a:xfrm>
            <a:off x="666750" y="3181350"/>
            <a:ext cx="1666875" cy="266700"/>
          </a:xfrm>
          <a:prstGeom prst="rect">
            <a:avLst/>
          </a:prstGeom>
          <a:noFill/>
          <a:ln w="0">
            <a:noFill/>
            <a:prstDash val="solid"/>
          </a:ln>
        </p:spPr>
        <p:txBody>
          <a:bodyPr/>
          <a:lstStyle/>
          <a:p>
            <a:pPr algn="l">
              <a:defRPr sz="1350" b="1">
                <a:solidFill>
                  <a:srgbClr val="1261A0"/>
                </a:solidFill>
              </a:defRPr>
            </a:pPr>
            <a:r>
              <a:rPr sz="1350" b="1">
                <a:solidFill>
                  <a:srgbClr val="1261A0"/>
                </a:solidFill>
              </a:rPr>
              <a:t>4. Evaluate</a:t>
            </a:r>
          </a:p>
        </p:txBody>
      </p:sp>
      <p:sp>
        <p:nvSpPr>
          <p:cNvPr id="11" name="Rectangle 10">
            <a:extLst>
              <a:ext uri="{FF2B5EF4-FFF2-40B4-BE49-F238E27FC236}">
                <a16:creationId xmlns:a16="http://schemas.microsoft.com/office/drawing/2014/main" id="{4C34A6AC-3146-43EF-96DA-C6A1920587EE}"/>
              </a:ext>
            </a:extLst>
          </p:cNvPr>
          <p:cNvSpPr>
            <a:spLocks noGrp="1"/>
          </p:cNvSpPr>
          <p:nvPr/>
        </p:nvSpPr>
        <p:spPr>
          <a:xfrm>
            <a:off x="2428875" y="3181350"/>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Compare methods, evidence, limitations and implications—do not only summarise.</a:t>
            </a:r>
          </a:p>
        </p:txBody>
      </p:sp>
      <p:sp>
        <p:nvSpPr>
          <p:cNvPr id="12" name="Rectangle 11">
            <a:extLst>
              <a:ext uri="{FF2B5EF4-FFF2-40B4-BE49-F238E27FC236}">
                <a16:creationId xmlns:a16="http://schemas.microsoft.com/office/drawing/2014/main" id="{F13BE5DC-9FC5-4FEC-9CBC-2ADD73F58EB0}"/>
              </a:ext>
            </a:extLst>
          </p:cNvPr>
          <p:cNvSpPr>
            <a:spLocks noGrp="1"/>
          </p:cNvSpPr>
          <p:nvPr/>
        </p:nvSpPr>
        <p:spPr>
          <a:xfrm>
            <a:off x="666750" y="3781425"/>
            <a:ext cx="1666875"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5. Structure</a:t>
            </a:r>
          </a:p>
        </p:txBody>
      </p:sp>
      <p:sp>
        <p:nvSpPr>
          <p:cNvPr id="13" name="Rectangle 12">
            <a:extLst>
              <a:ext uri="{FF2B5EF4-FFF2-40B4-BE49-F238E27FC236}">
                <a16:creationId xmlns:a16="http://schemas.microsoft.com/office/drawing/2014/main" id="{58CC971A-8BB8-439A-AC15-6179BA42B2C1}"/>
              </a:ext>
            </a:extLst>
          </p:cNvPr>
          <p:cNvSpPr>
            <a:spLocks noGrp="1"/>
          </p:cNvSpPr>
          <p:nvPr/>
        </p:nvSpPr>
        <p:spPr>
          <a:xfrm>
            <a:off x="2428875" y="3781425"/>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Develop a clear introduction, themed literature review, critical analysis and conclusion.</a:t>
            </a:r>
          </a:p>
        </p:txBody>
      </p:sp>
      <p:sp>
        <p:nvSpPr>
          <p:cNvPr id="14" name="Rectangle 13">
            <a:extLst>
              <a:ext uri="{FF2B5EF4-FFF2-40B4-BE49-F238E27FC236}">
                <a16:creationId xmlns:a16="http://schemas.microsoft.com/office/drawing/2014/main" id="{01E8FE54-0713-458F-B16B-7F5B58A56EDD}"/>
              </a:ext>
            </a:extLst>
          </p:cNvPr>
          <p:cNvSpPr>
            <a:spLocks noGrp="1"/>
          </p:cNvSpPr>
          <p:nvPr/>
        </p:nvSpPr>
        <p:spPr>
          <a:xfrm>
            <a:off x="666750" y="4381500"/>
            <a:ext cx="1666875"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6. Reference</a:t>
            </a:r>
          </a:p>
        </p:txBody>
      </p:sp>
      <p:sp>
        <p:nvSpPr>
          <p:cNvPr id="15" name="Rectangle 14">
            <a:extLst>
              <a:ext uri="{FF2B5EF4-FFF2-40B4-BE49-F238E27FC236}">
                <a16:creationId xmlns:a16="http://schemas.microsoft.com/office/drawing/2014/main" id="{C63B4BB3-7D80-4F74-8BFD-BFC29AD898A1}"/>
              </a:ext>
            </a:extLst>
          </p:cNvPr>
          <p:cNvSpPr>
            <a:spLocks noGrp="1"/>
          </p:cNvSpPr>
          <p:nvPr/>
        </p:nvSpPr>
        <p:spPr>
          <a:xfrm>
            <a:off x="2428875" y="4381500"/>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Apply Adapted Harvard Referencing consistently to in-text citations and the reference list.</a:t>
            </a:r>
          </a:p>
        </p:txBody>
      </p:sp>
      <p:sp>
        <p:nvSpPr>
          <p:cNvPr id="16" name="Rectangle 15">
            <a:extLst>
              <a:ext uri="{FF2B5EF4-FFF2-40B4-BE49-F238E27FC236}">
                <a16:creationId xmlns:a16="http://schemas.microsoft.com/office/drawing/2014/main" id="{77F765D5-6A93-4A71-BF43-AD3C12F7105D}"/>
              </a:ext>
            </a:extLst>
          </p:cNvPr>
          <p:cNvSpPr>
            <a:spLocks noGrp="1"/>
          </p:cNvSpPr>
          <p:nvPr/>
        </p:nvSpPr>
        <p:spPr>
          <a:xfrm>
            <a:off x="666750" y="4981575"/>
            <a:ext cx="1666875"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7. Verify format</a:t>
            </a:r>
          </a:p>
        </p:txBody>
      </p:sp>
      <p:sp>
        <p:nvSpPr>
          <p:cNvPr id="17" name="Rectangle 16">
            <a:extLst>
              <a:ext uri="{FF2B5EF4-FFF2-40B4-BE49-F238E27FC236}">
                <a16:creationId xmlns:a16="http://schemas.microsoft.com/office/drawing/2014/main" id="{F30C4AA2-5F99-485D-ABDC-2819A4821C52}"/>
              </a:ext>
            </a:extLst>
          </p:cNvPr>
          <p:cNvSpPr>
            <a:spLocks noGrp="1"/>
          </p:cNvSpPr>
          <p:nvPr/>
        </p:nvSpPr>
        <p:spPr>
          <a:xfrm>
            <a:off x="2428875" y="4981575"/>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Use Microsoft Word, attach the completed official cover sheet and signed integrity declaration.</a:t>
            </a:r>
          </a:p>
        </p:txBody>
      </p:sp>
      <p:sp>
        <p:nvSpPr>
          <p:cNvPr id="18" name="Rectangle 17">
            <a:extLst>
              <a:ext uri="{FF2B5EF4-FFF2-40B4-BE49-F238E27FC236}">
                <a16:creationId xmlns:a16="http://schemas.microsoft.com/office/drawing/2014/main" id="{069A6F47-6699-4B02-938C-B0E0AABFF029}"/>
              </a:ext>
            </a:extLst>
          </p:cNvPr>
          <p:cNvSpPr>
            <a:spLocks noGrp="1"/>
          </p:cNvSpPr>
          <p:nvPr/>
        </p:nvSpPr>
        <p:spPr>
          <a:xfrm>
            <a:off x="666750" y="5581650"/>
            <a:ext cx="1666875" cy="266700"/>
          </a:xfrm>
          <a:prstGeom prst="rect">
            <a:avLst/>
          </a:prstGeom>
          <a:noFill/>
          <a:ln w="0">
            <a:noFill/>
            <a:prstDash val="solid"/>
          </a:ln>
        </p:spPr>
        <p:txBody>
          <a:bodyPr/>
          <a:lstStyle/>
          <a:p>
            <a:pPr algn="l">
              <a:defRPr sz="1350" b="1">
                <a:solidFill>
                  <a:srgbClr val="18A6B8"/>
                </a:solidFill>
              </a:defRPr>
            </a:pPr>
            <a:r>
              <a:rPr sz="1350" b="1">
                <a:solidFill>
                  <a:srgbClr val="18A6B8"/>
                </a:solidFill>
              </a:rPr>
              <a:t>8. Submit</a:t>
            </a:r>
          </a:p>
        </p:txBody>
      </p:sp>
      <p:sp>
        <p:nvSpPr>
          <p:cNvPr id="19" name="Rectangle 18">
            <a:extLst>
              <a:ext uri="{FF2B5EF4-FFF2-40B4-BE49-F238E27FC236}">
                <a16:creationId xmlns:a16="http://schemas.microsoft.com/office/drawing/2014/main" id="{D9525BE0-DCA3-4C8C-B551-96E6ABD8E0AF}"/>
              </a:ext>
            </a:extLst>
          </p:cNvPr>
          <p:cNvSpPr>
            <a:spLocks noGrp="1"/>
          </p:cNvSpPr>
          <p:nvPr/>
        </p:nvSpPr>
        <p:spPr>
          <a:xfrm>
            <a:off x="2428875" y="5581650"/>
            <a:ext cx="8810625" cy="419100"/>
          </a:xfrm>
          <a:prstGeom prst="rect">
            <a:avLst/>
          </a:prstGeom>
          <a:noFill/>
          <a:ln w="0">
            <a:noFill/>
            <a:prstDash val="solid"/>
          </a:ln>
        </p:spPr>
        <p:txBody>
          <a:bodyPr/>
          <a:lstStyle/>
          <a:p>
            <a:pPr algn="l">
              <a:defRPr sz="1275" b="0">
                <a:solidFill>
                  <a:srgbClr val="102A43"/>
                </a:solidFill>
              </a:defRPr>
            </a:pPr>
            <a:r>
              <a:rPr sz="1275" b="0">
                <a:solidFill>
                  <a:srgbClr val="102A43"/>
                </a:solidFill>
              </a:rPr>
              <a:t>Use a desktop/laptop; the link opens 28 September; use one of three attempts and check the final upload.</a:t>
            </a:r>
          </a:p>
        </p:txBody>
      </p:sp>
      <p:sp>
        <p:nvSpPr>
          <p:cNvPr id="20" name="Rectangle 19">
            <a:extLst>
              <a:ext uri="{FF2B5EF4-FFF2-40B4-BE49-F238E27FC236}">
                <a16:creationId xmlns:a16="http://schemas.microsoft.com/office/drawing/2014/main" id="{1C854B70-FF3E-4C51-8C7B-524EAEBE30A4}"/>
              </a:ext>
            </a:extLst>
          </p:cNvPr>
          <p:cNvSpPr>
            <a:spLocks noGrp="1"/>
          </p:cNvSpPr>
          <p:nvPr/>
        </p:nvSpPr>
        <p:spPr>
          <a:xfrm>
            <a:off x="1000125" y="6238875"/>
            <a:ext cx="10191750" cy="247650"/>
          </a:xfrm>
          <a:prstGeom prst="rect">
            <a:avLst/>
          </a:prstGeom>
          <a:noFill/>
          <a:ln w="0">
            <a:noFill/>
            <a:prstDash val="solid"/>
          </a:ln>
        </p:spPr>
        <p:txBody>
          <a:bodyPr/>
          <a:lstStyle/>
          <a:p>
            <a:pPr algn="ctr">
              <a:defRPr sz="1125" b="1">
                <a:solidFill>
                  <a:srgbClr val="B33A3A"/>
                </a:solidFill>
              </a:defRPr>
            </a:pPr>
            <a:r>
              <a:rPr sz="1125" b="1">
                <a:solidFill>
                  <a:srgbClr val="B33A3A"/>
                </a:solidFill>
              </a:rPr>
              <a:t>Only the final submission is marked: GC 10:59 pm • Melbourne/Sydney 11:59 pm.</a:t>
            </a:r>
          </a:p>
        </p:txBody>
      </p:sp>
      <p:sp>
        <p:nvSpPr>
          <p:cNvPr id="21" name="Rectangle 20">
            <a:extLst>
              <a:ext uri="{FF2B5EF4-FFF2-40B4-BE49-F238E27FC236}">
                <a16:creationId xmlns:a16="http://schemas.microsoft.com/office/drawing/2014/main" id="{18B9685D-82DC-473D-A757-83660BEC64E2}"/>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32</a:t>
            </a:r>
          </a:p>
        </p:txBody>
      </p:sp>
    </p:spTree>
    <p:extLst>
      <p:ext uri="{BB962C8B-B14F-4D97-AF65-F5344CB8AC3E}">
        <p14:creationId xmlns:p14="http://schemas.microsoft.com/office/powerpoint/2010/main" val="527437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BFD"/>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D1C868E-6945-4CEF-99DA-71373BD1D2C1}"/>
              </a:ext>
            </a:extLst>
          </p:cNvPr>
          <p:cNvSpPr>
            <a:spLocks noGrp="1"/>
          </p:cNvSpPr>
          <p:nvPr/>
        </p:nvSpPr>
        <p:spPr>
          <a:xfrm>
            <a:off x="609600" y="400050"/>
            <a:ext cx="10972800" cy="590550"/>
          </a:xfrm>
          <a:prstGeom prst="rect">
            <a:avLst/>
          </a:prstGeom>
          <a:noFill/>
          <a:ln w="0">
            <a:noFill/>
            <a:prstDash val="solid"/>
          </a:ln>
        </p:spPr>
        <p:txBody>
          <a:bodyPr/>
          <a:lstStyle/>
          <a:p>
            <a:pPr algn="l">
              <a:defRPr sz="2850" b="1">
                <a:solidFill>
                  <a:srgbClr val="102A43"/>
                </a:solidFill>
              </a:defRPr>
            </a:pPr>
            <a:r>
              <a:rPr sz="2850" b="1">
                <a:solidFill>
                  <a:srgbClr val="102A43"/>
                </a:solidFill>
              </a:rPr>
              <a:t>Support is available—but use the right channel</a:t>
            </a:r>
          </a:p>
        </p:txBody>
      </p:sp>
      <p:sp>
        <p:nvSpPr>
          <p:cNvPr id="2" name="Rectangle 1">
            <a:extLst>
              <a:ext uri="{FF2B5EF4-FFF2-40B4-BE49-F238E27FC236}">
                <a16:creationId xmlns:a16="http://schemas.microsoft.com/office/drawing/2014/main" id="{63C17676-7A90-4278-8CE5-72F92C32FBB9}"/>
              </a:ext>
            </a:extLst>
          </p:cNvPr>
          <p:cNvSpPr>
            <a:spLocks noGrp="1"/>
          </p:cNvSpPr>
          <p:nvPr/>
        </p:nvSpPr>
        <p:spPr>
          <a:xfrm>
            <a:off x="609600" y="1104900"/>
            <a:ext cx="857250" cy="47625"/>
          </a:xfrm>
          <a:prstGeom prst="rect">
            <a:avLst/>
          </a:prstGeom>
          <a:solidFill>
            <a:srgbClr val="18A6B8"/>
          </a:solidFill>
          <a:ln w="0">
            <a:solidFill>
              <a:srgbClr val="18A6B8"/>
            </a:solidFill>
            <a:prstDash val="solid"/>
          </a:ln>
        </p:spPr>
        <p:txBody>
          <a:bodyPr/>
          <a:lstStyle/>
          <a:p>
            <a:endParaRPr lang="en-US"/>
          </a:p>
        </p:txBody>
      </p:sp>
      <p:sp>
        <p:nvSpPr>
          <p:cNvPr id="3" name="Rectangle 2">
            <a:extLst>
              <a:ext uri="{FF2B5EF4-FFF2-40B4-BE49-F238E27FC236}">
                <a16:creationId xmlns:a16="http://schemas.microsoft.com/office/drawing/2014/main" id="{E529C9D6-9AD9-4905-907D-AFBA10117FE1}"/>
              </a:ext>
            </a:extLst>
          </p:cNvPr>
          <p:cNvSpPr>
            <a:spLocks noGrp="1"/>
          </p:cNvSpPr>
          <p:nvPr/>
        </p:nvSpPr>
        <p:spPr>
          <a:xfrm>
            <a:off x="685800" y="1476375"/>
            <a:ext cx="3143250" cy="285750"/>
          </a:xfrm>
          <a:prstGeom prst="rect">
            <a:avLst/>
          </a:prstGeom>
          <a:noFill/>
          <a:ln w="0">
            <a:noFill/>
            <a:prstDash val="solid"/>
          </a:ln>
        </p:spPr>
        <p:txBody>
          <a:bodyPr/>
          <a:lstStyle/>
          <a:p>
            <a:pPr algn="l">
              <a:defRPr sz="1500" b="1">
                <a:solidFill>
                  <a:srgbClr val="1261A0"/>
                </a:solidFill>
              </a:defRPr>
            </a:pPr>
            <a:r>
              <a:rPr sz="1500" b="1">
                <a:solidFill>
                  <a:srgbClr val="1261A0"/>
                </a:solidFill>
              </a:rPr>
              <a:t>Weekly drop-in consultation</a:t>
            </a:r>
          </a:p>
        </p:txBody>
      </p:sp>
      <p:sp>
        <p:nvSpPr>
          <p:cNvPr id="4" name="Rectangle 3">
            <a:extLst>
              <a:ext uri="{FF2B5EF4-FFF2-40B4-BE49-F238E27FC236}">
                <a16:creationId xmlns:a16="http://schemas.microsoft.com/office/drawing/2014/main" id="{EEFEA147-FD15-4E8E-B16C-4C8962D8028F}"/>
              </a:ext>
            </a:extLst>
          </p:cNvPr>
          <p:cNvSpPr>
            <a:spLocks noGrp="1"/>
          </p:cNvSpPr>
          <p:nvPr/>
        </p:nvSpPr>
        <p:spPr>
          <a:xfrm>
            <a:off x="4095750" y="1476375"/>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Thursdays, 2:00–3:00 pm</a:t>
            </a:r>
          </a:p>
        </p:txBody>
      </p:sp>
      <p:sp>
        <p:nvSpPr>
          <p:cNvPr id="5" name="Rectangle 4">
            <a:extLst>
              <a:ext uri="{FF2B5EF4-FFF2-40B4-BE49-F238E27FC236}">
                <a16:creationId xmlns:a16="http://schemas.microsoft.com/office/drawing/2014/main" id="{9553B8A0-5973-4791-BC47-E4556D7D8741}"/>
              </a:ext>
            </a:extLst>
          </p:cNvPr>
          <p:cNvSpPr>
            <a:spLocks noGrp="1"/>
          </p:cNvSpPr>
          <p:nvPr/>
        </p:nvSpPr>
        <p:spPr>
          <a:xfrm>
            <a:off x="685800" y="2266950"/>
            <a:ext cx="3143250" cy="285750"/>
          </a:xfrm>
          <a:prstGeom prst="rect">
            <a:avLst/>
          </a:prstGeom>
          <a:noFill/>
          <a:ln w="0">
            <a:noFill/>
            <a:prstDash val="solid"/>
          </a:ln>
        </p:spPr>
        <p:txBody>
          <a:bodyPr/>
          <a:lstStyle/>
          <a:p>
            <a:pPr algn="l">
              <a:defRPr sz="1500" b="1">
                <a:solidFill>
                  <a:srgbClr val="1261A0"/>
                </a:solidFill>
              </a:defRPr>
            </a:pPr>
            <a:r>
              <a:rPr sz="1500" b="1">
                <a:solidFill>
                  <a:srgbClr val="1261A0"/>
                </a:solidFill>
              </a:rPr>
              <a:t>Teaching team</a:t>
            </a:r>
          </a:p>
        </p:txBody>
      </p:sp>
      <p:sp>
        <p:nvSpPr>
          <p:cNvPr id="6" name="Rectangle 5">
            <a:extLst>
              <a:ext uri="{FF2B5EF4-FFF2-40B4-BE49-F238E27FC236}">
                <a16:creationId xmlns:a16="http://schemas.microsoft.com/office/drawing/2014/main" id="{D6A474ED-9195-4C87-8B58-FD72EEBC3D44}"/>
              </a:ext>
            </a:extLst>
          </p:cNvPr>
          <p:cNvSpPr>
            <a:spLocks noGrp="1"/>
          </p:cNvSpPr>
          <p:nvPr/>
        </p:nvSpPr>
        <p:spPr>
          <a:xfrm>
            <a:off x="4095750" y="2266950"/>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Mohsen Dokhanchi • Farshid Keivanian</a:t>
            </a:r>
          </a:p>
        </p:txBody>
      </p:sp>
      <p:sp>
        <p:nvSpPr>
          <p:cNvPr id="7" name="Rectangle 6">
            <a:extLst>
              <a:ext uri="{FF2B5EF4-FFF2-40B4-BE49-F238E27FC236}">
                <a16:creationId xmlns:a16="http://schemas.microsoft.com/office/drawing/2014/main" id="{A27A74AE-9B02-4752-88B8-64B2560364CF}"/>
              </a:ext>
            </a:extLst>
          </p:cNvPr>
          <p:cNvSpPr>
            <a:spLocks noGrp="1"/>
          </p:cNvSpPr>
          <p:nvPr/>
        </p:nvSpPr>
        <p:spPr>
          <a:xfrm>
            <a:off x="685800" y="3057525"/>
            <a:ext cx="3143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Learning questions</a:t>
            </a:r>
          </a:p>
        </p:txBody>
      </p:sp>
      <p:sp>
        <p:nvSpPr>
          <p:cNvPr id="8" name="Rectangle 7">
            <a:extLst>
              <a:ext uri="{FF2B5EF4-FFF2-40B4-BE49-F238E27FC236}">
                <a16:creationId xmlns:a16="http://schemas.microsoft.com/office/drawing/2014/main" id="{0A819F32-616A-413A-98C2-F2D7FD733AE5}"/>
              </a:ext>
            </a:extLst>
          </p:cNvPr>
          <p:cNvSpPr>
            <a:spLocks noGrp="1"/>
          </p:cNvSpPr>
          <p:nvPr/>
        </p:nvSpPr>
        <p:spPr>
          <a:xfrm>
            <a:off x="4095750" y="3057525"/>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Ask during class, consultation or the appropriate Blackboard discussion area</a:t>
            </a:r>
          </a:p>
        </p:txBody>
      </p:sp>
      <p:sp>
        <p:nvSpPr>
          <p:cNvPr id="9" name="Rectangle 8">
            <a:extLst>
              <a:ext uri="{FF2B5EF4-FFF2-40B4-BE49-F238E27FC236}">
                <a16:creationId xmlns:a16="http://schemas.microsoft.com/office/drawing/2014/main" id="{669E812C-FAC0-4462-9621-312207F290E0}"/>
              </a:ext>
            </a:extLst>
          </p:cNvPr>
          <p:cNvSpPr>
            <a:spLocks noGrp="1"/>
          </p:cNvSpPr>
          <p:nvPr/>
        </p:nvSpPr>
        <p:spPr>
          <a:xfrm>
            <a:off x="685800" y="3848100"/>
            <a:ext cx="3143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Technical Blackboard errors</a:t>
            </a:r>
          </a:p>
        </p:txBody>
      </p:sp>
      <p:sp>
        <p:nvSpPr>
          <p:cNvPr id="10" name="Rectangle 9">
            <a:extLst>
              <a:ext uri="{FF2B5EF4-FFF2-40B4-BE49-F238E27FC236}">
                <a16:creationId xmlns:a16="http://schemas.microsoft.com/office/drawing/2014/main" id="{8ECF94B1-7886-4BBF-B443-DF49CAAE75C3}"/>
              </a:ext>
            </a:extLst>
          </p:cNvPr>
          <p:cNvSpPr>
            <a:spLocks noGrp="1"/>
          </p:cNvSpPr>
          <p:nvPr/>
        </p:nvSpPr>
        <p:spPr>
          <a:xfrm>
            <a:off x="4095750" y="3848100"/>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Blackboard Helpdesk; attach a screenshot and include student number and HI5033</a:t>
            </a:r>
          </a:p>
        </p:txBody>
      </p:sp>
      <p:sp>
        <p:nvSpPr>
          <p:cNvPr id="11" name="Rectangle 10">
            <a:extLst>
              <a:ext uri="{FF2B5EF4-FFF2-40B4-BE49-F238E27FC236}">
                <a16:creationId xmlns:a16="http://schemas.microsoft.com/office/drawing/2014/main" id="{C11EEBD3-6C34-423C-8FFF-F71D0AB7D239}"/>
              </a:ext>
            </a:extLst>
          </p:cNvPr>
          <p:cNvSpPr>
            <a:spLocks noGrp="1"/>
          </p:cNvSpPr>
          <p:nvPr/>
        </p:nvSpPr>
        <p:spPr>
          <a:xfrm>
            <a:off x="685800" y="4638675"/>
            <a:ext cx="3143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Group-link submission issue</a:t>
            </a:r>
          </a:p>
        </p:txBody>
      </p:sp>
      <p:sp>
        <p:nvSpPr>
          <p:cNvPr id="12" name="Rectangle 11">
            <a:extLst>
              <a:ext uri="{FF2B5EF4-FFF2-40B4-BE49-F238E27FC236}">
                <a16:creationId xmlns:a16="http://schemas.microsoft.com/office/drawing/2014/main" id="{177D5CA6-81FF-4286-8C7D-7B0B17BB89A3}"/>
              </a:ext>
            </a:extLst>
          </p:cNvPr>
          <p:cNvSpPr>
            <a:spLocks noGrp="1"/>
          </p:cNvSpPr>
          <p:nvPr/>
        </p:nvSpPr>
        <p:spPr>
          <a:xfrm>
            <a:off x="4095750" y="4638675"/>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bbhelpdesk@holmes.edu.au; include unit, campus, group and class details</a:t>
            </a:r>
          </a:p>
        </p:txBody>
      </p:sp>
      <p:sp>
        <p:nvSpPr>
          <p:cNvPr id="13" name="Rectangle 12">
            <a:extLst>
              <a:ext uri="{FF2B5EF4-FFF2-40B4-BE49-F238E27FC236}">
                <a16:creationId xmlns:a16="http://schemas.microsoft.com/office/drawing/2014/main" id="{B674583C-5243-41B2-9C6B-D5758A903335}"/>
              </a:ext>
            </a:extLst>
          </p:cNvPr>
          <p:cNvSpPr>
            <a:spLocks noGrp="1"/>
          </p:cNvSpPr>
          <p:nvPr/>
        </p:nvSpPr>
        <p:spPr>
          <a:xfrm>
            <a:off x="685800" y="5429250"/>
            <a:ext cx="3143250" cy="285750"/>
          </a:xfrm>
          <a:prstGeom prst="rect">
            <a:avLst/>
          </a:prstGeom>
          <a:noFill/>
          <a:ln w="0">
            <a:noFill/>
            <a:prstDash val="solid"/>
          </a:ln>
        </p:spPr>
        <p:txBody>
          <a:bodyPr/>
          <a:lstStyle/>
          <a:p>
            <a:pPr algn="l">
              <a:defRPr sz="1500" b="1">
                <a:solidFill>
                  <a:srgbClr val="102A43"/>
                </a:solidFill>
              </a:defRPr>
            </a:pPr>
            <a:r>
              <a:rPr sz="1500" b="1">
                <a:solidFill>
                  <a:srgbClr val="102A43"/>
                </a:solidFill>
              </a:rPr>
              <a:t>Special consideration</a:t>
            </a:r>
          </a:p>
        </p:txBody>
      </p:sp>
      <p:sp>
        <p:nvSpPr>
          <p:cNvPr id="14" name="Rectangle 13">
            <a:extLst>
              <a:ext uri="{FF2B5EF4-FFF2-40B4-BE49-F238E27FC236}">
                <a16:creationId xmlns:a16="http://schemas.microsoft.com/office/drawing/2014/main" id="{4CDE18E3-2169-4517-8BCF-CC9CC26FBAD6}"/>
              </a:ext>
            </a:extLst>
          </p:cNvPr>
          <p:cNvSpPr>
            <a:spLocks noGrp="1"/>
          </p:cNvSpPr>
          <p:nvPr/>
        </p:nvSpPr>
        <p:spPr>
          <a:xfrm>
            <a:off x="4095750" y="5429250"/>
            <a:ext cx="7048500" cy="447675"/>
          </a:xfrm>
          <a:prstGeom prst="rect">
            <a:avLst/>
          </a:prstGeom>
          <a:noFill/>
          <a:ln w="0">
            <a:noFill/>
            <a:prstDash val="solid"/>
          </a:ln>
        </p:spPr>
        <p:txBody>
          <a:bodyPr/>
          <a:lstStyle/>
          <a:p>
            <a:pPr algn="l">
              <a:defRPr sz="1350" b="0">
                <a:solidFill>
                  <a:srgbClr val="526777"/>
                </a:solidFill>
              </a:defRPr>
            </a:pPr>
            <a:r>
              <a:rPr sz="1350" b="0">
                <a:solidFill>
                  <a:srgbClr val="526777"/>
                </a:solidFill>
              </a:rPr>
              <a:t>Follow Section 9 and submit the form with evidence to hello@holmes.edu.au</a:t>
            </a:r>
          </a:p>
        </p:txBody>
      </p:sp>
      <p:sp>
        <p:nvSpPr>
          <p:cNvPr id="15" name="Rectangle 14">
            <a:extLst>
              <a:ext uri="{FF2B5EF4-FFF2-40B4-BE49-F238E27FC236}">
                <a16:creationId xmlns:a16="http://schemas.microsoft.com/office/drawing/2014/main" id="{FBFE9F66-3669-4AC8-8CBC-5AE6747E6871}"/>
              </a:ext>
            </a:extLst>
          </p:cNvPr>
          <p:cNvSpPr>
            <a:spLocks noGrp="1"/>
          </p:cNvSpPr>
          <p:nvPr/>
        </p:nvSpPr>
        <p:spPr>
          <a:xfrm>
            <a:off x="952500" y="6191250"/>
            <a:ext cx="10287000" cy="266700"/>
          </a:xfrm>
          <a:prstGeom prst="rect">
            <a:avLst/>
          </a:prstGeom>
          <a:noFill/>
          <a:ln w="0">
            <a:noFill/>
            <a:prstDash val="solid"/>
          </a:ln>
        </p:spPr>
        <p:txBody>
          <a:bodyPr/>
          <a:lstStyle/>
          <a:p>
            <a:pPr algn="ctr">
              <a:defRPr sz="1125" b="1">
                <a:solidFill>
                  <a:srgbClr val="17845C"/>
                </a:solidFill>
              </a:defRPr>
            </a:pPr>
            <a:r>
              <a:rPr sz="1125" b="1">
                <a:solidFill>
                  <a:srgbClr val="17845C"/>
                </a:solidFill>
              </a:rPr>
              <a:t>Lecturers can support learning; technical access, group-link and formal policy matters require the designated process.</a:t>
            </a:r>
          </a:p>
        </p:txBody>
      </p:sp>
      <p:sp>
        <p:nvSpPr>
          <p:cNvPr id="16" name="Rectangle 15">
            <a:extLst>
              <a:ext uri="{FF2B5EF4-FFF2-40B4-BE49-F238E27FC236}">
                <a16:creationId xmlns:a16="http://schemas.microsoft.com/office/drawing/2014/main" id="{99485231-033D-45CA-BAF7-CB64207AFD8C}"/>
              </a:ext>
            </a:extLst>
          </p:cNvPr>
          <p:cNvSpPr>
            <a:spLocks noGrp="1"/>
          </p:cNvSpPr>
          <p:nvPr/>
        </p:nvSpPr>
        <p:spPr>
          <a:xfrm>
            <a:off x="609600" y="6515100"/>
            <a:ext cx="10972800" cy="190500"/>
          </a:xfrm>
          <a:prstGeom prst="rect">
            <a:avLst/>
          </a:prstGeom>
          <a:noFill/>
          <a:ln w="0">
            <a:noFill/>
            <a:prstDash val="solid"/>
          </a:ln>
        </p:spPr>
        <p:txBody>
          <a:bodyPr/>
          <a:lstStyle/>
          <a:p>
            <a:pPr algn="l">
              <a:defRPr sz="825" b="0">
                <a:solidFill>
                  <a:srgbClr val="526777"/>
                </a:solidFill>
              </a:defRPr>
            </a:pPr>
            <a:r>
              <a:rPr sz="825" b="0">
                <a:solidFill>
                  <a:srgbClr val="526777"/>
                </a:solidFill>
              </a:rPr>
              <a:t>HI5033 • T2 2026                                      33</a:t>
            </a:r>
          </a:p>
        </p:txBody>
      </p:sp>
    </p:spTree>
    <p:extLst>
      <p:ext uri="{BB962C8B-B14F-4D97-AF65-F5344CB8AC3E}">
        <p14:creationId xmlns:p14="http://schemas.microsoft.com/office/powerpoint/2010/main" val="19660977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94D8A3-51E3-4C92-9642-73CCE587BF9C}"/>
              </a:ext>
            </a:extLst>
          </p:cNvPr>
          <p:cNvSpPr>
            <a:spLocks noGrp="1"/>
          </p:cNvSpPr>
          <p:nvPr/>
        </p:nvSpPr>
        <p:spPr>
          <a:xfrm>
            <a:off x="666750" y="666750"/>
            <a:ext cx="4762500" cy="428625"/>
          </a:xfrm>
          <a:prstGeom prst="rect">
            <a:avLst/>
          </a:prstGeom>
          <a:noFill/>
          <a:ln w="0">
            <a:noFill/>
            <a:prstDash val="solid"/>
          </a:ln>
        </p:spPr>
        <p:txBody>
          <a:bodyPr/>
          <a:lstStyle/>
          <a:p>
            <a:pPr algn="l">
              <a:defRPr sz="1725" b="1">
                <a:solidFill>
                  <a:srgbClr val="18A6B8"/>
                </a:solidFill>
              </a:defRPr>
            </a:pPr>
            <a:r>
              <a:rPr sz="1725" b="1">
                <a:solidFill>
                  <a:srgbClr val="18A6B8"/>
                </a:solidFill>
              </a:rPr>
              <a:t>Before next week</a:t>
            </a:r>
          </a:p>
        </p:txBody>
      </p:sp>
      <p:sp>
        <p:nvSpPr>
          <p:cNvPr id="2" name="Rectangle 1">
            <a:extLst>
              <a:ext uri="{FF2B5EF4-FFF2-40B4-BE49-F238E27FC236}">
                <a16:creationId xmlns:a16="http://schemas.microsoft.com/office/drawing/2014/main" id="{90420E4E-8183-44F8-8808-9A26DF70EC75}"/>
              </a:ext>
            </a:extLst>
          </p:cNvPr>
          <p:cNvSpPr>
            <a:spLocks noGrp="1"/>
          </p:cNvSpPr>
          <p:nvPr/>
        </p:nvSpPr>
        <p:spPr>
          <a:xfrm>
            <a:off x="666750" y="1476375"/>
            <a:ext cx="7620000" cy="762000"/>
          </a:xfrm>
          <a:prstGeom prst="rect">
            <a:avLst/>
          </a:prstGeom>
          <a:noFill/>
          <a:ln w="0">
            <a:noFill/>
            <a:prstDash val="solid"/>
          </a:ln>
        </p:spPr>
        <p:txBody>
          <a:bodyPr/>
          <a:lstStyle/>
          <a:p>
            <a:pPr algn="l">
              <a:defRPr sz="3600" b="1">
                <a:solidFill>
                  <a:srgbClr val="FFFFFF"/>
                </a:solidFill>
              </a:defRPr>
            </a:pPr>
            <a:r>
              <a:rPr sz="3600" b="1">
                <a:solidFill>
                  <a:srgbClr val="FFFFFF"/>
                </a:solidFill>
              </a:rPr>
              <a:t>Be ready to model data</a:t>
            </a:r>
          </a:p>
        </p:txBody>
      </p:sp>
      <p:sp>
        <p:nvSpPr>
          <p:cNvPr id="3" name="Rectangle 2">
            <a:extLst>
              <a:ext uri="{FF2B5EF4-FFF2-40B4-BE49-F238E27FC236}">
                <a16:creationId xmlns:a16="http://schemas.microsoft.com/office/drawing/2014/main" id="{CFBC5508-BB20-4B00-B03A-11ED09F3392D}"/>
              </a:ext>
            </a:extLst>
          </p:cNvPr>
          <p:cNvSpPr>
            <a:spLocks noGrp="1"/>
          </p:cNvSpPr>
          <p:nvPr/>
        </p:nvSpPr>
        <p:spPr>
          <a:xfrm>
            <a:off x="714375" y="2714625"/>
            <a:ext cx="7905750" cy="2333625"/>
          </a:xfrm>
          <a:prstGeom prst="rect">
            <a:avLst/>
          </a:prstGeom>
          <a:noFill/>
          <a:ln w="0">
            <a:noFill/>
            <a:prstDash val="solid"/>
          </a:ln>
        </p:spPr>
        <p:txBody>
          <a:bodyPr/>
          <a:lstStyle/>
          <a:p>
            <a:pPr algn="l">
              <a:defRPr sz="1800" b="0">
                <a:solidFill>
                  <a:srgbClr val="FFFFFF"/>
                </a:solidFill>
              </a:defRPr>
            </a:pPr>
            <a:r>
              <a:rPr sz="1800" b="0">
                <a:solidFill>
                  <a:srgbClr val="FFFFFF"/>
                </a:solidFill>
              </a:rPr>
              <a:t>• Confirm PostgreSQL and DBeaver work</a:t>
            </a:r>
          </a:p>
          <a:p>
            <a:pPr algn="l">
              <a:defRPr sz="1800" b="0">
                <a:solidFill>
                  <a:srgbClr val="FFFFFF"/>
                </a:solidFill>
              </a:defRPr>
            </a:pPr>
            <a:r>
              <a:rPr sz="1800" b="0">
                <a:solidFill>
                  <a:srgbClr val="FFFFFF"/>
                </a:solidFill>
              </a:rPr>
              <a:t>• Run SELECT version(); and save a screenshot</a:t>
            </a:r>
          </a:p>
          <a:p>
            <a:pPr algn="l">
              <a:defRPr sz="1800" b="0">
                <a:solidFill>
                  <a:srgbClr val="FFFFFF"/>
                </a:solidFill>
              </a:defRPr>
            </a:pPr>
            <a:r>
              <a:rPr sz="1800" b="0">
                <a:solidFill>
                  <a:srgbClr val="FFFFFF"/>
                </a:solidFill>
              </a:rPr>
              <a:t>• Review database concepts and architecture</a:t>
            </a:r>
          </a:p>
          <a:p>
            <a:pPr algn="l">
              <a:defRPr sz="1800" b="0">
                <a:solidFill>
                  <a:srgbClr val="FFFFFF"/>
                </a:solidFill>
              </a:defRPr>
            </a:pPr>
            <a:r>
              <a:rPr sz="1800" b="0">
                <a:solidFill>
                  <a:srgbClr val="FFFFFF"/>
                </a:solidFill>
              </a:rPr>
              <a:t>• Bring one real business process you could model as data</a:t>
            </a:r>
          </a:p>
          <a:p>
            <a:pPr algn="l">
              <a:defRPr sz="1800" b="0">
                <a:solidFill>
                  <a:srgbClr val="FFFFFF"/>
                </a:solidFill>
              </a:defRPr>
            </a:pPr>
            <a:r>
              <a:rPr sz="1800" b="0">
                <a:solidFill>
                  <a:srgbClr val="FFFFFF"/>
                </a:solidFill>
              </a:rPr>
              <a:t>• Check Blackboard announcements and assessment folders</a:t>
            </a:r>
          </a:p>
        </p:txBody>
      </p:sp>
      <p:sp>
        <p:nvSpPr>
          <p:cNvPr id="4" name="Rectangle: Rounded Corners 3">
            <a:extLst>
              <a:ext uri="{FF2B5EF4-FFF2-40B4-BE49-F238E27FC236}">
                <a16:creationId xmlns:a16="http://schemas.microsoft.com/office/drawing/2014/main" id="{8A3F5574-A578-4304-BEF6-251D8A02A037}"/>
              </a:ext>
            </a:extLst>
          </p:cNvPr>
          <p:cNvSpPr>
            <a:spLocks noGrp="1"/>
          </p:cNvSpPr>
          <p:nvPr/>
        </p:nvSpPr>
        <p:spPr>
          <a:xfrm>
            <a:off x="8953500" y="2381250"/>
            <a:ext cx="2190750" cy="2190750"/>
          </a:xfrm>
          <a:prstGeom prst="roundRect">
            <a:avLst>
              <a:gd name="adj" fmla="val 5217"/>
            </a:avLst>
          </a:prstGeom>
          <a:solidFill>
            <a:srgbClr val="173C59"/>
          </a:solidFill>
          <a:ln w="9525">
            <a:solidFill>
              <a:srgbClr val="24516F"/>
            </a:solidFill>
            <a:prstDash val="solid"/>
          </a:ln>
        </p:spPr>
        <p:txBody>
          <a:bodyPr/>
          <a:lstStyle/>
          <a:p>
            <a:endParaRPr lang="en-US"/>
          </a:p>
        </p:txBody>
      </p:sp>
      <p:sp>
        <p:nvSpPr>
          <p:cNvPr id="5" name="Rectangle 4">
            <a:extLst>
              <a:ext uri="{FF2B5EF4-FFF2-40B4-BE49-F238E27FC236}">
                <a16:creationId xmlns:a16="http://schemas.microsoft.com/office/drawing/2014/main" id="{0C6FDEBC-7E82-4482-B404-3262E03ACEF5}"/>
              </a:ext>
            </a:extLst>
          </p:cNvPr>
          <p:cNvSpPr>
            <a:spLocks noGrp="1"/>
          </p:cNvSpPr>
          <p:nvPr/>
        </p:nvSpPr>
        <p:spPr>
          <a:xfrm>
            <a:off x="9239250" y="2952750"/>
            <a:ext cx="1619250" cy="857250"/>
          </a:xfrm>
          <a:prstGeom prst="rect">
            <a:avLst/>
          </a:prstGeom>
          <a:noFill/>
          <a:ln w="0">
            <a:noFill/>
            <a:prstDash val="solid"/>
          </a:ln>
        </p:spPr>
        <p:txBody>
          <a:bodyPr/>
          <a:lstStyle/>
          <a:p>
            <a:pPr algn="ctr">
              <a:defRPr sz="2175" b="1">
                <a:solidFill>
                  <a:srgbClr val="FFFFFF"/>
                </a:solidFill>
              </a:defRPr>
            </a:pPr>
            <a:r>
              <a:rPr sz="2175" b="1">
                <a:solidFill>
                  <a:srgbClr val="FFFFFF"/>
                </a:solidFill>
              </a:rPr>
              <a:t>Next:</a:t>
            </a:r>
          </a:p>
          <a:p>
            <a:pPr algn="ctr">
              <a:defRPr sz="2175" b="1">
                <a:solidFill>
                  <a:srgbClr val="FFFFFF"/>
                </a:solidFill>
              </a:defRPr>
            </a:pPr>
            <a:r>
              <a:rPr sz="2175" b="1">
                <a:solidFill>
                  <a:srgbClr val="FFFFFF"/>
                </a:solidFill>
              </a:rPr>
              <a:t>Data modelling</a:t>
            </a:r>
          </a:p>
        </p:txBody>
      </p:sp>
      <p:sp>
        <p:nvSpPr>
          <p:cNvPr id="6" name="Rectangle 5">
            <a:extLst>
              <a:ext uri="{FF2B5EF4-FFF2-40B4-BE49-F238E27FC236}">
                <a16:creationId xmlns:a16="http://schemas.microsoft.com/office/drawing/2014/main" id="{DFD957FB-1692-4FCB-AF84-E21F9E7CA687}"/>
              </a:ext>
            </a:extLst>
          </p:cNvPr>
          <p:cNvSpPr>
            <a:spLocks noGrp="1"/>
          </p:cNvSpPr>
          <p:nvPr/>
        </p:nvSpPr>
        <p:spPr>
          <a:xfrm>
            <a:off x="9239250" y="4000500"/>
            <a:ext cx="1619250" cy="523875"/>
          </a:xfrm>
          <a:prstGeom prst="rect">
            <a:avLst/>
          </a:prstGeom>
          <a:noFill/>
          <a:ln w="0">
            <a:noFill/>
            <a:prstDash val="solid"/>
          </a:ln>
        </p:spPr>
        <p:txBody>
          <a:bodyPr/>
          <a:lstStyle/>
          <a:p>
            <a:pPr algn="ctr">
              <a:defRPr sz="1275" b="0">
                <a:solidFill>
                  <a:srgbClr val="CFE8F1"/>
                </a:solidFill>
              </a:defRPr>
            </a:pPr>
            <a:r>
              <a:rPr sz="1275" b="0">
                <a:solidFill>
                  <a:srgbClr val="CFE8F1"/>
                </a:solidFill>
              </a:rPr>
              <a:t>Entities • attributes</a:t>
            </a:r>
          </a:p>
          <a:p>
            <a:pPr algn="ctr">
              <a:defRPr sz="1275" b="0">
                <a:solidFill>
                  <a:srgbClr val="CFE8F1"/>
                </a:solidFill>
              </a:defRPr>
            </a:pPr>
            <a:r>
              <a:rPr sz="1275" b="0">
                <a:solidFill>
                  <a:srgbClr val="CFE8F1"/>
                </a:solidFill>
              </a:rPr>
              <a:t>relationships • rules</a:t>
            </a:r>
          </a:p>
        </p:txBody>
      </p:sp>
      <p:sp>
        <p:nvSpPr>
          <p:cNvPr id="7" name="Rectangle 6">
            <a:extLst>
              <a:ext uri="{FF2B5EF4-FFF2-40B4-BE49-F238E27FC236}">
                <a16:creationId xmlns:a16="http://schemas.microsoft.com/office/drawing/2014/main" id="{E8C38E41-E0B6-47BB-AA86-22E669FB51BE}"/>
              </a:ext>
            </a:extLst>
          </p:cNvPr>
          <p:cNvSpPr>
            <a:spLocks noGrp="1"/>
          </p:cNvSpPr>
          <p:nvPr/>
        </p:nvSpPr>
        <p:spPr>
          <a:xfrm>
            <a:off x="666750" y="5953125"/>
            <a:ext cx="2857500" cy="400050"/>
          </a:xfrm>
          <a:prstGeom prst="rect">
            <a:avLst/>
          </a:prstGeom>
          <a:noFill/>
          <a:ln w="0">
            <a:noFill/>
            <a:prstDash val="solid"/>
          </a:ln>
        </p:spPr>
        <p:txBody>
          <a:bodyPr/>
          <a:lstStyle/>
          <a:p>
            <a:pPr algn="l">
              <a:defRPr sz="1950" b="1">
                <a:solidFill>
                  <a:srgbClr val="18A6B8"/>
                </a:solidFill>
              </a:defRPr>
            </a:pPr>
            <a:r>
              <a:rPr sz="1950" b="1">
                <a:solidFill>
                  <a:srgbClr val="18A6B8"/>
                </a:solidFill>
              </a:rPr>
              <a:t>Questions?</a:t>
            </a:r>
          </a:p>
        </p:txBody>
      </p:sp>
    </p:spTree>
    <p:extLst>
      <p:ext uri="{BB962C8B-B14F-4D97-AF65-F5344CB8AC3E}">
        <p14:creationId xmlns:p14="http://schemas.microsoft.com/office/powerpoint/2010/main" val="16546826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4472</Words>
  <Application>Microsoft Office PowerPoint</Application>
  <DocSecurity>0</DocSecurity>
  <PresentationFormat>Widescreen</PresentationFormat>
  <Paragraphs>558</Paragraphs>
  <Slides>34</Slides>
  <Notes>34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34</vt:i4>
      </vt:variant>
    </vt:vector>
  </HeadingPairs>
  <TitlesOfParts>
    <vt:vector size="3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Farshid Keivanian</cp:lastModifiedBy>
  <cp:revision>2</cp:revision>
  <dcterms:created xsi:type="dcterms:W3CDTF">2026-07-31T02:32:39Z</dcterms:created>
  <dcterms:modified xsi:type="dcterms:W3CDTF">2026-07-31T02:39:38Z</dcterms:modified>
</cp:coreProperties>
</file>