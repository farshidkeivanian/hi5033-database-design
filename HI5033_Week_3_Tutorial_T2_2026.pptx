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9" r:id="rId4"/>
    <p:sldId id="286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323" r:id="rId41"/>
    <p:sldId id="324" r:id="rId42"/>
    <p:sldId id="325" r:id="rId43"/>
    <p:sldId id="326" r:id="rId44"/>
    <p:sldId id="327" r:id="rId45"/>
    <p:sldId id="328" r:id="rId46"/>
    <p:sldId id="329" r:id="rId4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282" autoAdjust="0"/>
  </p:normalViewPr>
  <p:slideViewPr>
    <p:cSldViewPr snapToGrid="0">
      <p:cViewPr varScale="1">
        <p:scale>
          <a:sx n="62" d="100"/>
          <a:sy n="62" d="100"/>
        </p:scale>
        <p:origin x="57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7507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51B68BD-9D24-44BD-BF15-0A1722B7C654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8A6B8"/>
                </a:solidFill>
              </a:defRPr>
            </a:pPr>
            <a:r>
              <a:rPr sz="1800" b="1">
                <a:solidFill>
                  <a:srgbClr val="18A6B8"/>
                </a:solidFill>
              </a:rPr>
              <a:t>HI5033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BCE01F-217D-45CC-BD68-797AE59FC74F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8572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Database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1497CC-6F57-4183-A72C-E8F638E98EF8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CFE8F1"/>
                </a:solidFill>
              </a:defRPr>
            </a:pPr>
            <a:r>
              <a:rPr sz="1875" b="0">
                <a:solidFill>
                  <a:srgbClr val="CFE8F1"/>
                </a:solidFill>
              </a:rPr>
              <a:t>Week </a:t>
            </a:r>
            <a:r>
              <a:rPr lang="en-US" sz="1875" b="0">
                <a:solidFill>
                  <a:srgbClr val="CFE8F1"/>
                </a:solidFill>
              </a:rPr>
              <a:t>3</a:t>
            </a:r>
            <a:r>
              <a:rPr sz="1875" b="0">
                <a:solidFill>
                  <a:srgbClr val="CFE8F1"/>
                </a:solidFill>
              </a:rPr>
              <a:t> </a:t>
            </a:r>
            <a:r>
              <a:rPr sz="1875" b="0" dirty="0">
                <a:solidFill>
                  <a:srgbClr val="CFE8F1"/>
                </a:solidFill>
              </a:rPr>
              <a:t>Tutorial • Trimester 2, 2026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44B519-96E5-4DB2-82F0-7E3D0B7C3425}"/>
              </a:ext>
            </a:extLst>
          </p:cNvPr>
          <p:cNvSpPr>
            <a:spLocks noGrp="1"/>
          </p:cNvSpPr>
          <p:nvPr/>
        </p:nvSpPr>
        <p:spPr>
          <a:xfrm>
            <a:off x="704850" y="4524375"/>
            <a:ext cx="6477000" cy="952500"/>
          </a:xfrm>
          <a:prstGeom prst="roundRect">
            <a:avLst>
              <a:gd name="adj" fmla="val 12000"/>
            </a:avLst>
          </a:prstGeom>
          <a:solidFill>
            <a:srgbClr val="173C59"/>
          </a:solidFill>
          <a:ln w="9525">
            <a:solidFill>
              <a:srgbClr val="2451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0AF3F4-2D1E-4208-9951-FDD8C2BFD7FB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5905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>
                <a:solidFill>
                  <a:srgbClr val="FFFFFF"/>
                </a:solidFill>
              </a:rPr>
              <a:t>Preparation for Online Test 1</a:t>
            </a:r>
            <a:endParaRPr sz="1875" b="1" dirty="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25A682-3F0E-441C-B6EA-1B82FD7ABC92}"/>
              </a:ext>
            </a:extLst>
          </p:cNvPr>
          <p:cNvSpPr>
            <a:spLocks noGrp="1"/>
          </p:cNvSpPr>
          <p:nvPr/>
        </p:nvSpPr>
        <p:spPr>
          <a:xfrm>
            <a:off x="8477250" y="5905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Dr Farshid Keivanian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F81E87-A30A-3655-FEED-1CDC5EE3A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r="24813" b="1"/>
          <a:stretch>
            <a:fillRect/>
          </a:stretch>
        </p:blipFill>
        <p:spPr>
          <a:xfrm>
            <a:off x="8761588" y="774547"/>
            <a:ext cx="3043238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71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7BFBD9F-E8FE-4495-8C27-43AD7BB23B4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02A43"/>
                </a:solidFill>
              </a:defRPr>
            </a:pPr>
            <a:r>
              <a:rPr lang="en-US" sz="2850" b="1" dirty="0">
                <a:solidFill>
                  <a:srgbClr val="102A43"/>
                </a:solidFill>
              </a:rPr>
              <a:t>Preparation for Quiz 1 (20 Questions – Friday 21 Aug)</a:t>
            </a:r>
            <a:endParaRPr sz="2850" b="1" dirty="0">
              <a:solidFill>
                <a:srgbClr val="102A4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CD33FE-258A-4FA1-B330-F11D308C107A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857250" cy="47625"/>
          </a:xfrm>
          <a:prstGeom prst="rect">
            <a:avLst/>
          </a:prstGeom>
          <a:solidFill>
            <a:srgbClr val="18A6B8"/>
          </a:solidFill>
          <a:ln w="0">
            <a:solidFill>
              <a:srgbClr val="18A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5894C4-9C76-4067-8299-85E8556E6A1F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57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8A6B8"/>
                </a:solidFill>
              </a:defRPr>
            </a:pPr>
            <a:r>
              <a:rPr sz="1350" b="1">
                <a:solidFill>
                  <a:srgbClr val="18A6B8"/>
                </a:solidFill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47D6E4-F50C-4B0F-9003-382EB1FCFEC0}"/>
              </a:ext>
            </a:extLst>
          </p:cNvPr>
          <p:cNvSpPr>
            <a:spLocks noGrp="1"/>
          </p:cNvSpPr>
          <p:nvPr/>
        </p:nvSpPr>
        <p:spPr>
          <a:xfrm>
            <a:off x="1476375" y="1581150"/>
            <a:ext cx="838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A43"/>
                </a:solidFill>
              </a:defRPr>
            </a:pPr>
            <a:r>
              <a:rPr lang="en-US" sz="1875" b="0" dirty="0">
                <a:solidFill>
                  <a:srgbClr val="102A43"/>
                </a:solidFill>
              </a:rPr>
              <a:t>Preparation for Online Quiz 1 (</a:t>
            </a:r>
            <a:r>
              <a:rPr lang="en-US" sz="1875" b="0">
                <a:solidFill>
                  <a:srgbClr val="102A43"/>
                </a:solidFill>
              </a:rPr>
              <a:t>Questions 1-21)</a:t>
            </a:r>
            <a:endParaRPr sz="1875" b="0" dirty="0">
              <a:solidFill>
                <a:srgbClr val="102A4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56B1A1-525C-49E9-AFC7-A0C141D2FE81}"/>
              </a:ext>
            </a:extLst>
          </p:cNvPr>
          <p:cNvSpPr>
            <a:spLocks noGrp="1"/>
          </p:cNvSpPr>
          <p:nvPr/>
        </p:nvSpPr>
        <p:spPr>
          <a:xfrm>
            <a:off x="1476375" y="2009775"/>
            <a:ext cx="8572500" cy="9525"/>
          </a:xfrm>
          <a:prstGeom prst="rect">
            <a:avLst/>
          </a:prstGeom>
          <a:solidFill>
            <a:srgbClr val="C9D8E3"/>
          </a:solidFill>
          <a:ln w="0">
            <a:solidFill>
              <a:srgbClr val="C9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706A4B-3C04-44B3-A754-F949472185B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972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26777"/>
                </a:solidFill>
              </a:defRPr>
            </a:pPr>
            <a:r>
              <a:rPr sz="825" b="0">
                <a:solidFill>
                  <a:srgbClr val="526777"/>
                </a:solidFill>
              </a:rPr>
              <a:t>HI5033 • T2 2026                      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1832896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8EF0BC-3FB2-021D-E99F-EA00B6844CB2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CC4340-7728-8EC2-7DAC-DCC4B08BE03E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6C748-57B9-CCDE-E475-1CE7443479DD}"/>
              </a:ext>
            </a:extLst>
          </p:cNvPr>
          <p:cNvSpPr txBox="1"/>
          <p:nvPr/>
        </p:nvSpPr>
        <p:spPr>
          <a:xfrm>
            <a:off x="0" y="440268"/>
            <a:ext cx="1204524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1: Purpose of a DBMS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Which task is a normal responsibility of a Database Management System?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Designing advertising posters</a:t>
            </a:r>
            <a:br>
              <a:rPr lang="en-AU" sz="2800" dirty="0"/>
            </a:br>
            <a:r>
              <a:rPr lang="en-AU" sz="2800" dirty="0"/>
              <a:t>B. Controlling how data is stored, retrieved and updated</a:t>
            </a:r>
            <a:br>
              <a:rPr lang="en-AU" sz="2800" dirty="0"/>
            </a:br>
            <a:r>
              <a:rPr lang="en-AU" sz="2800" dirty="0"/>
              <a:t>C. Repairing computer hardware</a:t>
            </a:r>
            <a:br>
              <a:rPr lang="en-AU" sz="2800" dirty="0"/>
            </a:br>
            <a:r>
              <a:rPr lang="en-AU" sz="2800" dirty="0"/>
              <a:t>D. Creating presentation slides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2EEB5B-CDC6-95FF-9EAB-5ED35A32CBB8}"/>
              </a:ext>
            </a:extLst>
          </p:cNvPr>
          <p:cNvSpPr/>
          <p:nvPr/>
        </p:nvSpPr>
        <p:spPr>
          <a:xfrm>
            <a:off x="6209" y="2582333"/>
            <a:ext cx="8284351" cy="37253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5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98162-A4B6-DD9B-6C40-F801F33B5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2CCDD0-4E9B-4DA9-CD57-E411E1D77DCA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353D8C-6000-CF1D-CE5D-B7E612375EC0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08FE04-8668-10C1-2626-CC480DC5C73E}"/>
              </a:ext>
            </a:extLst>
          </p:cNvPr>
          <p:cNvSpPr txBox="1"/>
          <p:nvPr/>
        </p:nvSpPr>
        <p:spPr>
          <a:xfrm>
            <a:off x="0" y="440268"/>
            <a:ext cx="12045244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Explanation:</a:t>
            </a:r>
            <a:br>
              <a:rPr lang="en-AU" sz="2800" dirty="0"/>
            </a:br>
            <a:r>
              <a:rPr lang="en-AU" sz="2800" dirty="0"/>
              <a:t>A DBMS manages databases. Its responsibilities include: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Defining data structures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Storing and retrieving data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Processing inserts and updates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Applying security and integrity rules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Supporting multiple users 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Creating posters or slides is not a database-management function.</a:t>
            </a:r>
          </a:p>
        </p:txBody>
      </p:sp>
    </p:spTree>
    <p:extLst>
      <p:ext uri="{BB962C8B-B14F-4D97-AF65-F5344CB8AC3E}">
        <p14:creationId xmlns:p14="http://schemas.microsoft.com/office/powerpoint/2010/main" val="3456800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8905B-34F3-0D95-6023-C0FD74530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90F92B-D032-A764-6065-A9F7DCF5E5A9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116668-B4BF-A007-FE86-7AB4F81237BC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96246-C7D8-AF6B-6573-8AE2BF8C73DB}"/>
              </a:ext>
            </a:extLst>
          </p:cNvPr>
          <p:cNvSpPr txBox="1"/>
          <p:nvPr/>
        </p:nvSpPr>
        <p:spPr>
          <a:xfrm>
            <a:off x="0" y="440268"/>
            <a:ext cx="1204524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2: Function not normally performed by a DBMS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Which activity is not a primary DBMS function?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Enforcing database constraints</a:t>
            </a:r>
            <a:br>
              <a:rPr lang="en-AU" sz="2800" dirty="0"/>
            </a:br>
            <a:r>
              <a:rPr lang="en-AU" sz="2800" dirty="0"/>
              <a:t>B. Managing concurrent transactions</a:t>
            </a:r>
            <a:br>
              <a:rPr lang="en-AU" sz="2800" dirty="0"/>
            </a:br>
            <a:r>
              <a:rPr lang="en-AU" sz="2800" dirty="0"/>
              <a:t>C. Creating payroll advertisements</a:t>
            </a:r>
            <a:br>
              <a:rPr lang="en-AU" sz="2800" dirty="0"/>
            </a:br>
            <a:r>
              <a:rPr lang="en-AU" sz="2800" dirty="0"/>
              <a:t>D. Controlling user access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E2D69E-764D-6A27-07F6-79B33A8803C2}"/>
              </a:ext>
            </a:extLst>
          </p:cNvPr>
          <p:cNvSpPr txBox="1"/>
          <p:nvPr/>
        </p:nvSpPr>
        <p:spPr>
          <a:xfrm>
            <a:off x="-9596" y="4343772"/>
            <a:ext cx="1205484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Explanation:</a:t>
            </a:r>
            <a:br>
              <a:rPr lang="en-AU" sz="2800" dirty="0"/>
            </a:br>
            <a:r>
              <a:rPr lang="en-AU" sz="2800" dirty="0"/>
              <a:t>A DBMS can store payroll information, control access and process transactions. However, creating an advertisement is performed by other software or a business user.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76B8DE-9E83-830E-B2B0-7F80D41C129B}"/>
              </a:ext>
            </a:extLst>
          </p:cNvPr>
          <p:cNvSpPr/>
          <p:nvPr/>
        </p:nvSpPr>
        <p:spPr>
          <a:xfrm>
            <a:off x="0" y="3233766"/>
            <a:ext cx="5349240" cy="46193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113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616E9-25CF-9B3D-05F1-187F40C84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F5C3EA-0CD1-F558-1C41-39EEFCAB5C59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967BE-684A-EAB6-415A-BB461F085536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FA679F-ABB7-0EF1-B9EA-667D1F4B6D25}"/>
              </a:ext>
            </a:extLst>
          </p:cNvPr>
          <p:cNvSpPr txBox="1"/>
          <p:nvPr/>
        </p:nvSpPr>
        <p:spPr>
          <a:xfrm>
            <a:off x="0" y="440268"/>
            <a:ext cx="1204524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3: Data manipulation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 Sydney retailer adds a new customer and changes the customer’s delivery address. Which DBMS capability is being used?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Data manipulation</a:t>
            </a:r>
            <a:br>
              <a:rPr lang="en-AU" sz="2800" dirty="0"/>
            </a:br>
            <a:r>
              <a:rPr lang="en-AU" sz="2800" dirty="0"/>
              <a:t>B. Physical hardware repair</a:t>
            </a:r>
            <a:br>
              <a:rPr lang="en-AU" sz="2800" dirty="0"/>
            </a:br>
            <a:r>
              <a:rPr lang="en-AU" sz="2800" dirty="0"/>
              <a:t>C. Spreadsheet formatting</a:t>
            </a:r>
            <a:br>
              <a:rPr lang="en-AU" sz="2800" dirty="0"/>
            </a:br>
            <a:r>
              <a:rPr lang="en-AU" sz="2800" dirty="0"/>
              <a:t>D. Network-cable installation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8B1CD8-9974-7E20-764F-3BFFF253D816}"/>
              </a:ext>
            </a:extLst>
          </p:cNvPr>
          <p:cNvSpPr txBox="1"/>
          <p:nvPr/>
        </p:nvSpPr>
        <p:spPr>
          <a:xfrm>
            <a:off x="5591175" y="2291715"/>
            <a:ext cx="6454069" cy="464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500" b="1" dirty="0"/>
              <a:t>Explanation:</a:t>
            </a:r>
            <a:br>
              <a:rPr lang="en-AU" sz="2500" dirty="0"/>
            </a:br>
            <a:r>
              <a:rPr lang="en-AU" sz="2500" dirty="0"/>
              <a:t>Data manipulation includes operations that change database records, such as:</a:t>
            </a:r>
          </a:p>
          <a:p>
            <a:pPr rtl="0">
              <a:lnSpc>
                <a:spcPct val="150000"/>
              </a:lnSpc>
            </a:pPr>
            <a:r>
              <a:rPr lang="en-AU" sz="2500" dirty="0">
                <a:highlight>
                  <a:srgbClr val="FFFF00"/>
                </a:highlight>
              </a:rPr>
              <a:t>INSERT</a:t>
            </a:r>
          </a:p>
          <a:p>
            <a:pPr rtl="0">
              <a:lnSpc>
                <a:spcPct val="150000"/>
              </a:lnSpc>
            </a:pPr>
            <a:r>
              <a:rPr lang="en-AU" sz="2500" dirty="0">
                <a:highlight>
                  <a:srgbClr val="FFFF00"/>
                </a:highlight>
              </a:rPr>
              <a:t>UPDATE</a:t>
            </a:r>
          </a:p>
          <a:p>
            <a:pPr rtl="0">
              <a:lnSpc>
                <a:spcPct val="150000"/>
              </a:lnSpc>
            </a:pPr>
            <a:r>
              <a:rPr lang="en-AU" sz="2500" dirty="0">
                <a:highlight>
                  <a:srgbClr val="FFFF00"/>
                </a:highlight>
              </a:rPr>
              <a:t>DELETE</a:t>
            </a:r>
          </a:p>
          <a:p>
            <a:pPr>
              <a:lnSpc>
                <a:spcPct val="150000"/>
              </a:lnSpc>
            </a:pPr>
            <a:r>
              <a:rPr lang="en-AU" sz="2500" dirty="0"/>
              <a:t>Adding a customer uses INSERT, while changing an address normally uses UPDATE.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8C26AD-977B-2F3A-823C-3B61C32FDC02}"/>
              </a:ext>
            </a:extLst>
          </p:cNvPr>
          <p:cNvSpPr/>
          <p:nvPr/>
        </p:nvSpPr>
        <p:spPr>
          <a:xfrm>
            <a:off x="0" y="2543122"/>
            <a:ext cx="5349240" cy="46193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1406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93C4F-D941-C8DB-3223-3B684F4B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232385-F4DF-43ED-EC2B-268D4E023B57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37CE11-1A05-D21D-56EF-69902129F0C0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677D4D-511F-9D7E-3322-65F3280C8A31}"/>
              </a:ext>
            </a:extLst>
          </p:cNvPr>
          <p:cNvSpPr txBox="1"/>
          <p:nvPr/>
        </p:nvSpPr>
        <p:spPr>
          <a:xfrm>
            <a:off x="0" y="440268"/>
            <a:ext cx="1204524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4: Concurrent access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Two bank employees access the same customer database at the same time. Which DBMS capability helps manage this safely?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Graphic design</a:t>
            </a:r>
            <a:br>
              <a:rPr lang="en-AU" sz="2800" dirty="0"/>
            </a:br>
            <a:r>
              <a:rPr lang="en-AU" sz="2800" dirty="0"/>
              <a:t>B. Concurrency control</a:t>
            </a:r>
            <a:br>
              <a:rPr lang="en-AU" sz="2800" dirty="0"/>
            </a:br>
            <a:r>
              <a:rPr lang="en-AU" sz="2800" dirty="0"/>
              <a:t>C. Website advertising</a:t>
            </a:r>
            <a:br>
              <a:rPr lang="en-AU" sz="2800" dirty="0"/>
            </a:br>
            <a:r>
              <a:rPr lang="en-AU" sz="2800" dirty="0"/>
              <a:t>D. File compression only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2F215F-AD3F-1C09-7777-356CCEB86492}"/>
              </a:ext>
            </a:extLst>
          </p:cNvPr>
          <p:cNvSpPr txBox="1"/>
          <p:nvPr/>
        </p:nvSpPr>
        <p:spPr>
          <a:xfrm>
            <a:off x="5349240" y="2205990"/>
            <a:ext cx="6696004" cy="4831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600" b="1" dirty="0"/>
              <a:t>Explanation:</a:t>
            </a:r>
            <a:br>
              <a:rPr lang="en-AU" sz="2600" dirty="0"/>
            </a:br>
            <a:r>
              <a:rPr lang="en-AU" sz="2600" dirty="0"/>
              <a:t>Concurrency control manages simultaneous database operations. It helps prevent one user’s changes from incorrectly interfering with another user’s work.</a:t>
            </a:r>
          </a:p>
          <a:p>
            <a:pPr>
              <a:lnSpc>
                <a:spcPct val="150000"/>
              </a:lnSpc>
            </a:pPr>
            <a:r>
              <a:rPr lang="en-AU" sz="2600" dirty="0"/>
              <a:t>For example, an Australian bank must prevent two transactions from incorrectly spending the same funds.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A82517-5071-86B0-FAF9-603DD0E0DAA4}"/>
              </a:ext>
            </a:extLst>
          </p:cNvPr>
          <p:cNvSpPr/>
          <p:nvPr/>
        </p:nvSpPr>
        <p:spPr>
          <a:xfrm>
            <a:off x="0" y="3233766"/>
            <a:ext cx="5349240" cy="46193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137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854DE-728F-3E0B-E89F-072368BFB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B1FBBE-CFC8-414C-D9C6-71FAFA574FD1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A04E78-165E-447F-B427-5E8699CDD6D0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A2679-A386-5738-F730-4628DC6861FB}"/>
              </a:ext>
            </a:extLst>
          </p:cNvPr>
          <p:cNvSpPr txBox="1"/>
          <p:nvPr/>
        </p:nvSpPr>
        <p:spPr>
          <a:xfrm>
            <a:off x="0" y="440268"/>
            <a:ext cx="1204524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5: Mini-world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 database is created for a medical clinic and represents patients, doctors, appointments and payments. What is the database’s </a:t>
            </a:r>
            <a:r>
              <a:rPr lang="en-AU" sz="2800" b="1" dirty="0"/>
              <a:t>mini-world</a:t>
            </a:r>
            <a:r>
              <a:rPr lang="en-AU" sz="2800" dirty="0"/>
              <a:t>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The database software installation folder</a:t>
            </a:r>
            <a:br>
              <a:rPr lang="en-AU" sz="2800" dirty="0"/>
            </a:br>
            <a:r>
              <a:rPr lang="en-AU" sz="2800" dirty="0"/>
              <a:t>B. The real clinic environment represented by the database</a:t>
            </a:r>
            <a:br>
              <a:rPr lang="en-AU" sz="2800" dirty="0"/>
            </a:br>
            <a:r>
              <a:rPr lang="en-AU" sz="2800" dirty="0"/>
              <a:t>C. A small copy of the DBMS</a:t>
            </a:r>
            <a:br>
              <a:rPr lang="en-AU" sz="2800" dirty="0"/>
            </a:br>
            <a:r>
              <a:rPr lang="en-AU" sz="2800" dirty="0"/>
              <a:t>D. The computer on which PostgreSQL is installed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B567D2-6D1F-D8B9-7579-97EB774EE0E9}"/>
              </a:ext>
            </a:extLst>
          </p:cNvPr>
          <p:cNvSpPr/>
          <p:nvPr/>
        </p:nvSpPr>
        <p:spPr>
          <a:xfrm>
            <a:off x="0" y="3233766"/>
            <a:ext cx="8801100" cy="46193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985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DD611-462B-C7A2-7F66-6657673BB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E4F3AA-3F49-689D-03C6-355B2844B0B4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4E838C-951C-0866-80A2-3C33D7DC20B7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233B2-317B-D2A7-DD3A-2B3116B435A1}"/>
              </a:ext>
            </a:extLst>
          </p:cNvPr>
          <p:cNvSpPr txBox="1"/>
          <p:nvPr/>
        </p:nvSpPr>
        <p:spPr>
          <a:xfrm>
            <a:off x="71438" y="597632"/>
            <a:ext cx="12049124" cy="626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700" b="1" dirty="0"/>
              <a:t>Explanation:</a:t>
            </a:r>
            <a:br>
              <a:rPr lang="en-AU" sz="2700" dirty="0"/>
            </a:br>
            <a:r>
              <a:rPr lang="en-AU" sz="2700" dirty="0"/>
              <a:t>The mini-world is the part of the real world that the database models.</a:t>
            </a:r>
          </a:p>
          <a:p>
            <a:pPr>
              <a:lnSpc>
                <a:spcPct val="150000"/>
              </a:lnSpc>
              <a:buNone/>
            </a:pPr>
            <a:r>
              <a:rPr lang="en-AU" sz="2700" dirty="0"/>
              <a:t>In this example, the mini-world includes:</a:t>
            </a:r>
          </a:p>
          <a:p>
            <a:pPr marL="62865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/>
              <a:t>Patients </a:t>
            </a:r>
          </a:p>
          <a:p>
            <a:pPr marL="62865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/>
              <a:t>Doctors </a:t>
            </a:r>
          </a:p>
          <a:p>
            <a:pPr marL="62865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/>
              <a:t>Appointments </a:t>
            </a:r>
          </a:p>
          <a:p>
            <a:pPr marL="62865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/>
              <a:t>Medical services </a:t>
            </a:r>
          </a:p>
          <a:p>
            <a:pPr marL="62865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/>
              <a:t>Payments </a:t>
            </a:r>
          </a:p>
          <a:p>
            <a:pPr marL="62865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/>
              <a:t>Relevant business rules </a:t>
            </a:r>
          </a:p>
          <a:p>
            <a:pPr>
              <a:lnSpc>
                <a:spcPct val="150000"/>
              </a:lnSpc>
              <a:buNone/>
            </a:pPr>
            <a:r>
              <a:rPr lang="en-AU" sz="2700" dirty="0"/>
              <a:t>It does not mean that the DBMS itself is small.</a:t>
            </a:r>
          </a:p>
        </p:txBody>
      </p:sp>
    </p:spTree>
    <p:extLst>
      <p:ext uri="{BB962C8B-B14F-4D97-AF65-F5344CB8AC3E}">
        <p14:creationId xmlns:p14="http://schemas.microsoft.com/office/powerpoint/2010/main" val="3126708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D5C13-3AFB-DDC6-A8D8-8A0A2710C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F95F39-71EA-D451-ADD4-8CE42105794C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75C7E-566F-4B56-A4FB-7DF83CE01CAC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8046DF-F4B7-9400-C61E-E5B5267C93C5}"/>
              </a:ext>
            </a:extLst>
          </p:cNvPr>
          <p:cNvSpPr txBox="1"/>
          <p:nvPr/>
        </p:nvSpPr>
        <p:spPr>
          <a:xfrm>
            <a:off x="71438" y="597632"/>
            <a:ext cx="12049124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6: Defining the mini-world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Before designing a database for an Australian university, why must the development team understand the relevant mini-world?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To decide what real-world objects, events and rules the database must represent</a:t>
            </a:r>
            <a:br>
              <a:rPr lang="en-AU" sz="2800" dirty="0"/>
            </a:br>
            <a:r>
              <a:rPr lang="en-AU" sz="2800" dirty="0"/>
              <a:t>B. To select the colour of the database server</a:t>
            </a:r>
            <a:br>
              <a:rPr lang="en-AU" sz="2800" dirty="0"/>
            </a:br>
            <a:r>
              <a:rPr lang="en-AU" sz="2800" dirty="0"/>
              <a:t>C. To reduce the number of users automatically</a:t>
            </a:r>
            <a:br>
              <a:rPr lang="en-AU" sz="2800" dirty="0"/>
            </a:br>
            <a:r>
              <a:rPr lang="en-AU" sz="2800" dirty="0"/>
              <a:t>D. To avoid speaking with stakeholders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E671B0-BD35-6DA0-6061-E58232090289}"/>
              </a:ext>
            </a:extLst>
          </p:cNvPr>
          <p:cNvSpPr/>
          <p:nvPr/>
        </p:nvSpPr>
        <p:spPr>
          <a:xfrm>
            <a:off x="0" y="2703426"/>
            <a:ext cx="10934700" cy="10875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C927F3-522B-C467-4214-160769AB12C5}"/>
              </a:ext>
            </a:extLst>
          </p:cNvPr>
          <p:cNvSpPr txBox="1"/>
          <p:nvPr/>
        </p:nvSpPr>
        <p:spPr>
          <a:xfrm>
            <a:off x="7067550" y="3718679"/>
            <a:ext cx="51244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sz="2200" dirty="0"/>
              <a:t>A database must accurately represent its intended environment. The designers therefore need to understand: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2200" dirty="0"/>
              <a:t>What data must be stored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2200" dirty="0"/>
              <a:t>How data items are related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2200" dirty="0"/>
              <a:t>What business rules apply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2200" dirty="0"/>
              <a:t>What users need from the system </a:t>
            </a:r>
          </a:p>
          <a:p>
            <a:pPr>
              <a:buNone/>
            </a:pPr>
            <a:r>
              <a:rPr lang="en-AU" sz="2200" dirty="0"/>
              <a:t>For a university, this could include students, units, lecturers and enrolments.</a:t>
            </a:r>
          </a:p>
        </p:txBody>
      </p:sp>
    </p:spTree>
    <p:extLst>
      <p:ext uri="{BB962C8B-B14F-4D97-AF65-F5344CB8AC3E}">
        <p14:creationId xmlns:p14="http://schemas.microsoft.com/office/powerpoint/2010/main" val="48357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B1CC7-38D0-2DCA-1874-793948B04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B761CA-667B-C6EE-6856-6CCACC6C0AE1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F119E-624E-CB64-3BA5-7ED76ED7A580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2E1BB-2BF4-2739-B830-AE2CBD4FD198}"/>
              </a:ext>
            </a:extLst>
          </p:cNvPr>
          <p:cNvSpPr txBox="1"/>
          <p:nvPr/>
        </p:nvSpPr>
        <p:spPr>
          <a:xfrm>
            <a:off x="71438" y="597632"/>
            <a:ext cx="1204912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7: Self-describing database system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Why is a database system described as self-describing?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It writes its own business reports without instructions</a:t>
            </a:r>
            <a:br>
              <a:rPr lang="en-AU" sz="2800" dirty="0"/>
            </a:br>
            <a:r>
              <a:rPr lang="en-AU" sz="2800" dirty="0"/>
              <a:t>B. It stores metadata describing its own database structures</a:t>
            </a:r>
            <a:br>
              <a:rPr lang="en-AU" sz="2800" dirty="0"/>
            </a:br>
            <a:r>
              <a:rPr lang="en-AU" sz="2800" dirty="0"/>
              <a:t>C. It automatically understands every organisation</a:t>
            </a:r>
            <a:br>
              <a:rPr lang="en-AU" sz="2800" dirty="0"/>
            </a:br>
            <a:r>
              <a:rPr lang="en-AU" sz="2800" dirty="0"/>
              <a:t>D. It requires no schema or constraints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1647ED-09E6-D084-0753-889D21D380DD}"/>
              </a:ext>
            </a:extLst>
          </p:cNvPr>
          <p:cNvSpPr/>
          <p:nvPr/>
        </p:nvSpPr>
        <p:spPr>
          <a:xfrm>
            <a:off x="0" y="2703426"/>
            <a:ext cx="8934450" cy="53796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918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4CB56-A4AD-9CF8-B1DB-1A1E02795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0ADACF-CD83-E1EE-88F3-DBFD49FD786E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2AFBE-3C63-D24B-1EF2-15746B95703C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0A5F4E-2F5E-7D2D-4F62-688B593C843A}"/>
              </a:ext>
            </a:extLst>
          </p:cNvPr>
          <p:cNvSpPr txBox="1"/>
          <p:nvPr/>
        </p:nvSpPr>
        <p:spPr>
          <a:xfrm>
            <a:off x="71438" y="597632"/>
            <a:ext cx="12049124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Explanation:</a:t>
            </a:r>
            <a:br>
              <a:rPr lang="en-AU" sz="2800" dirty="0"/>
            </a:br>
            <a:r>
              <a:rPr lang="en-AU" sz="2800" dirty="0"/>
              <a:t>A DBMS stores both data and metadata.</a:t>
            </a:r>
          </a:p>
          <a:p>
            <a:pPr>
              <a:lnSpc>
                <a:spcPct val="150000"/>
              </a:lnSpc>
            </a:pPr>
            <a:r>
              <a:rPr lang="en-AU" sz="2800" b="1" dirty="0"/>
              <a:t>Data example:</a:t>
            </a:r>
            <a:endParaRPr lang="en-AU" sz="2800" dirty="0"/>
          </a:p>
          <a:p>
            <a:pPr rtl="0">
              <a:lnSpc>
                <a:spcPct val="150000"/>
              </a:lnSpc>
            </a:pPr>
            <a:r>
              <a:rPr lang="en-AU" sz="2800" dirty="0">
                <a:highlight>
                  <a:srgbClr val="FFFF00"/>
                </a:highlight>
              </a:rPr>
              <a:t>S1001, Aisha Khan, Sydney</a:t>
            </a:r>
          </a:p>
          <a:p>
            <a:pPr>
              <a:lnSpc>
                <a:spcPct val="150000"/>
              </a:lnSpc>
            </a:pPr>
            <a:r>
              <a:rPr lang="en-AU" sz="2800" b="1" dirty="0"/>
              <a:t>Metadata example:</a:t>
            </a:r>
            <a:endParaRPr lang="en-AU" sz="2800" dirty="0"/>
          </a:p>
          <a:p>
            <a:pPr rtl="0">
              <a:lnSpc>
                <a:spcPct val="150000"/>
              </a:lnSpc>
            </a:pPr>
            <a:r>
              <a:rPr lang="en-AU" sz="2800" dirty="0" err="1">
                <a:highlight>
                  <a:srgbClr val="FFFF00"/>
                </a:highlight>
              </a:rPr>
              <a:t>StudentID</a:t>
            </a:r>
            <a:r>
              <a:rPr lang="en-AU" sz="2800" dirty="0">
                <a:highlight>
                  <a:srgbClr val="FFFF00"/>
                </a:highlight>
              </a:rPr>
              <a:t>: VARCHAR(10)</a:t>
            </a:r>
          </a:p>
          <a:p>
            <a:pPr rtl="0">
              <a:lnSpc>
                <a:spcPct val="150000"/>
              </a:lnSpc>
            </a:pPr>
            <a:r>
              <a:rPr lang="en-AU" sz="2800" dirty="0" err="1">
                <a:highlight>
                  <a:srgbClr val="FFFF00"/>
                </a:highlight>
              </a:rPr>
              <a:t>StudentName</a:t>
            </a:r>
            <a:r>
              <a:rPr lang="en-AU" sz="2800" dirty="0">
                <a:highlight>
                  <a:srgbClr val="FFFF00"/>
                </a:highlight>
              </a:rPr>
              <a:t>: VARCHAR(100)</a:t>
            </a:r>
          </a:p>
          <a:p>
            <a:pPr rtl="0">
              <a:lnSpc>
                <a:spcPct val="150000"/>
              </a:lnSpc>
            </a:pPr>
            <a:r>
              <a:rPr lang="en-AU" sz="2800" dirty="0">
                <a:highlight>
                  <a:srgbClr val="FFFF00"/>
                </a:highlight>
              </a:rPr>
              <a:t>Campus: VARCHAR(30)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Metadata explains the structure, data types and rules of the database.</a:t>
            </a:r>
          </a:p>
        </p:txBody>
      </p:sp>
    </p:spTree>
    <p:extLst>
      <p:ext uri="{BB962C8B-B14F-4D97-AF65-F5344CB8AC3E}">
        <p14:creationId xmlns:p14="http://schemas.microsoft.com/office/powerpoint/2010/main" val="3566083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6FD2-77B5-3C00-46A5-AD6B21724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C11E77-7F38-5043-43FF-E885C57A89F6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CBB18A-1169-16E8-3CAA-399E4FE0BA16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AC7277-BB3C-29C9-3EF4-9C256B3AA0F5}"/>
              </a:ext>
            </a:extLst>
          </p:cNvPr>
          <p:cNvSpPr txBox="1"/>
          <p:nvPr/>
        </p:nvSpPr>
        <p:spPr>
          <a:xfrm>
            <a:off x="71438" y="597632"/>
            <a:ext cx="1204912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8: Metadata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Which of the following is an example of metadata?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A patient named Priya Sharma</a:t>
            </a:r>
            <a:br>
              <a:rPr lang="en-AU" sz="2800" dirty="0"/>
            </a:br>
            <a:r>
              <a:rPr lang="en-AU" sz="2800" dirty="0"/>
              <a:t>B. A payment of $85</a:t>
            </a:r>
            <a:br>
              <a:rPr lang="en-AU" sz="2800" dirty="0"/>
            </a:br>
            <a:r>
              <a:rPr lang="en-AU" sz="2800" dirty="0"/>
              <a:t>C. A rule stating that </a:t>
            </a:r>
            <a:r>
              <a:rPr lang="en-AU" sz="2800" dirty="0" err="1"/>
              <a:t>PatientID</a:t>
            </a:r>
            <a:r>
              <a:rPr lang="en-AU" sz="2800" dirty="0"/>
              <a:t> is an integer and primary key</a:t>
            </a:r>
            <a:br>
              <a:rPr lang="en-AU" sz="2800" dirty="0"/>
            </a:br>
            <a:r>
              <a:rPr lang="en-AU" sz="2800" dirty="0"/>
              <a:t>D. An appointment scheduled for Monday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5817686-5381-5B37-8022-B725B9C1DABB}"/>
              </a:ext>
            </a:extLst>
          </p:cNvPr>
          <p:cNvSpPr/>
          <p:nvPr/>
        </p:nvSpPr>
        <p:spPr>
          <a:xfrm>
            <a:off x="0" y="3353279"/>
            <a:ext cx="8934450" cy="53796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334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F834A-E0F2-621C-BBBD-5D9203435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325105-EC47-4F9B-F040-6895B065CD6F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6BF695-AA06-6831-BD56-D31E9A7E7448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38BE1-03EE-A800-2953-E5C81576BF60}"/>
              </a:ext>
            </a:extLst>
          </p:cNvPr>
          <p:cNvSpPr txBox="1"/>
          <p:nvPr/>
        </p:nvSpPr>
        <p:spPr>
          <a:xfrm>
            <a:off x="0" y="521606"/>
            <a:ext cx="12049124" cy="626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700" b="1" dirty="0"/>
              <a:t>Explanation:</a:t>
            </a:r>
            <a:br>
              <a:rPr lang="en-AU" sz="2700" dirty="0"/>
            </a:br>
            <a:r>
              <a:rPr lang="en-AU" sz="2700" dirty="0"/>
              <a:t>Metadata is “data about data.” It describes how database information is organised.</a:t>
            </a:r>
          </a:p>
          <a:p>
            <a:pPr>
              <a:lnSpc>
                <a:spcPct val="150000"/>
              </a:lnSpc>
              <a:buNone/>
            </a:pPr>
            <a:r>
              <a:rPr lang="en-AU" sz="2700" dirty="0"/>
              <a:t>Examples include:</a:t>
            </a:r>
          </a:p>
          <a:p>
            <a:pPr marL="71437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/>
              <a:t>Table names </a:t>
            </a:r>
          </a:p>
          <a:p>
            <a:pPr marL="71437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/>
              <a:t>Column names </a:t>
            </a:r>
          </a:p>
          <a:p>
            <a:pPr marL="71437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/>
              <a:t>Data types </a:t>
            </a:r>
          </a:p>
          <a:p>
            <a:pPr marL="71437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/>
              <a:t>Primary keys </a:t>
            </a:r>
          </a:p>
          <a:p>
            <a:pPr marL="71437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/>
              <a:t>Foreign keys </a:t>
            </a:r>
          </a:p>
          <a:p>
            <a:pPr marL="71437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/>
              <a:t>Constraints </a:t>
            </a:r>
          </a:p>
          <a:p>
            <a:pPr>
              <a:lnSpc>
                <a:spcPct val="150000"/>
              </a:lnSpc>
              <a:buNone/>
            </a:pPr>
            <a:r>
              <a:rPr lang="en-AU" sz="2700" dirty="0"/>
              <a:t>The other options are actual business data.</a:t>
            </a:r>
          </a:p>
        </p:txBody>
      </p:sp>
    </p:spTree>
    <p:extLst>
      <p:ext uri="{BB962C8B-B14F-4D97-AF65-F5344CB8AC3E}">
        <p14:creationId xmlns:p14="http://schemas.microsoft.com/office/powerpoint/2010/main" val="3218729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79EF4-7DB1-69D6-D3C9-804AFCC86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45C893-8C05-A1A8-586F-C6D262C842DC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0437FE-BFA7-6475-4709-7E2588FB43EC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0BC74-E1EC-5533-1251-7AFC63B8F520}"/>
              </a:ext>
            </a:extLst>
          </p:cNvPr>
          <p:cNvSpPr txBox="1"/>
          <p:nvPr/>
        </p:nvSpPr>
        <p:spPr>
          <a:xfrm>
            <a:off x="0" y="521606"/>
            <a:ext cx="1204912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9: Database catalogue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Where does a DBMS normally maintain information about tables, columns, constraints and users?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Database catalogue or data dictionary</a:t>
            </a:r>
            <a:br>
              <a:rPr lang="en-AU" sz="2800" dirty="0"/>
            </a:br>
            <a:r>
              <a:rPr lang="en-AU" sz="2800" dirty="0"/>
              <a:t>B. Spreadsheet chart</a:t>
            </a:r>
            <a:br>
              <a:rPr lang="en-AU" sz="2800" dirty="0"/>
            </a:br>
            <a:r>
              <a:rPr lang="en-AU" sz="2800" dirty="0"/>
              <a:t>C. Presentation template</a:t>
            </a:r>
            <a:br>
              <a:rPr lang="en-AU" sz="2800" dirty="0"/>
            </a:br>
            <a:r>
              <a:rPr lang="en-AU" sz="2800" dirty="0"/>
              <a:t>D. Network switch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9441D5C-C5C6-26F7-9642-385F74B8ADA7}"/>
              </a:ext>
            </a:extLst>
          </p:cNvPr>
          <p:cNvSpPr/>
          <p:nvPr/>
        </p:nvSpPr>
        <p:spPr>
          <a:xfrm>
            <a:off x="0" y="2513052"/>
            <a:ext cx="6276975" cy="5539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5CC30A-D06F-5D9E-119B-518ECE06CCBC}"/>
              </a:ext>
            </a:extLst>
          </p:cNvPr>
          <p:cNvSpPr txBox="1"/>
          <p:nvPr/>
        </p:nvSpPr>
        <p:spPr>
          <a:xfrm>
            <a:off x="3829050" y="3716756"/>
            <a:ext cx="8362950" cy="3144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700" b="1" dirty="0"/>
              <a:t>Explanation:</a:t>
            </a:r>
            <a:br>
              <a:rPr lang="en-AU" sz="2700" dirty="0"/>
            </a:br>
            <a:r>
              <a:rPr lang="en-AU" sz="2700" dirty="0"/>
              <a:t>The database catalogue, also called the data dictionary or system catalogue, stores metadata about the database.</a:t>
            </a:r>
          </a:p>
          <a:p>
            <a:pPr>
              <a:lnSpc>
                <a:spcPct val="150000"/>
              </a:lnSpc>
              <a:buNone/>
            </a:pPr>
            <a:r>
              <a:rPr lang="en-AU" sz="2700" dirty="0"/>
              <a:t>PostgreSQL uses system catalogues to record information about database objects, permissions and structures.</a:t>
            </a:r>
          </a:p>
        </p:txBody>
      </p:sp>
    </p:spTree>
    <p:extLst>
      <p:ext uri="{BB962C8B-B14F-4D97-AF65-F5344CB8AC3E}">
        <p14:creationId xmlns:p14="http://schemas.microsoft.com/office/powerpoint/2010/main" val="151595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F680-5138-27A1-E663-0130D054A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5038A9-130C-F94E-612E-F26F0E74CDAE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65B011-623D-C574-3C31-A2D22BCD071C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BFE238-3E57-E9FF-8411-F3E43EF135DE}"/>
              </a:ext>
            </a:extLst>
          </p:cNvPr>
          <p:cNvSpPr txBox="1"/>
          <p:nvPr/>
        </p:nvSpPr>
        <p:spPr>
          <a:xfrm>
            <a:off x="0" y="521606"/>
            <a:ext cx="1204912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10: Requirements analysis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What is the main purpose of data requirements analysis?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To determine what information users need and what business rules apply</a:t>
            </a:r>
            <a:br>
              <a:rPr lang="en-AU" sz="2800" dirty="0"/>
            </a:br>
            <a:r>
              <a:rPr lang="en-AU" sz="2800" dirty="0"/>
              <a:t>B. To choose the physical location of every disk block</a:t>
            </a:r>
            <a:br>
              <a:rPr lang="en-AU" sz="2800" dirty="0"/>
            </a:br>
            <a:r>
              <a:rPr lang="en-AU" sz="2800" dirty="0"/>
              <a:t>C. To write all SQL queries before speaking with users</a:t>
            </a:r>
            <a:br>
              <a:rPr lang="en-AU" sz="2800" dirty="0"/>
            </a:br>
            <a:r>
              <a:rPr lang="en-AU" sz="2800" dirty="0"/>
              <a:t>D. To remove all relationships between entities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4378B57-A79C-3B77-1BF9-6A6CD119FEA9}"/>
              </a:ext>
            </a:extLst>
          </p:cNvPr>
          <p:cNvSpPr/>
          <p:nvPr/>
        </p:nvSpPr>
        <p:spPr>
          <a:xfrm>
            <a:off x="0" y="1919360"/>
            <a:ext cx="11239500" cy="5539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71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5DA2C-8426-FE15-5AD9-F4423DA93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5A7CDF-96B0-5386-8ACD-29BB8FE000E1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76908F-8ED8-CC11-5863-1216D8224C50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4124D-7B4D-4AB1-8EA6-27455CC2EABA}"/>
              </a:ext>
            </a:extLst>
          </p:cNvPr>
          <p:cNvSpPr txBox="1"/>
          <p:nvPr/>
        </p:nvSpPr>
        <p:spPr>
          <a:xfrm>
            <a:off x="0" y="342900"/>
            <a:ext cx="12049124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/>
              <a:t>Explanation:</a:t>
            </a:r>
            <a:br>
              <a:rPr lang="en-AU" sz="2800" dirty="0"/>
            </a:br>
            <a:r>
              <a:rPr lang="en-AU" sz="2800" dirty="0"/>
              <a:t>Requirements analysis is performed before detailed database design. The designer communicates with stakeholders to identify:</a:t>
            </a:r>
          </a:p>
          <a:p>
            <a:pPr marL="71437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Required data </a:t>
            </a:r>
          </a:p>
          <a:p>
            <a:pPr marL="71437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Business processes </a:t>
            </a:r>
          </a:p>
          <a:p>
            <a:pPr marL="71437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Business rules </a:t>
            </a:r>
          </a:p>
          <a:p>
            <a:pPr marL="71437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User reports and queries </a:t>
            </a:r>
          </a:p>
          <a:p>
            <a:pPr marL="71437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Security needs </a:t>
            </a:r>
          </a:p>
          <a:p>
            <a:pPr marL="71437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Data constraints 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/>
              <a:t>A poor understanding of requirements usually produces a poor database design.</a:t>
            </a:r>
          </a:p>
        </p:txBody>
      </p:sp>
    </p:spTree>
    <p:extLst>
      <p:ext uri="{BB962C8B-B14F-4D97-AF65-F5344CB8AC3E}">
        <p14:creationId xmlns:p14="http://schemas.microsoft.com/office/powerpoint/2010/main" val="3399415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BA655-2913-BD25-8E26-15AB2330F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0CE4FD-268E-AC5D-DC13-3AB664A25D78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3A76F-4640-C750-C8EE-8197EC54A19E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0CF0A-8405-678C-FCB1-74599A9041BB}"/>
              </a:ext>
            </a:extLst>
          </p:cNvPr>
          <p:cNvSpPr txBox="1"/>
          <p:nvPr/>
        </p:nvSpPr>
        <p:spPr>
          <a:xfrm>
            <a:off x="71438" y="1438275"/>
            <a:ext cx="1204912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11: Requirements-gathering example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When designing a database for an Australian rental agency, which question is most suitable during requirements analysis?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Which customers, properties, leases and payments must the system record?</a:t>
            </a:r>
            <a:br>
              <a:rPr lang="en-AU" sz="2800" dirty="0"/>
            </a:br>
            <a:r>
              <a:rPr lang="en-AU" sz="2800" dirty="0"/>
              <a:t>B. Which colour should the PostgreSQL logo be?</a:t>
            </a:r>
            <a:br>
              <a:rPr lang="en-AU" sz="2800" dirty="0"/>
            </a:br>
            <a:r>
              <a:rPr lang="en-AU" sz="2800" dirty="0"/>
              <a:t>C. How many slides should be used in staff meetings?</a:t>
            </a:r>
            <a:br>
              <a:rPr lang="en-AU" sz="2800" dirty="0"/>
            </a:br>
            <a:r>
              <a:rPr lang="en-AU" sz="2800" dirty="0"/>
              <a:t>D. Which keyboard should the database administrator purchase?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993442-FD6E-65AB-5DF4-2C5ED08CE3D9}"/>
              </a:ext>
            </a:extLst>
          </p:cNvPr>
          <p:cNvSpPr/>
          <p:nvPr/>
        </p:nvSpPr>
        <p:spPr>
          <a:xfrm>
            <a:off x="28574" y="3452885"/>
            <a:ext cx="11839575" cy="5539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753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4FCBC-23E4-CB07-8FCA-1E3AD6239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AE5A19-EAAA-2E35-6816-0D9A2F847114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6DC4A-966F-BD8D-76CD-A585439120F0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67D81-8340-C2FE-D900-129B58CB76C9}"/>
              </a:ext>
            </a:extLst>
          </p:cNvPr>
          <p:cNvSpPr txBox="1"/>
          <p:nvPr/>
        </p:nvSpPr>
        <p:spPr>
          <a:xfrm>
            <a:off x="0" y="1347341"/>
            <a:ext cx="1204912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/>
              <a:t>Explanation:</a:t>
            </a:r>
            <a:br>
              <a:rPr lang="en-AU" sz="2800" dirty="0"/>
            </a:br>
            <a:r>
              <a:rPr lang="en-AU" sz="2800" dirty="0"/>
              <a:t>Requirements questions should identify the organisation’s data and rules.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/>
              <a:t>Other useful questions could include:</a:t>
            </a:r>
          </a:p>
          <a:p>
            <a:pPr marL="80962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Can one customer rent several properties? </a:t>
            </a:r>
          </a:p>
          <a:p>
            <a:pPr marL="80962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Can a property have more than one tenant? </a:t>
            </a:r>
          </a:p>
          <a:p>
            <a:pPr marL="80962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How are rental payments recorded? </a:t>
            </a:r>
          </a:p>
          <a:p>
            <a:pPr marL="80962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Who may access tenant information?</a:t>
            </a:r>
          </a:p>
        </p:txBody>
      </p:sp>
    </p:spTree>
    <p:extLst>
      <p:ext uri="{BB962C8B-B14F-4D97-AF65-F5344CB8AC3E}">
        <p14:creationId xmlns:p14="http://schemas.microsoft.com/office/powerpoint/2010/main" val="1734436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1BEB6-66D3-C1B6-45DA-903DAD433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43492B-422C-209D-0E31-685913DE8BD8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C28415-F7FB-F5BE-009D-0A0FDF40F4FD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64D438-3FD2-E3BA-0D27-828CB37768C4}"/>
              </a:ext>
            </a:extLst>
          </p:cNvPr>
          <p:cNvSpPr txBox="1"/>
          <p:nvPr/>
        </p:nvSpPr>
        <p:spPr>
          <a:xfrm>
            <a:off x="71438" y="966468"/>
            <a:ext cx="1204912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/>
              <a:t>Question 12: Database approach advantage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/>
              <a:t>Which is an important advantage of a database approach over separate file-processing systems?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/>
              <a:t>A. More unnecessary data duplication</a:t>
            </a:r>
            <a:br>
              <a:rPr lang="en-AU" sz="2800" dirty="0"/>
            </a:br>
            <a:r>
              <a:rPr lang="en-AU" sz="2800" dirty="0"/>
              <a:t>B. Improved data sharing and controlled access</a:t>
            </a:r>
            <a:br>
              <a:rPr lang="en-AU" sz="2800" dirty="0"/>
            </a:br>
            <a:r>
              <a:rPr lang="en-AU" sz="2800" dirty="0"/>
              <a:t>C. Every department must keep unrelated copies</a:t>
            </a:r>
            <a:br>
              <a:rPr lang="en-AU" sz="2800" dirty="0"/>
            </a:br>
            <a:r>
              <a:rPr lang="en-AU" sz="2800" dirty="0"/>
              <a:t>D. Data definitions must be repeated in every program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AC59C39-3A99-CA31-AC6A-D4209F80B539}"/>
              </a:ext>
            </a:extLst>
          </p:cNvPr>
          <p:cNvSpPr/>
          <p:nvPr/>
        </p:nvSpPr>
        <p:spPr>
          <a:xfrm>
            <a:off x="47625" y="3609975"/>
            <a:ext cx="7458075" cy="5810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8620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9B7CC-773F-091D-1212-4EDED945B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91B239-DC65-B789-A903-BDE1662A10AE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ED9FE-2EC6-8578-742C-BC1529467437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072975-AD39-4641-39B4-189830E70225}"/>
              </a:ext>
            </a:extLst>
          </p:cNvPr>
          <p:cNvSpPr txBox="1"/>
          <p:nvPr/>
        </p:nvSpPr>
        <p:spPr>
          <a:xfrm>
            <a:off x="71438" y="966468"/>
            <a:ext cx="1204912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Explanation:</a:t>
            </a:r>
            <a:br>
              <a:rPr lang="en-AU" sz="2800" dirty="0"/>
            </a:br>
            <a:r>
              <a:rPr lang="en-AU" sz="2800" dirty="0"/>
              <a:t>A DBMS provides centralised and controlled access to data. Authorised departments can use the same consistent information without keeping many disconnected copies.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For example, a university’s admissions and finance teams may use different views of the same student data.</a:t>
            </a:r>
          </a:p>
        </p:txBody>
      </p:sp>
    </p:spTree>
    <p:extLst>
      <p:ext uri="{BB962C8B-B14F-4D97-AF65-F5344CB8AC3E}">
        <p14:creationId xmlns:p14="http://schemas.microsoft.com/office/powerpoint/2010/main" val="2977734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75530-2B53-9FDD-19ED-4C06BE6D1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F72952-5643-2829-759E-EAC695455877}"/>
              </a:ext>
            </a:extLst>
          </p:cNvPr>
          <p:cNvSpPr txBox="1"/>
          <p:nvPr/>
        </p:nvSpPr>
        <p:spPr>
          <a:xfrm>
            <a:off x="3048000" y="3241386"/>
            <a:ext cx="609600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n-US" sz="1875" b="1" dirty="0"/>
              <a:t>Preparation for Online 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D76B11-646F-19A0-9F27-70DCEFF400C1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867AA1-1B72-AF77-3B26-9D56F9B557E5}"/>
              </a:ext>
            </a:extLst>
          </p:cNvPr>
          <p:cNvSpPr txBox="1"/>
          <p:nvPr/>
        </p:nvSpPr>
        <p:spPr>
          <a:xfrm>
            <a:off x="71438" y="966468"/>
            <a:ext cx="12049124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13: Multiple user views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 hospital allows reception staff to see appointment details while doctors can also see authorised clinical information. Which DBMS advantage does this demonstrate?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Multiple user views</a:t>
            </a:r>
            <a:br>
              <a:rPr lang="en-AU" sz="2800" dirty="0"/>
            </a:br>
            <a:r>
              <a:rPr lang="en-AU" sz="2800" dirty="0"/>
              <a:t>B. Increased data duplication</a:t>
            </a:r>
            <a:br>
              <a:rPr lang="en-AU" sz="2800" dirty="0"/>
            </a:br>
            <a:r>
              <a:rPr lang="en-AU" sz="2800" dirty="0"/>
              <a:t>C. Lack of security</a:t>
            </a:r>
            <a:br>
              <a:rPr lang="en-AU" sz="2800" dirty="0"/>
            </a:br>
            <a:r>
              <a:rPr lang="en-AU" sz="2800" dirty="0"/>
              <a:t>D. Physical data dependence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82F9FF-A9ED-5456-7217-EDC47DB4FDB3}"/>
              </a:ext>
            </a:extLst>
          </p:cNvPr>
          <p:cNvSpPr/>
          <p:nvPr/>
        </p:nvSpPr>
        <p:spPr>
          <a:xfrm>
            <a:off x="0" y="3622259"/>
            <a:ext cx="4371975" cy="64494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0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ED21D-87A6-D495-4343-18E9090D0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CF3726-2061-EF1C-6245-5BD0316FD69E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33B926-2C25-A1E1-B7D8-76A60D92D0C1}"/>
              </a:ext>
            </a:extLst>
          </p:cNvPr>
          <p:cNvSpPr txBox="1"/>
          <p:nvPr/>
        </p:nvSpPr>
        <p:spPr>
          <a:xfrm>
            <a:off x="0" y="830917"/>
            <a:ext cx="12049124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/>
              <a:t>Explanation:</a:t>
            </a:r>
            <a:br>
              <a:rPr lang="en-AU" sz="2800" dirty="0"/>
            </a:br>
            <a:r>
              <a:rPr lang="en-AU" sz="2800" dirty="0"/>
              <a:t>Different users can receive different views of the same database according to their roles and responsibilities.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/>
              <a:t>For example:</a:t>
            </a:r>
          </a:p>
          <a:p>
            <a:pPr marL="71437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Receptionist: patient contact and appointment details </a:t>
            </a:r>
          </a:p>
          <a:p>
            <a:pPr marL="71437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Doctor: authorised clinical information </a:t>
            </a:r>
          </a:p>
          <a:p>
            <a:pPr marL="714375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Finance officer: billing information 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/>
              <a:t>This improves usefulness while supporting privacy and security.</a:t>
            </a:r>
          </a:p>
        </p:txBody>
      </p:sp>
    </p:spTree>
    <p:extLst>
      <p:ext uri="{BB962C8B-B14F-4D97-AF65-F5344CB8AC3E}">
        <p14:creationId xmlns:p14="http://schemas.microsoft.com/office/powerpoint/2010/main" val="3233242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843F8-C2ED-F9F1-8FD8-0C97DAF3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45A9C8-B762-2315-0971-8D9402037718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BE27EE-F26C-107D-C2B2-A47DC93BD9ED}"/>
              </a:ext>
            </a:extLst>
          </p:cNvPr>
          <p:cNvSpPr txBox="1"/>
          <p:nvPr/>
        </p:nvSpPr>
        <p:spPr>
          <a:xfrm>
            <a:off x="0" y="830917"/>
            <a:ext cx="1204912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14: Reduced redundancy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Why is controlled data redundancy generally beneficial?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It requires every department to store different versions of the same data</a:t>
            </a:r>
            <a:br>
              <a:rPr lang="en-AU" sz="2800" dirty="0"/>
            </a:br>
            <a:r>
              <a:rPr lang="en-AU" sz="2800" dirty="0"/>
              <a:t>B. It reduces unnecessary duplication and inconsistency</a:t>
            </a:r>
            <a:br>
              <a:rPr lang="en-AU" sz="2800" dirty="0"/>
            </a:br>
            <a:r>
              <a:rPr lang="en-AU" sz="2800" dirty="0"/>
              <a:t>C. It removes the need for database security</a:t>
            </a:r>
            <a:br>
              <a:rPr lang="en-AU" sz="2800" dirty="0"/>
            </a:br>
            <a:r>
              <a:rPr lang="en-AU" sz="2800" dirty="0"/>
              <a:t>D. It prevents users from accessing any data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187DB8-5AC9-5DB9-14CF-ED9B6DF48D49}"/>
              </a:ext>
            </a:extLst>
          </p:cNvPr>
          <p:cNvSpPr/>
          <p:nvPr/>
        </p:nvSpPr>
        <p:spPr>
          <a:xfrm>
            <a:off x="0" y="2876550"/>
            <a:ext cx="8410575" cy="6572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683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74E2A-5814-FCF8-1F15-768C55E48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886B51-2947-0F0B-34AA-B150B28D8898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65F8E-3843-B086-3A92-1B8719184995}"/>
              </a:ext>
            </a:extLst>
          </p:cNvPr>
          <p:cNvSpPr txBox="1"/>
          <p:nvPr/>
        </p:nvSpPr>
        <p:spPr>
          <a:xfrm>
            <a:off x="0" y="830917"/>
            <a:ext cx="12049124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Explanation:</a:t>
            </a:r>
            <a:br>
              <a:rPr lang="en-AU" sz="2800" dirty="0"/>
            </a:br>
            <a:r>
              <a:rPr lang="en-AU" sz="2800" dirty="0"/>
              <a:t>If a customer’s address is stored in many unrelated files, one file may be updated while another remains unchanged.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 well-designed database reduces unnecessary repetition and maintains a more consistent version of the data.</a:t>
            </a:r>
          </a:p>
          <a:p>
            <a:pPr>
              <a:lnSpc>
                <a:spcPct val="150000"/>
              </a:lnSpc>
            </a:pPr>
            <a:r>
              <a:rPr lang="en-AU" sz="2800" b="1" dirty="0"/>
              <a:t>Example:</a:t>
            </a:r>
            <a:endParaRPr lang="en-AU" sz="2800" dirty="0"/>
          </a:p>
          <a:p>
            <a:pPr rtl="0">
              <a:lnSpc>
                <a:spcPct val="150000"/>
              </a:lnSpc>
            </a:pPr>
            <a:r>
              <a:rPr lang="en-AU" sz="2800" dirty="0"/>
              <a:t>Old address in the sales file</a:t>
            </a:r>
          </a:p>
          <a:p>
            <a:pPr rtl="0">
              <a:lnSpc>
                <a:spcPct val="150000"/>
              </a:lnSpc>
            </a:pPr>
            <a:r>
              <a:rPr lang="en-AU" sz="2800" dirty="0"/>
              <a:t>New address in the delivery file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This inconsistency may cause an order to be sent to the wrong location.</a:t>
            </a:r>
          </a:p>
        </p:txBody>
      </p:sp>
    </p:spTree>
    <p:extLst>
      <p:ext uri="{BB962C8B-B14F-4D97-AF65-F5344CB8AC3E}">
        <p14:creationId xmlns:p14="http://schemas.microsoft.com/office/powerpoint/2010/main" val="4119989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0648-D762-ED76-8A39-E34705F02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2BFFF0-408F-99BF-72A7-711F3E0F1A45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17242C-B035-297C-BDAE-B057B3C52AAA}"/>
              </a:ext>
            </a:extLst>
          </p:cNvPr>
          <p:cNvSpPr txBox="1"/>
          <p:nvPr/>
        </p:nvSpPr>
        <p:spPr>
          <a:xfrm>
            <a:off x="0" y="830917"/>
            <a:ext cx="1204912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15: Physical data model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Which data model focuses on files, indexes, storage structures and how data is physically accessed?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Conceptual data model</a:t>
            </a:r>
            <a:br>
              <a:rPr lang="en-AU" sz="2800" dirty="0"/>
            </a:br>
            <a:r>
              <a:rPr lang="en-AU" sz="2800" dirty="0"/>
              <a:t>B. Business-process model</a:t>
            </a:r>
            <a:br>
              <a:rPr lang="en-AU" sz="2800" dirty="0"/>
            </a:br>
            <a:r>
              <a:rPr lang="en-AU" sz="2800" dirty="0"/>
              <a:t>C. Physical data model</a:t>
            </a:r>
            <a:br>
              <a:rPr lang="en-AU" sz="2800" dirty="0"/>
            </a:br>
            <a:r>
              <a:rPr lang="en-AU" sz="2800" dirty="0"/>
              <a:t>D. Requirements model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C4D429-D85E-FBDD-FC27-6323BA49BBED}"/>
              </a:ext>
            </a:extLst>
          </p:cNvPr>
          <p:cNvSpPr/>
          <p:nvPr/>
        </p:nvSpPr>
        <p:spPr>
          <a:xfrm>
            <a:off x="0" y="4229100"/>
            <a:ext cx="4076700" cy="5539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242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99B23-1B9C-2616-363A-1189C142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0427CB-85FD-6F7E-8E4B-D842B24B8C7F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0A9060-49B5-510B-C2FC-D8778449DB78}"/>
              </a:ext>
            </a:extLst>
          </p:cNvPr>
          <p:cNvSpPr txBox="1"/>
          <p:nvPr/>
        </p:nvSpPr>
        <p:spPr>
          <a:xfrm>
            <a:off x="0" y="663707"/>
            <a:ext cx="12049124" cy="587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300" b="1" dirty="0"/>
              <a:t>Explanation:</a:t>
            </a:r>
            <a:br>
              <a:rPr lang="en-AU" sz="2300" dirty="0"/>
            </a:br>
            <a:r>
              <a:rPr lang="en-AU" sz="2300" dirty="0"/>
              <a:t>A physical data model describes how data will be implemented and stored in a particular system.</a:t>
            </a:r>
          </a:p>
          <a:p>
            <a:pPr>
              <a:lnSpc>
                <a:spcPct val="150000"/>
              </a:lnSpc>
              <a:buNone/>
            </a:pPr>
            <a:r>
              <a:rPr lang="en-AU" sz="2300" dirty="0"/>
              <a:t>It may include: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/>
              <a:t>Tables and columns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/>
              <a:t>Data types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/>
              <a:t>Indexes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/>
              <a:t>Storage structures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/>
              <a:t>Partitioning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300" dirty="0"/>
              <a:t>Access paths </a:t>
            </a:r>
          </a:p>
          <a:p>
            <a:pPr>
              <a:lnSpc>
                <a:spcPct val="150000"/>
              </a:lnSpc>
              <a:buNone/>
            </a:pPr>
            <a:r>
              <a:rPr lang="en-AU" sz="2300" dirty="0"/>
              <a:t>A conceptual model focuses on the business view, such as entities and relationships, without concentrating on technical storage.</a:t>
            </a:r>
          </a:p>
        </p:txBody>
      </p:sp>
    </p:spTree>
    <p:extLst>
      <p:ext uri="{BB962C8B-B14F-4D97-AF65-F5344CB8AC3E}">
        <p14:creationId xmlns:p14="http://schemas.microsoft.com/office/powerpoint/2010/main" val="1039208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7C4FF-AF2F-D6CC-7FC6-725174DEB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773AE9-7E44-2F46-1EA3-A05B09D71530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95CD08-4A8B-D50D-E663-4D2912BC73F3}"/>
              </a:ext>
            </a:extLst>
          </p:cNvPr>
          <p:cNvSpPr txBox="1"/>
          <p:nvPr/>
        </p:nvSpPr>
        <p:spPr>
          <a:xfrm>
            <a:off x="0" y="521606"/>
            <a:ext cx="12049124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/>
              <a:t>Explanation:</a:t>
            </a:r>
            <a:br>
              <a:rPr lang="en-AU" sz="2800" dirty="0"/>
            </a:br>
            <a:r>
              <a:rPr lang="en-AU" sz="2800" dirty="0"/>
              <a:t>The application layer sits between users and the database. It can: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Authenticate users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Validate input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Apply business rules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Restrict permitted operations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Avoid exposing direct database access 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/>
              <a:t>For example, an Australian banking app sends a transfer request to a secure application server rather than allowing the customer’s device to update account tables directly.</a:t>
            </a:r>
          </a:p>
        </p:txBody>
      </p:sp>
    </p:spTree>
    <p:extLst>
      <p:ext uri="{BB962C8B-B14F-4D97-AF65-F5344CB8AC3E}">
        <p14:creationId xmlns:p14="http://schemas.microsoft.com/office/powerpoint/2010/main" val="12027710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491B8-1652-CE1E-FB36-CE31650AA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05C0B9-AD52-E708-3C1E-3238EE1340A8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9E27CA-AE43-C2A6-9264-C9158C47CB60}"/>
              </a:ext>
            </a:extLst>
          </p:cNvPr>
          <p:cNvSpPr txBox="1"/>
          <p:nvPr/>
        </p:nvSpPr>
        <p:spPr>
          <a:xfrm>
            <a:off x="0" y="521606"/>
            <a:ext cx="1204912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13: Two-tier architecture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Which interaction best represents a two-tier client–server architecture?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A client application connects directly to the database server</a:t>
            </a:r>
            <a:br>
              <a:rPr lang="en-AU" sz="2800" dirty="0"/>
            </a:br>
            <a:r>
              <a:rPr lang="en-AU" sz="2800" dirty="0"/>
              <a:t>B. A browser connects to an application server, which then connects to a database</a:t>
            </a:r>
            <a:br>
              <a:rPr lang="en-AU" sz="2800" dirty="0"/>
            </a:br>
            <a:r>
              <a:rPr lang="en-AU" sz="2800" dirty="0"/>
              <a:t>C. Three databases communicate without users</a:t>
            </a:r>
            <a:br>
              <a:rPr lang="en-AU" sz="2800" dirty="0"/>
            </a:br>
            <a:r>
              <a:rPr lang="en-AU" sz="2800" dirty="0"/>
              <a:t>D. A database stores three schemas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A1CB716-A516-210F-726B-8ED15A2099D1}"/>
              </a:ext>
            </a:extLst>
          </p:cNvPr>
          <p:cNvSpPr/>
          <p:nvPr/>
        </p:nvSpPr>
        <p:spPr>
          <a:xfrm>
            <a:off x="0" y="2019300"/>
            <a:ext cx="9496425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D10B67-A193-8FEC-52A6-22AF55AC0535}"/>
              </a:ext>
            </a:extLst>
          </p:cNvPr>
          <p:cNvSpPr txBox="1"/>
          <p:nvPr/>
        </p:nvSpPr>
        <p:spPr>
          <a:xfrm>
            <a:off x="0" y="4278961"/>
            <a:ext cx="11677650" cy="257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200" dirty="0"/>
              <a:t>In a common two-tier design: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200" dirty="0"/>
              <a:t>Client application ⇄ Database server</a:t>
            </a:r>
          </a:p>
          <a:p>
            <a:pPr>
              <a:lnSpc>
                <a:spcPct val="150000"/>
              </a:lnSpc>
              <a:buNone/>
            </a:pPr>
            <a:r>
              <a:rPr lang="en-AU" sz="2200" dirty="0"/>
              <a:t>In a three-tier design: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200" dirty="0"/>
              <a:t>User interface ⇄ Application server ⇄ Database server</a:t>
            </a:r>
          </a:p>
          <a:p>
            <a:pPr>
              <a:lnSpc>
                <a:spcPct val="150000"/>
              </a:lnSpc>
              <a:buNone/>
            </a:pPr>
            <a:r>
              <a:rPr lang="en-AU" sz="2200" dirty="0"/>
              <a:t>The terms three-tier architecture and three-schema architecture describe different concepts.</a:t>
            </a:r>
          </a:p>
        </p:txBody>
      </p:sp>
    </p:spTree>
    <p:extLst>
      <p:ext uri="{BB962C8B-B14F-4D97-AF65-F5344CB8AC3E}">
        <p14:creationId xmlns:p14="http://schemas.microsoft.com/office/powerpoint/2010/main" val="57376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CF32F-A826-AB84-C6F0-5F619EA8E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C1A3F7-0BBD-3D9D-C0FA-5E32AAB92CC1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3A6418-B860-55F1-96E3-E20CF5DF9DD7}"/>
              </a:ext>
            </a:extLst>
          </p:cNvPr>
          <p:cNvSpPr txBox="1"/>
          <p:nvPr/>
        </p:nvSpPr>
        <p:spPr>
          <a:xfrm>
            <a:off x="0" y="521606"/>
            <a:ext cx="1204912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14: CREATE SCHEMA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What does the following PostgreSQL command create?</a:t>
            </a:r>
          </a:p>
          <a:p>
            <a:pPr rtl="0">
              <a:lnSpc>
                <a:spcPct val="150000"/>
              </a:lnSpc>
            </a:pPr>
            <a:r>
              <a:rPr lang="en-AU" sz="2800" dirty="0"/>
              <a:t>CREATE SCHEMA university;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A new database server</a:t>
            </a:r>
            <a:br>
              <a:rPr lang="en-AU" sz="2800" dirty="0"/>
            </a:br>
            <a:r>
              <a:rPr lang="en-AU" sz="2800" dirty="0"/>
              <a:t>B. A namespace for organising related database objects</a:t>
            </a:r>
            <a:br>
              <a:rPr lang="en-AU" sz="2800" dirty="0"/>
            </a:br>
            <a:r>
              <a:rPr lang="en-AU" sz="2800" dirty="0"/>
              <a:t>C. A backup of the database</a:t>
            </a:r>
            <a:br>
              <a:rPr lang="en-AU" sz="2800" dirty="0"/>
            </a:br>
            <a:r>
              <a:rPr lang="en-AU" sz="2800" dirty="0"/>
              <a:t>D. A unique constraint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56E126A-25CB-EE3B-9E30-40F1C10206B5}"/>
              </a:ext>
            </a:extLst>
          </p:cNvPr>
          <p:cNvSpPr/>
          <p:nvPr/>
        </p:nvSpPr>
        <p:spPr>
          <a:xfrm>
            <a:off x="-19050" y="3295650"/>
            <a:ext cx="9496425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98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B3926-24C4-69E8-3FD1-2C92AFEB1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63A07F-2A70-F62A-2AD2-E130ECD726C5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A2A3B1-CD7A-FD1E-E5DE-A6CC408848B0}"/>
              </a:ext>
            </a:extLst>
          </p:cNvPr>
          <p:cNvSpPr txBox="1"/>
          <p:nvPr/>
        </p:nvSpPr>
        <p:spPr>
          <a:xfrm>
            <a:off x="142876" y="1154082"/>
            <a:ext cx="1204912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/>
              <a:t>Explanation:</a:t>
            </a:r>
            <a:br>
              <a:rPr lang="en-AU" sz="2800" dirty="0"/>
            </a:br>
            <a:r>
              <a:rPr lang="en-AU" sz="2800" dirty="0"/>
              <a:t>A schema is a named container or namespace within a database. It can organise objects such as: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Tables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Views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Functions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Sequences </a:t>
            </a:r>
          </a:p>
        </p:txBody>
      </p:sp>
    </p:spTree>
    <p:extLst>
      <p:ext uri="{BB962C8B-B14F-4D97-AF65-F5344CB8AC3E}">
        <p14:creationId xmlns:p14="http://schemas.microsoft.com/office/powerpoint/2010/main" val="3539306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6517-836E-510A-5454-1CFDD5C3E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2D5153-0EFD-7D5C-A5EC-239E9A1BF0FD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271A64-4B2F-113A-DA64-C05ED5751FCE}"/>
              </a:ext>
            </a:extLst>
          </p:cNvPr>
          <p:cNvSpPr txBox="1"/>
          <p:nvPr/>
        </p:nvSpPr>
        <p:spPr>
          <a:xfrm>
            <a:off x="142876" y="1154082"/>
            <a:ext cx="1204912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dirty="0"/>
              <a:t>For example: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800" dirty="0"/>
              <a:t>CREATE TABLE </a:t>
            </a:r>
            <a:r>
              <a:rPr lang="en-AU" sz="2800" dirty="0" err="1"/>
              <a:t>university.student</a:t>
            </a:r>
            <a:r>
              <a:rPr lang="en-AU" sz="2800" dirty="0"/>
              <a:t> (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800" dirty="0"/>
              <a:t>    </a:t>
            </a:r>
            <a:r>
              <a:rPr lang="en-AU" sz="2800" dirty="0" err="1"/>
              <a:t>student_id</a:t>
            </a:r>
            <a:r>
              <a:rPr lang="en-AU" sz="2800" dirty="0"/>
              <a:t> INTEGER PRIMARY KEY,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800" dirty="0"/>
              <a:t>    </a:t>
            </a:r>
            <a:r>
              <a:rPr lang="en-AU" sz="2800" dirty="0" err="1"/>
              <a:t>student_name</a:t>
            </a:r>
            <a:r>
              <a:rPr lang="en-AU" sz="2800" dirty="0"/>
              <a:t> VARCHAR(100)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800" dirty="0"/>
              <a:t>);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/>
              <a:t>Here, student belongs to the university schema.</a:t>
            </a:r>
          </a:p>
        </p:txBody>
      </p:sp>
    </p:spTree>
    <p:extLst>
      <p:ext uri="{BB962C8B-B14F-4D97-AF65-F5344CB8AC3E}">
        <p14:creationId xmlns:p14="http://schemas.microsoft.com/office/powerpoint/2010/main" val="41299099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760D2-2F32-4F4D-F395-413694038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4DF1B6-55D0-B204-06D6-B03B1E00CC75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F09D3-79C7-966B-2117-A290A939CEDB}"/>
              </a:ext>
            </a:extLst>
          </p:cNvPr>
          <p:cNvSpPr txBox="1"/>
          <p:nvPr/>
        </p:nvSpPr>
        <p:spPr>
          <a:xfrm>
            <a:off x="71438" y="1087407"/>
            <a:ext cx="1204912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15: Purpose of database schemas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An organisation creates finance, </a:t>
            </a:r>
            <a:r>
              <a:rPr lang="en-AU" sz="2800" dirty="0" err="1"/>
              <a:t>human_resources</a:t>
            </a:r>
            <a:r>
              <a:rPr lang="en-AU" sz="2800" dirty="0"/>
              <a:t> and sales schemas in the same PostgreSQL database. What is the main benefit?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Each schema replaces the need for tables</a:t>
            </a:r>
            <a:br>
              <a:rPr lang="en-AU" sz="2800" dirty="0"/>
            </a:br>
            <a:r>
              <a:rPr lang="en-AU" sz="2800" dirty="0"/>
              <a:t>B. Related objects can be organised into separate namespaces</a:t>
            </a:r>
            <a:br>
              <a:rPr lang="en-AU" sz="2800" dirty="0"/>
            </a:br>
            <a:r>
              <a:rPr lang="en-AU" sz="2800" dirty="0"/>
              <a:t>C. Every schema automatically creates a new server</a:t>
            </a:r>
            <a:br>
              <a:rPr lang="en-AU" sz="2800" dirty="0"/>
            </a:br>
            <a:r>
              <a:rPr lang="en-AU" sz="2800" dirty="0"/>
              <a:t>D. Schemas prevent the use of SQL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7C9BAE-EB98-CA97-F8DF-178B3CB6577B}"/>
              </a:ext>
            </a:extLst>
          </p:cNvPr>
          <p:cNvSpPr/>
          <p:nvPr/>
        </p:nvSpPr>
        <p:spPr>
          <a:xfrm>
            <a:off x="76200" y="3733800"/>
            <a:ext cx="9944100" cy="6572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69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B2B52-D024-A802-530E-4065818D2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16BA98-8ACD-337D-991F-63E2BBE6AF86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B7989-E0D2-2ED5-2E19-4DC7DDE145BE}"/>
              </a:ext>
            </a:extLst>
          </p:cNvPr>
          <p:cNvSpPr txBox="1"/>
          <p:nvPr/>
        </p:nvSpPr>
        <p:spPr>
          <a:xfrm>
            <a:off x="71438" y="1087407"/>
            <a:ext cx="1204912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Explanation:</a:t>
            </a:r>
            <a:br>
              <a:rPr lang="en-AU" sz="2800" dirty="0"/>
            </a:br>
            <a:r>
              <a:rPr lang="en-AU" sz="2800" dirty="0"/>
              <a:t>Schemas help organise database objects and avoid naming conflicts.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For example, the database could contain:</a:t>
            </a:r>
          </a:p>
          <a:p>
            <a:pPr rtl="0">
              <a:lnSpc>
                <a:spcPct val="150000"/>
              </a:lnSpc>
            </a:pPr>
            <a:r>
              <a:rPr lang="en-AU" sz="2800" dirty="0" err="1"/>
              <a:t>finance.employee</a:t>
            </a:r>
            <a:endParaRPr lang="en-AU" sz="2800" dirty="0"/>
          </a:p>
          <a:p>
            <a:pPr rtl="0">
              <a:lnSpc>
                <a:spcPct val="150000"/>
              </a:lnSpc>
            </a:pPr>
            <a:r>
              <a:rPr lang="en-AU" sz="2800" dirty="0" err="1"/>
              <a:t>human_resources.employee</a:t>
            </a:r>
            <a:endParaRPr lang="en-AU" sz="2800" dirty="0"/>
          </a:p>
          <a:p>
            <a:pPr>
              <a:lnSpc>
                <a:spcPct val="150000"/>
              </a:lnSpc>
            </a:pPr>
            <a:r>
              <a:rPr lang="en-AU" sz="2800" dirty="0"/>
              <a:t>The same table name can appear in separate schemas because each object has a different qualified name.</a:t>
            </a:r>
          </a:p>
        </p:txBody>
      </p:sp>
    </p:spTree>
    <p:extLst>
      <p:ext uri="{BB962C8B-B14F-4D97-AF65-F5344CB8AC3E}">
        <p14:creationId xmlns:p14="http://schemas.microsoft.com/office/powerpoint/2010/main" val="27779645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887F6-2E9C-BA81-BAF9-55F388610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FD42CD-33ED-4FE0-BB68-951CD18903D0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993566-98A2-2B6A-6A48-DA9B2EF851A1}"/>
              </a:ext>
            </a:extLst>
          </p:cNvPr>
          <p:cNvSpPr txBox="1"/>
          <p:nvPr/>
        </p:nvSpPr>
        <p:spPr>
          <a:xfrm>
            <a:off x="71438" y="1087407"/>
            <a:ext cx="1204912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16: UNIQUE constraint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An Australian university requires every student email address to be different. Which constraint is most appropriate?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DEFAULT</a:t>
            </a:r>
            <a:br>
              <a:rPr lang="en-AU" sz="2800" dirty="0"/>
            </a:br>
            <a:r>
              <a:rPr lang="en-AU" sz="2800" dirty="0"/>
              <a:t>B. NOT NULL only</a:t>
            </a:r>
            <a:br>
              <a:rPr lang="en-AU" sz="2800" dirty="0"/>
            </a:br>
            <a:r>
              <a:rPr lang="en-AU" sz="2800" dirty="0"/>
              <a:t>C. UNIQUE</a:t>
            </a:r>
            <a:br>
              <a:rPr lang="en-AU" sz="2800" dirty="0"/>
            </a:br>
            <a:r>
              <a:rPr lang="en-AU" sz="2800" dirty="0"/>
              <a:t>D. CHECK only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02F716-8511-2603-DFF8-0ADFABC79C17}"/>
              </a:ext>
            </a:extLst>
          </p:cNvPr>
          <p:cNvSpPr/>
          <p:nvPr/>
        </p:nvSpPr>
        <p:spPr>
          <a:xfrm>
            <a:off x="104775" y="4410075"/>
            <a:ext cx="1962150" cy="4667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33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61B2D-ED84-63CB-5D5D-3780A3760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B5EC63-590E-756D-9037-71FF522B536D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CCA05-0174-9338-12F9-62E2BECB437A}"/>
              </a:ext>
            </a:extLst>
          </p:cNvPr>
          <p:cNvSpPr txBox="1"/>
          <p:nvPr/>
        </p:nvSpPr>
        <p:spPr>
          <a:xfrm>
            <a:off x="0" y="952500"/>
            <a:ext cx="12049124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/>
              <a:t>Explanation:</a:t>
            </a:r>
            <a:br>
              <a:rPr lang="en-AU" sz="2800" dirty="0"/>
            </a:br>
            <a:r>
              <a:rPr lang="en-AU" sz="2800" dirty="0"/>
              <a:t>The UNIQUE constraint prevents duplicate values.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800" dirty="0"/>
              <a:t>CREATE TABLE student (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800" dirty="0"/>
              <a:t>    </a:t>
            </a:r>
            <a:r>
              <a:rPr lang="en-AU" sz="2800" dirty="0" err="1"/>
              <a:t>student_id</a:t>
            </a:r>
            <a:r>
              <a:rPr lang="en-AU" sz="2800" dirty="0"/>
              <a:t> INTEGER PRIMARY KEY,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800" dirty="0"/>
              <a:t>    </a:t>
            </a:r>
            <a:r>
              <a:rPr lang="en-AU" sz="2800" dirty="0" err="1"/>
              <a:t>student_name</a:t>
            </a:r>
            <a:r>
              <a:rPr lang="en-AU" sz="2800" dirty="0"/>
              <a:t> VARCHAR(100) NOT NULL,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800" dirty="0"/>
              <a:t>    email VARCHAR(150) UNIQUE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800" dirty="0"/>
              <a:t>);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/>
              <a:t>Two students cannot be stored with the same email address.</a:t>
            </a:r>
          </a:p>
        </p:txBody>
      </p:sp>
    </p:spTree>
    <p:extLst>
      <p:ext uri="{BB962C8B-B14F-4D97-AF65-F5344CB8AC3E}">
        <p14:creationId xmlns:p14="http://schemas.microsoft.com/office/powerpoint/2010/main" val="8167524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38618-10FB-2566-2FA5-30BA25F94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27698A-B47A-F9B0-295B-C79AA753827E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EF486C-D0B3-EA89-3983-76E12787D960}"/>
              </a:ext>
            </a:extLst>
          </p:cNvPr>
          <p:cNvSpPr txBox="1"/>
          <p:nvPr/>
        </p:nvSpPr>
        <p:spPr>
          <a:xfrm>
            <a:off x="0" y="952500"/>
            <a:ext cx="1204912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17: NOT NULL versus UNIQUE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Which statement correctly explains the difference between NOT NULL and UNIQUE?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NOT NULL prevents missing values; UNIQUE prevents duplicate values</a:t>
            </a:r>
            <a:br>
              <a:rPr lang="en-AU" sz="2800" dirty="0"/>
            </a:br>
            <a:r>
              <a:rPr lang="en-AU" sz="2800" dirty="0"/>
              <a:t>B. Both constraints create foreign keys</a:t>
            </a:r>
            <a:br>
              <a:rPr lang="en-AU" sz="2800" dirty="0"/>
            </a:br>
            <a:r>
              <a:rPr lang="en-AU" sz="2800" dirty="0"/>
              <a:t>C. NOT NULL prevents duplicates; UNIQUE prevents all updates</a:t>
            </a:r>
            <a:br>
              <a:rPr lang="en-AU" sz="2800" dirty="0"/>
            </a:br>
            <a:r>
              <a:rPr lang="en-AU" sz="2800" dirty="0"/>
              <a:t>D. Both constraints assign default values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D3C3296-D7BC-6E59-223E-01829600C742}"/>
              </a:ext>
            </a:extLst>
          </p:cNvPr>
          <p:cNvSpPr/>
          <p:nvPr/>
        </p:nvSpPr>
        <p:spPr>
          <a:xfrm>
            <a:off x="0" y="2962275"/>
            <a:ext cx="11020425" cy="6381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271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7FFA5-7979-8411-AF93-29610181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C9D1F3-05E4-0D3D-BC17-B33DA0237E58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C1C7B-FBF7-DC4B-F472-911C9180D410}"/>
              </a:ext>
            </a:extLst>
          </p:cNvPr>
          <p:cNvSpPr txBox="1"/>
          <p:nvPr/>
        </p:nvSpPr>
        <p:spPr>
          <a:xfrm>
            <a:off x="0" y="1390650"/>
            <a:ext cx="1204912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/>
              <a:t>Explanation:</a:t>
            </a:r>
            <a:endParaRPr lang="en-AU" sz="2800" dirty="0"/>
          </a:p>
          <a:p>
            <a:pPr rtl="0">
              <a:lnSpc>
                <a:spcPct val="150000"/>
              </a:lnSpc>
              <a:buNone/>
            </a:pPr>
            <a:r>
              <a:rPr lang="en-AU" sz="2800" dirty="0"/>
              <a:t>email VARCHAR(150) NOT NULL UNIQUE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/>
              <a:t>This means: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An email must be supplied.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The supplied email cannot duplicate another row’s email. 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/>
              <a:t>The two constraints serve different purposes and are often used together.</a:t>
            </a:r>
          </a:p>
        </p:txBody>
      </p:sp>
    </p:spTree>
    <p:extLst>
      <p:ext uri="{BB962C8B-B14F-4D97-AF65-F5344CB8AC3E}">
        <p14:creationId xmlns:p14="http://schemas.microsoft.com/office/powerpoint/2010/main" val="22233448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C8C12-B39D-52EF-FCB6-551D7A054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700496-DEC1-D53F-EEC9-CD83DC382520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52A4E2-19C5-8DE8-0FA8-CDA4B18982C9}"/>
              </a:ext>
            </a:extLst>
          </p:cNvPr>
          <p:cNvSpPr txBox="1"/>
          <p:nvPr/>
        </p:nvSpPr>
        <p:spPr>
          <a:xfrm>
            <a:off x="0" y="1390650"/>
            <a:ext cx="1204912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18: Choosing the correct constraint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 Medicare-related system requires every provider number to be supplied and not repeated. Which definition is most suitable?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</a:t>
            </a:r>
            <a:r>
              <a:rPr lang="en-AU" sz="2800" dirty="0" err="1"/>
              <a:t>provider_number</a:t>
            </a:r>
            <a:r>
              <a:rPr lang="en-AU" sz="2800" dirty="0"/>
              <a:t> VARCHAR(20) DEFAULT 'UNKNOWN'</a:t>
            </a:r>
            <a:br>
              <a:rPr lang="en-AU" sz="2800" dirty="0"/>
            </a:br>
            <a:r>
              <a:rPr lang="en-AU" sz="2800" dirty="0"/>
              <a:t>B. </a:t>
            </a:r>
            <a:r>
              <a:rPr lang="en-AU" sz="2800" dirty="0" err="1"/>
              <a:t>provider_number</a:t>
            </a:r>
            <a:r>
              <a:rPr lang="en-AU" sz="2800" dirty="0"/>
              <a:t> VARCHAR(20) NOT NULL UNIQUE</a:t>
            </a:r>
            <a:br>
              <a:rPr lang="en-AU" sz="2800" dirty="0"/>
            </a:br>
            <a:r>
              <a:rPr lang="en-AU" sz="2800" dirty="0"/>
              <a:t>C. </a:t>
            </a:r>
            <a:r>
              <a:rPr lang="en-AU" sz="2800" dirty="0" err="1"/>
              <a:t>provider_number</a:t>
            </a:r>
            <a:r>
              <a:rPr lang="en-AU" sz="2800" dirty="0"/>
              <a:t> VARCHAR(20) CHECK (</a:t>
            </a:r>
            <a:r>
              <a:rPr lang="en-AU" sz="2800" dirty="0" err="1"/>
              <a:t>provider_number</a:t>
            </a:r>
            <a:r>
              <a:rPr lang="en-AU" sz="2800" dirty="0"/>
              <a:t> IS NULL)</a:t>
            </a:r>
            <a:br>
              <a:rPr lang="en-AU" sz="2800" dirty="0"/>
            </a:br>
            <a:r>
              <a:rPr lang="en-AU" sz="2800" dirty="0"/>
              <a:t>D. </a:t>
            </a:r>
            <a:r>
              <a:rPr lang="en-AU" sz="2800" dirty="0" err="1"/>
              <a:t>provider_number</a:t>
            </a:r>
            <a:r>
              <a:rPr lang="en-AU" sz="2800" dirty="0"/>
              <a:t> VARCHAR(20)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AA83E01-93FA-7693-36BA-666089CB2A00}"/>
              </a:ext>
            </a:extLst>
          </p:cNvPr>
          <p:cNvSpPr/>
          <p:nvPr/>
        </p:nvSpPr>
        <p:spPr>
          <a:xfrm>
            <a:off x="0" y="4133850"/>
            <a:ext cx="8772525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388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9EE5B-2257-84DB-09BB-D9799B09B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CF6A40-043E-216E-04E3-6656D749B31C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7C46C9-4881-E374-15A4-4943D221DC0D}"/>
              </a:ext>
            </a:extLst>
          </p:cNvPr>
          <p:cNvSpPr txBox="1"/>
          <p:nvPr/>
        </p:nvSpPr>
        <p:spPr>
          <a:xfrm>
            <a:off x="76200" y="1933575"/>
            <a:ext cx="11896724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800" b="1" dirty="0"/>
              <a:t>Explanation:</a:t>
            </a:r>
            <a:endParaRPr lang="en-AU" sz="2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NOT NULL makes the value mandatory.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UNIQUE prevents duplicate provider numbers. </a:t>
            </a:r>
          </a:p>
          <a:p>
            <a:pPr>
              <a:lnSpc>
                <a:spcPct val="150000"/>
              </a:lnSpc>
              <a:buNone/>
            </a:pPr>
            <a:r>
              <a:rPr lang="en-AU" sz="2800" dirty="0"/>
              <a:t>Using both constraints expresses the complete business rule.</a:t>
            </a:r>
          </a:p>
        </p:txBody>
      </p:sp>
    </p:spTree>
    <p:extLst>
      <p:ext uri="{BB962C8B-B14F-4D97-AF65-F5344CB8AC3E}">
        <p14:creationId xmlns:p14="http://schemas.microsoft.com/office/powerpoint/2010/main" val="36994945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7EEF0-4229-0B13-39BD-9CDCB2F53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9C4735-9D7D-263A-3C64-16C4D015F47A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604505-AA23-7620-3BE5-5CD0B3A3DF78}"/>
              </a:ext>
            </a:extLst>
          </p:cNvPr>
          <p:cNvSpPr txBox="1"/>
          <p:nvPr/>
        </p:nvSpPr>
        <p:spPr>
          <a:xfrm>
            <a:off x="0" y="1390650"/>
            <a:ext cx="1204912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19) Creating a schema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 company wants to organise all payroll tables and views under the name payroll. Which SQL statement should it use first?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CREATE DATABASE payroll;</a:t>
            </a:r>
            <a:br>
              <a:rPr lang="en-AU" sz="2800" dirty="0"/>
            </a:br>
            <a:r>
              <a:rPr lang="en-AU" sz="2800" dirty="0"/>
              <a:t>B. CREATE SCHEMA payroll;</a:t>
            </a:r>
            <a:br>
              <a:rPr lang="en-AU" sz="2800" dirty="0"/>
            </a:br>
            <a:r>
              <a:rPr lang="en-AU" sz="2800" dirty="0"/>
              <a:t>C. CREATE INDEX payroll;</a:t>
            </a:r>
            <a:br>
              <a:rPr lang="en-AU" sz="2800" dirty="0"/>
            </a:br>
            <a:r>
              <a:rPr lang="en-AU" sz="2800" dirty="0"/>
              <a:t>D. CREATE CONSTRAINT payroll;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20B021-504F-B87B-317A-2BC0E6F64C6C}"/>
              </a:ext>
            </a:extLst>
          </p:cNvPr>
          <p:cNvSpPr/>
          <p:nvPr/>
        </p:nvSpPr>
        <p:spPr>
          <a:xfrm>
            <a:off x="0" y="4133850"/>
            <a:ext cx="8772525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1101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6F29B-405E-9C68-FC8C-C9F2807E7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C4F4BE-C173-65E5-50D3-08E1546C98EE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573369-4F2B-04F9-301D-94DA7B6DF957}"/>
              </a:ext>
            </a:extLst>
          </p:cNvPr>
          <p:cNvSpPr txBox="1"/>
          <p:nvPr/>
        </p:nvSpPr>
        <p:spPr>
          <a:xfrm>
            <a:off x="58057" y="918472"/>
            <a:ext cx="11952514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AU" sz="2400" b="1" dirty="0"/>
              <a:t>Explanation:</a:t>
            </a:r>
            <a:br>
              <a:rPr lang="en-AU" sz="2400" dirty="0"/>
            </a:br>
            <a:r>
              <a:rPr lang="en-AU" sz="2400" dirty="0"/>
              <a:t>CREATE SCHEMA creates a named namespace for organising related database objects.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400" dirty="0"/>
              <a:t>CREATE SCHEMA payroll;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/>
              <a:t>The company can then create objects inside it: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400" dirty="0">
                <a:highlight>
                  <a:srgbClr val="FFFF00"/>
                </a:highlight>
              </a:rPr>
              <a:t>CREATE TABLE </a:t>
            </a:r>
            <a:r>
              <a:rPr lang="en-AU" sz="2400" dirty="0" err="1">
                <a:highlight>
                  <a:srgbClr val="FFFF00"/>
                </a:highlight>
              </a:rPr>
              <a:t>payroll.employee</a:t>
            </a:r>
            <a:r>
              <a:rPr lang="en-AU" sz="2400" dirty="0">
                <a:highlight>
                  <a:srgbClr val="FFFF00"/>
                </a:highlight>
              </a:rPr>
              <a:t> (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400" dirty="0">
                <a:highlight>
                  <a:srgbClr val="FFFF00"/>
                </a:highlight>
              </a:rPr>
              <a:t>    </a:t>
            </a:r>
            <a:r>
              <a:rPr lang="en-AU" sz="2400" dirty="0" err="1">
                <a:highlight>
                  <a:srgbClr val="FFFF00"/>
                </a:highlight>
              </a:rPr>
              <a:t>employee_id</a:t>
            </a:r>
            <a:r>
              <a:rPr lang="en-AU" sz="2400" dirty="0">
                <a:highlight>
                  <a:srgbClr val="FFFF00"/>
                </a:highlight>
              </a:rPr>
              <a:t> INTEGER PRIMARY KEY,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400" dirty="0">
                <a:highlight>
                  <a:srgbClr val="FFFF00"/>
                </a:highlight>
              </a:rPr>
              <a:t>    </a:t>
            </a:r>
            <a:r>
              <a:rPr lang="en-AU" sz="2400" dirty="0" err="1">
                <a:highlight>
                  <a:srgbClr val="FFFF00"/>
                </a:highlight>
              </a:rPr>
              <a:t>employee_name</a:t>
            </a:r>
            <a:r>
              <a:rPr lang="en-AU" sz="2400" dirty="0">
                <a:highlight>
                  <a:srgbClr val="FFFF00"/>
                </a:highlight>
              </a:rPr>
              <a:t> VARCHAR(100)</a:t>
            </a:r>
          </a:p>
          <a:p>
            <a:pPr rtl="0">
              <a:lnSpc>
                <a:spcPct val="150000"/>
              </a:lnSpc>
              <a:buNone/>
            </a:pPr>
            <a:r>
              <a:rPr lang="en-AU" sz="2400" dirty="0">
                <a:highlight>
                  <a:srgbClr val="FFFF00"/>
                </a:highlight>
              </a:rPr>
              <a:t>);</a:t>
            </a:r>
          </a:p>
          <a:p>
            <a:pPr>
              <a:lnSpc>
                <a:spcPct val="150000"/>
              </a:lnSpc>
              <a:buNone/>
            </a:pPr>
            <a:r>
              <a:rPr lang="en-AU" sz="2400" dirty="0"/>
              <a:t>A schema does not automatically create a separate database.</a:t>
            </a:r>
          </a:p>
        </p:txBody>
      </p:sp>
    </p:spTree>
    <p:extLst>
      <p:ext uri="{BB962C8B-B14F-4D97-AF65-F5344CB8AC3E}">
        <p14:creationId xmlns:p14="http://schemas.microsoft.com/office/powerpoint/2010/main" val="19001970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AB5B2-405C-1E57-C537-214038A6B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3AEF8-8D23-C1E9-F5B0-F4B2C4405B1E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E9BB40-EEE3-39B9-1D6F-443DCA297977}"/>
              </a:ext>
            </a:extLst>
          </p:cNvPr>
          <p:cNvSpPr txBox="1"/>
          <p:nvPr/>
        </p:nvSpPr>
        <p:spPr>
          <a:xfrm>
            <a:off x="58057" y="918472"/>
            <a:ext cx="11952514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20) Qualified table name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What does </a:t>
            </a:r>
            <a:r>
              <a:rPr lang="en-AU" sz="2800" dirty="0" err="1"/>
              <a:t>sales.customer</a:t>
            </a:r>
            <a:r>
              <a:rPr lang="en-AU" sz="2800" dirty="0"/>
              <a:t> mean in the following query?</a:t>
            </a:r>
          </a:p>
          <a:p>
            <a:pPr rtl="0">
              <a:lnSpc>
                <a:spcPct val="150000"/>
              </a:lnSpc>
            </a:pPr>
            <a:r>
              <a:rPr lang="en-AU" sz="2800" dirty="0"/>
              <a:t>SELECT *</a:t>
            </a:r>
          </a:p>
          <a:p>
            <a:pPr rtl="0">
              <a:lnSpc>
                <a:spcPct val="150000"/>
              </a:lnSpc>
            </a:pPr>
            <a:r>
              <a:rPr lang="en-AU" sz="2800" dirty="0"/>
              <a:t>FROM </a:t>
            </a:r>
            <a:r>
              <a:rPr lang="en-AU" sz="2800" dirty="0" err="1"/>
              <a:t>sales.customer</a:t>
            </a:r>
            <a:r>
              <a:rPr lang="en-AU" sz="2800" dirty="0"/>
              <a:t>;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sales is a column in the customer table</a:t>
            </a:r>
            <a:br>
              <a:rPr lang="en-AU" sz="2800" dirty="0"/>
            </a:br>
            <a:r>
              <a:rPr lang="en-AU" sz="2800" dirty="0"/>
              <a:t>B. sales is the schema, and customer is the table</a:t>
            </a:r>
            <a:br>
              <a:rPr lang="en-AU" sz="2800" dirty="0"/>
            </a:br>
            <a:r>
              <a:rPr lang="en-AU" sz="2800" dirty="0"/>
              <a:t>C. sales is a database backup</a:t>
            </a:r>
            <a:br>
              <a:rPr lang="en-AU" sz="2800" dirty="0"/>
            </a:br>
            <a:r>
              <a:rPr lang="en-AU" sz="2800" dirty="0"/>
              <a:t>D. customer is a constraint in the sales table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D2740AB-FB93-ABF5-A182-1968ABDA3139}"/>
              </a:ext>
            </a:extLst>
          </p:cNvPr>
          <p:cNvSpPr/>
          <p:nvPr/>
        </p:nvSpPr>
        <p:spPr>
          <a:xfrm>
            <a:off x="0" y="4293507"/>
            <a:ext cx="8772525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052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5845F-52D0-BC30-61E4-1CEC17FF0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AF7ABF-47DE-BC81-359C-6F84182EDA17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431D4-BFE9-314C-45ED-AA24519D6474}"/>
              </a:ext>
            </a:extLst>
          </p:cNvPr>
          <p:cNvSpPr txBox="1"/>
          <p:nvPr/>
        </p:nvSpPr>
        <p:spPr>
          <a:xfrm>
            <a:off x="58057" y="918472"/>
            <a:ext cx="1195251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Explanation:</a:t>
            </a:r>
            <a:br>
              <a:rPr lang="en-AU" sz="2800" dirty="0"/>
            </a:br>
            <a:r>
              <a:rPr lang="en-AU" sz="2800" dirty="0"/>
              <a:t>Database objects can be referenced using a qualified name:</a:t>
            </a:r>
          </a:p>
          <a:p>
            <a:pPr rtl="0">
              <a:lnSpc>
                <a:spcPct val="150000"/>
              </a:lnSpc>
            </a:pPr>
            <a:r>
              <a:rPr lang="en-AU" sz="2800" dirty="0" err="1">
                <a:highlight>
                  <a:srgbClr val="FFFF00"/>
                </a:highlight>
              </a:rPr>
              <a:t>schema_name.object_name</a:t>
            </a:r>
            <a:endParaRPr lang="en-AU" sz="2800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AU" sz="2800" dirty="0"/>
              <a:t>Therefore:</a:t>
            </a:r>
          </a:p>
          <a:p>
            <a:pPr rtl="0">
              <a:lnSpc>
                <a:spcPct val="150000"/>
              </a:lnSpc>
            </a:pPr>
            <a:r>
              <a:rPr lang="en-AU" sz="2800" dirty="0" err="1">
                <a:highlight>
                  <a:srgbClr val="FFFF00"/>
                </a:highlight>
              </a:rPr>
              <a:t>sales.customer</a:t>
            </a:r>
            <a:endParaRPr lang="en-AU" sz="2800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AU" sz="2800" dirty="0"/>
              <a:t>means the customer table inside the sales schema.</a:t>
            </a:r>
          </a:p>
        </p:txBody>
      </p:sp>
    </p:spTree>
    <p:extLst>
      <p:ext uri="{BB962C8B-B14F-4D97-AF65-F5344CB8AC3E}">
        <p14:creationId xmlns:p14="http://schemas.microsoft.com/office/powerpoint/2010/main" val="20929002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A14F3-1DB8-A5FF-A293-7AF08DD1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5F7088-2CA3-9359-10F8-A8E8F162DCDE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1A58D4-04C4-95C7-DEE5-4F72639B7621}"/>
              </a:ext>
            </a:extLst>
          </p:cNvPr>
          <p:cNvSpPr txBox="1"/>
          <p:nvPr/>
        </p:nvSpPr>
        <p:spPr>
          <a:xfrm>
            <a:off x="58057" y="918472"/>
            <a:ext cx="1195251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Question 21) Benefits of schemas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An Australian university stores objects in admissions, finance and library schemas. What is the main advantage?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A. All data is automatically duplicated three times</a:t>
            </a:r>
            <a:br>
              <a:rPr lang="en-AU" sz="2800" dirty="0"/>
            </a:br>
            <a:r>
              <a:rPr lang="en-AU" sz="2800" dirty="0"/>
              <a:t>B. Related database objects are logically organised by business area</a:t>
            </a:r>
            <a:br>
              <a:rPr lang="en-AU" sz="2800" dirty="0"/>
            </a:br>
            <a:r>
              <a:rPr lang="en-AU" sz="2800" dirty="0"/>
              <a:t>C. Each schema becomes a separate physical server</a:t>
            </a:r>
            <a:br>
              <a:rPr lang="en-AU" sz="2800" dirty="0"/>
            </a:br>
            <a:r>
              <a:rPr lang="en-AU" sz="2800" dirty="0"/>
              <a:t>D. Users no longer need permissions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A29C68-193C-1746-ED65-19E097945624}"/>
              </a:ext>
            </a:extLst>
          </p:cNvPr>
          <p:cNvSpPr/>
          <p:nvPr/>
        </p:nvSpPr>
        <p:spPr>
          <a:xfrm>
            <a:off x="0" y="3698421"/>
            <a:ext cx="9964057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171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CB975-FC68-2A1A-D1F7-DF9422440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64F313E-1AF8-5F36-206D-99D6DAEFB8C5}"/>
              </a:ext>
            </a:extLst>
          </p:cNvPr>
          <p:cNvSpPr txBox="1"/>
          <p:nvPr/>
        </p:nvSpPr>
        <p:spPr>
          <a:xfrm>
            <a:off x="0" y="-3239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Preparation for Online Test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ED510A-E3A7-5F5C-ECD3-C41CC6AB324D}"/>
              </a:ext>
            </a:extLst>
          </p:cNvPr>
          <p:cNvSpPr txBox="1"/>
          <p:nvPr/>
        </p:nvSpPr>
        <p:spPr>
          <a:xfrm>
            <a:off x="58057" y="918472"/>
            <a:ext cx="11952514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b="1" dirty="0"/>
              <a:t>Explanation:</a:t>
            </a:r>
            <a:br>
              <a:rPr lang="en-AU" sz="2800" dirty="0"/>
            </a:br>
            <a:r>
              <a:rPr lang="en-AU" sz="2800" dirty="0"/>
              <a:t>Schemas help organise tables, views, functions and other objects.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For example:</a:t>
            </a:r>
          </a:p>
          <a:p>
            <a:pPr rtl="0">
              <a:lnSpc>
                <a:spcPct val="150000"/>
              </a:lnSpc>
            </a:pPr>
            <a:r>
              <a:rPr lang="en-AU" sz="2800" dirty="0" err="1">
                <a:highlight>
                  <a:srgbClr val="FFFF00"/>
                </a:highlight>
              </a:rPr>
              <a:t>admissions.applicant</a:t>
            </a:r>
            <a:endParaRPr lang="en-AU" sz="2800" dirty="0">
              <a:highlight>
                <a:srgbClr val="FFFF00"/>
              </a:highlight>
            </a:endParaRPr>
          </a:p>
          <a:p>
            <a:pPr rtl="0">
              <a:lnSpc>
                <a:spcPct val="150000"/>
              </a:lnSpc>
            </a:pPr>
            <a:r>
              <a:rPr lang="en-AU" sz="2800" dirty="0" err="1">
                <a:highlight>
                  <a:srgbClr val="FFFF00"/>
                </a:highlight>
              </a:rPr>
              <a:t>finance.payment</a:t>
            </a:r>
            <a:endParaRPr lang="en-AU" sz="2800" dirty="0">
              <a:highlight>
                <a:srgbClr val="FFFF00"/>
              </a:highlight>
            </a:endParaRPr>
          </a:p>
          <a:p>
            <a:pPr rtl="0">
              <a:lnSpc>
                <a:spcPct val="150000"/>
              </a:lnSpc>
            </a:pPr>
            <a:r>
              <a:rPr lang="en-AU" sz="2800" dirty="0" err="1">
                <a:highlight>
                  <a:srgbClr val="FFFF00"/>
                </a:highlight>
              </a:rPr>
              <a:t>library.book</a:t>
            </a:r>
            <a:endParaRPr lang="en-AU" sz="2800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AU" sz="2800" dirty="0"/>
              <a:t>Schemas can also support access control, but they do not remove the need to configure permissions.</a:t>
            </a:r>
          </a:p>
        </p:txBody>
      </p:sp>
    </p:spTree>
    <p:extLst>
      <p:ext uri="{BB962C8B-B14F-4D97-AF65-F5344CB8AC3E}">
        <p14:creationId xmlns:p14="http://schemas.microsoft.com/office/powerpoint/2010/main" val="41030991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2858</Words>
  <Application>Microsoft Office PowerPoint</Application>
  <DocSecurity>0</DocSecurity>
  <PresentationFormat>Widescreen</PresentationFormat>
  <Paragraphs>298</Paragraphs>
  <Slides>46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Farshid Keivanian</cp:lastModifiedBy>
  <cp:revision>72</cp:revision>
  <dcterms:created xsi:type="dcterms:W3CDTF">2026-07-31T02:32:39Z</dcterms:created>
  <dcterms:modified xsi:type="dcterms:W3CDTF">2026-08-14T06:25:45Z</dcterms:modified>
</cp:coreProperties>
</file>