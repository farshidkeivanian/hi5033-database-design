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282" autoAdjust="0"/>
  </p:normalViewPr>
  <p:slideViewPr>
    <p:cSldViewPr snapToGrid="0">
      <p:cViewPr varScale="1">
        <p:scale>
          <a:sx n="65" d="100"/>
          <a:sy n="65" d="100"/>
        </p:scale>
        <p:origin x="415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51B68BD-9D24-44BD-BF15-0A1722B7C654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8A6B8"/>
                </a:solidFill>
              </a:defRPr>
            </a:pPr>
            <a:r>
              <a:rPr sz="1800" b="1">
                <a:solidFill>
                  <a:srgbClr val="18A6B8"/>
                </a:solidFill>
              </a:rPr>
              <a:t>HI5033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BCE01F-217D-45CC-BD68-797AE59FC74F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8572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497CC-6F57-4183-A72C-E8F638E98EF8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CFE8F1"/>
                </a:solidFill>
              </a:defRPr>
            </a:pPr>
            <a:r>
              <a:rPr sz="1875" b="0" dirty="0">
                <a:solidFill>
                  <a:srgbClr val="CFE8F1"/>
                </a:solidFill>
              </a:rPr>
              <a:t>Week </a:t>
            </a:r>
            <a:r>
              <a:rPr lang="en-US" sz="1875" b="0" dirty="0">
                <a:solidFill>
                  <a:srgbClr val="CFE8F1"/>
                </a:solidFill>
              </a:rPr>
              <a:t>2</a:t>
            </a:r>
            <a:r>
              <a:rPr sz="1875" b="0" dirty="0">
                <a:solidFill>
                  <a:srgbClr val="CFE8F1"/>
                </a:solidFill>
              </a:rPr>
              <a:t> Tutorial • Trimester 2, 2026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44B519-96E5-4DB2-82F0-7E3D0B7C3425}"/>
              </a:ext>
            </a:extLst>
          </p:cNvPr>
          <p:cNvSpPr>
            <a:spLocks noGrp="1"/>
          </p:cNvSpPr>
          <p:nvPr/>
        </p:nvSpPr>
        <p:spPr>
          <a:xfrm>
            <a:off x="704850" y="4524375"/>
            <a:ext cx="6477000" cy="952500"/>
          </a:xfrm>
          <a:prstGeom prst="roundRect">
            <a:avLst>
              <a:gd name="adj" fmla="val 12000"/>
            </a:avLst>
          </a:prstGeom>
          <a:solidFill>
            <a:srgbClr val="173C59"/>
          </a:solidFill>
          <a:ln w="9525">
            <a:solidFill>
              <a:srgbClr val="2451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0AF3F4-2D1E-4208-9951-FDD8C2BFD7FB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590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>
                <a:solidFill>
                  <a:srgbClr val="FFFFFF"/>
                </a:solidFill>
              </a:rPr>
              <a:t>Preparation for Online Test 1</a:t>
            </a:r>
            <a:endParaRPr sz="1875" b="1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5A682-3F0E-441C-B6EA-1B82FD7ABC92}"/>
              </a:ext>
            </a:extLst>
          </p:cNvPr>
          <p:cNvSpPr>
            <a:spLocks noGrp="1"/>
          </p:cNvSpPr>
          <p:nvPr/>
        </p:nvSpPr>
        <p:spPr>
          <a:xfrm>
            <a:off x="8477250" y="5905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Dr Farshid Keivanian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F81E87-A30A-3655-FEED-1CDC5EE3A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8761588" y="774547"/>
            <a:ext cx="3043238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1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7BFBD9F-E8FE-4495-8C27-43AD7BB23B4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lang="en-US" sz="2850" b="1" dirty="0">
                <a:solidFill>
                  <a:srgbClr val="102A43"/>
                </a:solidFill>
              </a:rPr>
              <a:t>Preparation for Quiz 1 (20 Questions – Friday 21 Aug)</a:t>
            </a:r>
            <a:endParaRPr sz="2850" b="1" dirty="0">
              <a:solidFill>
                <a:srgbClr val="102A4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CD33FE-258A-4FA1-B330-F11D308C107A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57250" cy="47625"/>
          </a:xfrm>
          <a:prstGeom prst="rect">
            <a:avLst/>
          </a:prstGeom>
          <a:solidFill>
            <a:srgbClr val="18A6B8"/>
          </a:solidFill>
          <a:ln w="0">
            <a:solidFill>
              <a:srgbClr val="18A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5894C4-9C76-4067-8299-85E8556E6A1F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8A6B8"/>
                </a:solidFill>
              </a:defRPr>
            </a:pPr>
            <a:r>
              <a:rPr sz="1350" b="1">
                <a:solidFill>
                  <a:srgbClr val="18A6B8"/>
                </a:solidFill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47D6E4-F50C-4B0F-9003-382EB1FCFEC0}"/>
              </a:ext>
            </a:extLst>
          </p:cNvPr>
          <p:cNvSpPr>
            <a:spLocks noGrp="1"/>
          </p:cNvSpPr>
          <p:nvPr/>
        </p:nvSpPr>
        <p:spPr>
          <a:xfrm>
            <a:off x="1476375" y="1581150"/>
            <a:ext cx="838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A43"/>
                </a:solidFill>
              </a:defRPr>
            </a:pPr>
            <a:r>
              <a:rPr lang="en-US" sz="1875" b="0" dirty="0">
                <a:solidFill>
                  <a:srgbClr val="102A43"/>
                </a:solidFill>
              </a:rPr>
              <a:t>Preparation for Online Quiz 1 (Questions 1-5 &amp; 6-10)</a:t>
            </a:r>
            <a:endParaRPr sz="1875" b="0" dirty="0">
              <a:solidFill>
                <a:srgbClr val="102A4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56B1A1-525C-49E9-AFC7-A0C141D2FE81}"/>
              </a:ext>
            </a:extLst>
          </p:cNvPr>
          <p:cNvSpPr>
            <a:spLocks noGrp="1"/>
          </p:cNvSpPr>
          <p:nvPr/>
        </p:nvSpPr>
        <p:spPr>
          <a:xfrm>
            <a:off x="1476375" y="2009775"/>
            <a:ext cx="8572500" cy="9525"/>
          </a:xfrm>
          <a:prstGeom prst="rect">
            <a:avLst/>
          </a:prstGeom>
          <a:solidFill>
            <a:srgbClr val="C9D8E3"/>
          </a:solidFill>
          <a:ln w="0">
            <a:solidFill>
              <a:srgbClr val="C9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706A4B-3C04-44B3-A754-F949472185B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26777"/>
                </a:solidFill>
              </a:defRPr>
            </a:pPr>
            <a:r>
              <a:rPr sz="825" b="0">
                <a:solidFill>
                  <a:srgbClr val="526777"/>
                </a:solidFill>
              </a:rPr>
              <a:t>HI5033 • T2 2026          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183289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8EF0BC-3FB2-021D-E99F-EA00B6844CB2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C4340-7728-8EC2-7DAC-DCC4B08BE03E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6C748-57B9-CCDE-E475-1CE7443479DD}"/>
              </a:ext>
            </a:extLst>
          </p:cNvPr>
          <p:cNvSpPr txBox="1"/>
          <p:nvPr/>
        </p:nvSpPr>
        <p:spPr>
          <a:xfrm>
            <a:off x="0" y="440268"/>
            <a:ext cx="12045244" cy="6020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Question 1: Entity</a:t>
            </a:r>
          </a:p>
          <a:p>
            <a:pPr>
              <a:lnSpc>
                <a:spcPct val="150000"/>
              </a:lnSpc>
              <a:buNone/>
            </a:pPr>
            <a:r>
              <a:rPr lang="en-US" sz="2100" dirty="0"/>
              <a:t>In a database developed for an Australian medical clinic, which item is best treated as an entity?</a:t>
            </a:r>
          </a:p>
          <a:p>
            <a:pPr>
              <a:lnSpc>
                <a:spcPct val="150000"/>
              </a:lnSpc>
              <a:buNone/>
            </a:pPr>
            <a:r>
              <a:rPr lang="en-US" sz="2100" dirty="0"/>
              <a:t>A. The patient’s surname</a:t>
            </a:r>
            <a:br>
              <a:rPr lang="en-US" sz="2100" dirty="0"/>
            </a:br>
            <a:r>
              <a:rPr lang="en-US" sz="2100" dirty="0"/>
              <a:t>B. A patient</a:t>
            </a:r>
            <a:br>
              <a:rPr lang="en-US" sz="2100" dirty="0"/>
            </a:br>
            <a:r>
              <a:rPr lang="en-US" sz="2100" dirty="0"/>
              <a:t>C. The value “Sydney”</a:t>
            </a:r>
            <a:br>
              <a:rPr lang="en-US" sz="2100" dirty="0"/>
            </a:br>
            <a:r>
              <a:rPr lang="en-US" sz="2100" dirty="0"/>
              <a:t>D. The patient’s calculated age</a:t>
            </a:r>
          </a:p>
          <a:p>
            <a:pPr>
              <a:lnSpc>
                <a:spcPct val="150000"/>
              </a:lnSpc>
              <a:buNone/>
            </a:pPr>
            <a:r>
              <a:rPr lang="en-US" sz="2100" b="1" dirty="0"/>
              <a:t>Explanation: </a:t>
            </a:r>
            <a:r>
              <a:rPr lang="en-US" sz="2100" dirty="0"/>
              <a:t>An entity is a distinguishable real-world object or concept about which data is stored. A patient has an independent existence and may have attributes such as </a:t>
            </a:r>
            <a:r>
              <a:rPr lang="en-US" sz="2100" dirty="0" err="1"/>
              <a:t>PatientID</a:t>
            </a:r>
            <a:r>
              <a:rPr lang="en-US" sz="2100" dirty="0"/>
              <a:t>, name, date of birth and phone number.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A surname is an attribute.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“Sydney” is an attribute value.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Calculated age is a derived attribute.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2EEB5B-CDC6-95FF-9EAB-5ED35A32CBB8}"/>
              </a:ext>
            </a:extLst>
          </p:cNvPr>
          <p:cNvSpPr/>
          <p:nvPr/>
        </p:nvSpPr>
        <p:spPr>
          <a:xfrm>
            <a:off x="0" y="2201333"/>
            <a:ext cx="1636889" cy="37253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5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E7FE3-73BE-F944-C059-5C579026D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7B74E5-807F-1794-085B-DFC0E2C494F2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0A95B-1A06-09B6-C344-817E5D44E5AF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6E51B-B06F-B9FD-AD37-118F1680AE1F}"/>
              </a:ext>
            </a:extLst>
          </p:cNvPr>
          <p:cNvSpPr txBox="1"/>
          <p:nvPr/>
        </p:nvSpPr>
        <p:spPr>
          <a:xfrm>
            <a:off x="0" y="440268"/>
            <a:ext cx="12045244" cy="6020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2: Entity type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A university database stores information about thousands of students who share attributes such as </a:t>
            </a:r>
            <a:r>
              <a:rPr lang="en-US" sz="2100" dirty="0" err="1"/>
              <a:t>StudentID</a:t>
            </a:r>
            <a:r>
              <a:rPr lang="en-US" sz="2100" dirty="0"/>
              <a:t>, Name, Email and Course. What does STUDENT represent?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A. An entity type</a:t>
            </a:r>
            <a:br>
              <a:rPr lang="en-US" sz="2100" dirty="0"/>
            </a:br>
            <a:r>
              <a:rPr lang="en-US" sz="2100" dirty="0"/>
              <a:t>B. An attribute value</a:t>
            </a:r>
            <a:br>
              <a:rPr lang="en-US" sz="2100" dirty="0"/>
            </a:br>
            <a:r>
              <a:rPr lang="en-US" sz="2100" dirty="0"/>
              <a:t>C. A derived attribute</a:t>
            </a:r>
            <a:br>
              <a:rPr lang="en-US" sz="2100" dirty="0"/>
            </a:br>
            <a:r>
              <a:rPr lang="en-US" sz="2100" dirty="0"/>
              <a:t>D. A relationship instance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Explanation:</a:t>
            </a:r>
            <a:br>
              <a:rPr lang="en-US" sz="2100" dirty="0"/>
            </a:br>
            <a:r>
              <a:rPr lang="en-US" sz="2100" dirty="0"/>
              <a:t>An entity type describes a collection of similar entities that share the same attributes. Individual students are entity instances, while STUDENT is the entity type.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Example:</a:t>
            </a:r>
            <a:br>
              <a:rPr lang="en-US" sz="2100" dirty="0"/>
            </a:br>
            <a:r>
              <a:rPr lang="en-US" sz="2100" dirty="0"/>
              <a:t>STUDENT is the entity type, while the student with ID S10025 is one entity instance.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E9D7C1-4997-B274-C973-508FB9B35F7F}"/>
              </a:ext>
            </a:extLst>
          </p:cNvPr>
          <p:cNvSpPr/>
          <p:nvPr/>
        </p:nvSpPr>
        <p:spPr>
          <a:xfrm>
            <a:off x="0" y="2201333"/>
            <a:ext cx="1975556" cy="4064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3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96EF-EA05-7537-BEB5-4300A313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001877-0BE3-FB49-56EB-EB84C23D4E70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AD265-0704-B4AF-ADDD-8520BA5A170C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89E123-13FB-C48B-B803-B718E9195519}"/>
              </a:ext>
            </a:extLst>
          </p:cNvPr>
          <p:cNvSpPr txBox="1"/>
          <p:nvPr/>
        </p:nvSpPr>
        <p:spPr>
          <a:xfrm>
            <a:off x="0" y="440268"/>
            <a:ext cx="12045244" cy="6020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3: Entity instance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In an EMPLOYEE entity type, which of the following represents an entity instance?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A. </a:t>
            </a:r>
            <a:r>
              <a:rPr lang="en-US" sz="2100" dirty="0" err="1"/>
              <a:t>EmployeeID</a:t>
            </a:r>
            <a:br>
              <a:rPr lang="en-US" sz="2100" dirty="0"/>
            </a:br>
            <a:r>
              <a:rPr lang="en-US" sz="2100" dirty="0"/>
              <a:t>B. Employee</a:t>
            </a:r>
            <a:br>
              <a:rPr lang="en-US" sz="2100" dirty="0"/>
            </a:br>
            <a:r>
              <a:rPr lang="en-US" sz="2100" dirty="0"/>
              <a:t>C. Employee number E204, named Mia Chen</a:t>
            </a:r>
            <a:br>
              <a:rPr lang="en-US" sz="2100" dirty="0"/>
            </a:br>
            <a:r>
              <a:rPr lang="en-US" sz="2100" dirty="0"/>
              <a:t>D. </a:t>
            </a:r>
            <a:r>
              <a:rPr lang="en-US" sz="2100" dirty="0" err="1"/>
              <a:t>EmployeeName</a:t>
            </a:r>
            <a:r>
              <a:rPr lang="en-US" sz="2100" dirty="0"/>
              <a:t> data type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Explanation:</a:t>
            </a:r>
            <a:br>
              <a:rPr lang="en-US" sz="2100" dirty="0"/>
            </a:br>
            <a:r>
              <a:rPr lang="en-US" sz="2100" dirty="0"/>
              <a:t>An entity instance is one specific member of an entity type. Mia Chen with employee number E204 represents one particular employee.</a:t>
            </a:r>
          </a:p>
          <a:p>
            <a:pPr lvl="0">
              <a:lnSpc>
                <a:spcPct val="150000"/>
              </a:lnSpc>
            </a:pPr>
            <a:r>
              <a:rPr lang="en-US" sz="2100" dirty="0" err="1"/>
              <a:t>EmployeeID</a:t>
            </a:r>
            <a:r>
              <a:rPr lang="en-US" sz="2100" dirty="0"/>
              <a:t> is an attribute. </a:t>
            </a:r>
          </a:p>
          <a:p>
            <a:pPr lvl="0">
              <a:lnSpc>
                <a:spcPct val="150000"/>
              </a:lnSpc>
            </a:pPr>
            <a:r>
              <a:rPr lang="en-US" sz="2100" dirty="0"/>
              <a:t>Employee is an entity type. </a:t>
            </a:r>
          </a:p>
          <a:p>
            <a:pPr lvl="0">
              <a:lnSpc>
                <a:spcPct val="150000"/>
              </a:lnSpc>
            </a:pPr>
            <a:r>
              <a:rPr lang="en-US" sz="2100" dirty="0"/>
              <a:t>A data type defines what kind of value can be stored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6D8368-66BE-F1D9-1DB4-40D59859FC04}"/>
              </a:ext>
            </a:extLst>
          </p:cNvPr>
          <p:cNvSpPr/>
          <p:nvPr/>
        </p:nvSpPr>
        <p:spPr>
          <a:xfrm>
            <a:off x="0" y="2624183"/>
            <a:ext cx="5046133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8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9E11A-2527-82A5-5DEE-CC35D81A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57F2D5-7E7D-5B37-689C-5BFFC7D77C1C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F04FD-F1B5-5AC7-E4C0-184596DDAB64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1633D-4539-7CDC-61A1-1CEF61E31892}"/>
              </a:ext>
            </a:extLst>
          </p:cNvPr>
          <p:cNvSpPr txBox="1"/>
          <p:nvPr/>
        </p:nvSpPr>
        <p:spPr>
          <a:xfrm>
            <a:off x="0" y="440268"/>
            <a:ext cx="12045244" cy="359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4: Composite attribute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An Australian delivery company stores a customer’s address as Street Number, Street Name, Suburb, State and Postcode. What type of attribute is Address?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A. Simple attribute</a:t>
            </a:r>
            <a:br>
              <a:rPr lang="en-US" sz="2100" dirty="0"/>
            </a:br>
            <a:r>
              <a:rPr lang="en-US" sz="2100" dirty="0"/>
              <a:t>B. Derived attribute</a:t>
            </a:r>
            <a:br>
              <a:rPr lang="en-US" sz="2100" dirty="0"/>
            </a:br>
            <a:r>
              <a:rPr lang="en-US" sz="2100" dirty="0"/>
              <a:t>C. Composite attribute</a:t>
            </a:r>
            <a:br>
              <a:rPr lang="en-US" sz="2100" dirty="0"/>
            </a:br>
            <a:r>
              <a:rPr lang="en-US" sz="2100" dirty="0"/>
              <a:t>D. Key attribute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25ED9C-FB03-EAA1-F4F1-DE1D73A52B86}"/>
              </a:ext>
            </a:extLst>
          </p:cNvPr>
          <p:cNvSpPr/>
          <p:nvPr/>
        </p:nvSpPr>
        <p:spPr>
          <a:xfrm>
            <a:off x="0" y="3132287"/>
            <a:ext cx="5046133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769F3-1CB1-F321-3E39-632A883B8A2E}"/>
              </a:ext>
            </a:extLst>
          </p:cNvPr>
          <p:cNvSpPr txBox="1"/>
          <p:nvPr/>
        </p:nvSpPr>
        <p:spPr>
          <a:xfrm>
            <a:off x="6290733" y="1735059"/>
            <a:ext cx="5754511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Explanation) </a:t>
            </a:r>
            <a:r>
              <a:rPr lang="en-US" sz="2000" dirty="0"/>
              <a:t>A composite attribute can be divided into smaller meaningful components. Address can be separated into Street Number, Street Name, Suburb, State and Postcode.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For example:</a:t>
            </a:r>
          </a:p>
          <a:p>
            <a:pPr rtl="0">
              <a:lnSpc>
                <a:spcPct val="150000"/>
              </a:lnSpc>
            </a:pPr>
            <a:r>
              <a:rPr lang="en-US" sz="2000" dirty="0"/>
              <a:t>Address</a:t>
            </a:r>
          </a:p>
          <a:p>
            <a:pPr rtl="0">
              <a:lnSpc>
                <a:spcPct val="150000"/>
              </a:lnSpc>
            </a:pPr>
            <a:r>
              <a:rPr lang="en-US" sz="2000" dirty="0"/>
              <a:t>├ Street Number: 25</a:t>
            </a:r>
          </a:p>
          <a:p>
            <a:pPr rtl="0">
              <a:lnSpc>
                <a:spcPct val="150000"/>
              </a:lnSpc>
            </a:pPr>
            <a:r>
              <a:rPr lang="en-US" sz="2000" dirty="0"/>
              <a:t>├ Street Name: George Street</a:t>
            </a:r>
          </a:p>
          <a:p>
            <a:pPr rtl="0">
              <a:lnSpc>
                <a:spcPct val="150000"/>
              </a:lnSpc>
            </a:pPr>
            <a:r>
              <a:rPr lang="en-US" sz="2000" dirty="0"/>
              <a:t>├ Suburb: Sydney</a:t>
            </a:r>
          </a:p>
          <a:p>
            <a:pPr rtl="0">
              <a:lnSpc>
                <a:spcPct val="150000"/>
              </a:lnSpc>
            </a:pPr>
            <a:r>
              <a:rPr lang="en-US" sz="2000" dirty="0"/>
              <a:t>├ State: NSW</a:t>
            </a:r>
          </a:p>
          <a:p>
            <a:pPr rtl="0">
              <a:lnSpc>
                <a:spcPct val="150000"/>
              </a:lnSpc>
            </a:pPr>
            <a:r>
              <a:rPr lang="en-US" sz="2000" dirty="0"/>
              <a:t> └── Postcode: 2000</a:t>
            </a:r>
          </a:p>
        </p:txBody>
      </p:sp>
    </p:spTree>
    <p:extLst>
      <p:ext uri="{BB962C8B-B14F-4D97-AF65-F5344CB8AC3E}">
        <p14:creationId xmlns:p14="http://schemas.microsoft.com/office/powerpoint/2010/main" val="368790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EA5C-437D-57C3-4A1A-33CC1B41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64CDE3-72DC-34A2-FD37-1A304436D92A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72CD9-B73D-5A0B-A16A-E699DBCBA9D7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CC2D7-E6A6-10D1-F39D-CF8E08DE4CBE}"/>
              </a:ext>
            </a:extLst>
          </p:cNvPr>
          <p:cNvSpPr txBox="1"/>
          <p:nvPr/>
        </p:nvSpPr>
        <p:spPr>
          <a:xfrm>
            <a:off x="0" y="440268"/>
            <a:ext cx="12045244" cy="3112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5: Simple attribute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Which attribute is most appropriately considered a simple attribute?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A. Address divided into suburb, state and postcode</a:t>
            </a:r>
            <a:br>
              <a:rPr lang="en-US" sz="2100" dirty="0"/>
            </a:br>
            <a:r>
              <a:rPr lang="en-US" sz="2100" dirty="0"/>
              <a:t>B. Full name divided into first name and family name</a:t>
            </a:r>
            <a:br>
              <a:rPr lang="en-US" sz="2100" dirty="0"/>
            </a:br>
            <a:r>
              <a:rPr lang="en-US" sz="2100" dirty="0"/>
              <a:t>C. </a:t>
            </a:r>
            <a:r>
              <a:rPr lang="en-US" sz="2100" dirty="0" err="1"/>
              <a:t>EmployeeID</a:t>
            </a:r>
            <a:r>
              <a:rPr lang="en-US" sz="2100" dirty="0"/>
              <a:t> stored as one indivisible value</a:t>
            </a:r>
            <a:br>
              <a:rPr lang="en-US" sz="2100" dirty="0"/>
            </a:br>
            <a:r>
              <a:rPr lang="en-US" sz="2100" dirty="0"/>
              <a:t>D. Phone numbers containing several numbers for one customer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49EFEF-4FB5-C547-215B-4F3ECF4D631D}"/>
              </a:ext>
            </a:extLst>
          </p:cNvPr>
          <p:cNvSpPr/>
          <p:nvPr/>
        </p:nvSpPr>
        <p:spPr>
          <a:xfrm>
            <a:off x="0" y="2624183"/>
            <a:ext cx="5046133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A85FC-8DF4-80AD-B73C-0926286A40D2}"/>
              </a:ext>
            </a:extLst>
          </p:cNvPr>
          <p:cNvSpPr txBox="1"/>
          <p:nvPr/>
        </p:nvSpPr>
        <p:spPr>
          <a:xfrm>
            <a:off x="73378" y="3693336"/>
            <a:ext cx="12045244" cy="257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Explanation:</a:t>
            </a:r>
            <a:br>
              <a:rPr lang="en-US" sz="2200" dirty="0"/>
            </a:br>
            <a:r>
              <a:rPr lang="en-US" sz="2200" dirty="0"/>
              <a:t>A simple or atomic attribute is not divided into smaller meaningful parts for the database’s purpose. An </a:t>
            </a:r>
            <a:r>
              <a:rPr lang="en-US" sz="2200" dirty="0" err="1"/>
              <a:t>EmployeeID</a:t>
            </a:r>
            <a:r>
              <a:rPr lang="en-US" sz="2200" dirty="0"/>
              <a:t> such as E204 is normally stored and used as one value.</a:t>
            </a:r>
          </a:p>
          <a:p>
            <a:pPr lvl="0">
              <a:lnSpc>
                <a:spcPct val="150000"/>
              </a:lnSpc>
            </a:pPr>
            <a:r>
              <a:rPr lang="en-US" sz="2200" dirty="0"/>
              <a:t>Address and full name may be composite. </a:t>
            </a:r>
          </a:p>
          <a:p>
            <a:pPr lvl="0">
              <a:lnSpc>
                <a:spcPct val="150000"/>
              </a:lnSpc>
            </a:pPr>
            <a:r>
              <a:rPr lang="en-US" sz="2200" dirty="0"/>
              <a:t>A collection of phone numbers is multivalued.</a:t>
            </a:r>
          </a:p>
        </p:txBody>
      </p:sp>
    </p:spTree>
    <p:extLst>
      <p:ext uri="{BB962C8B-B14F-4D97-AF65-F5344CB8AC3E}">
        <p14:creationId xmlns:p14="http://schemas.microsoft.com/office/powerpoint/2010/main" val="145593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8B755-BB32-A55B-5313-B428B6A6E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7DBF01-1F2D-609C-9D9B-BD9B07272631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2704F-D88A-47DF-E980-E660B1B095F7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FFD7A-0F5E-8AA9-200E-3FE8A56AC201}"/>
              </a:ext>
            </a:extLst>
          </p:cNvPr>
          <p:cNvSpPr txBox="1"/>
          <p:nvPr/>
        </p:nvSpPr>
        <p:spPr>
          <a:xfrm>
            <a:off x="0" y="440269"/>
            <a:ext cx="12033956" cy="5536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6: Multivalued attribute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A real estate agency allows one property owner to register a home number, mobile number and business number. How should </a:t>
            </a:r>
            <a:r>
              <a:rPr lang="en-US" sz="2100" dirty="0" err="1"/>
              <a:t>PhoneNumber</a:t>
            </a:r>
            <a:r>
              <a:rPr lang="en-US" sz="2100" dirty="0"/>
              <a:t> be described in the conceptual model?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A. Derived attribute</a:t>
            </a:r>
            <a:br>
              <a:rPr lang="en-US" sz="2100" dirty="0"/>
            </a:br>
            <a:r>
              <a:rPr lang="en-US" sz="2100" dirty="0"/>
              <a:t>B. Multivalued attribute</a:t>
            </a:r>
            <a:br>
              <a:rPr lang="en-US" sz="2100" dirty="0"/>
            </a:br>
            <a:r>
              <a:rPr lang="en-US" sz="2100" dirty="0"/>
              <a:t>C. Composite key</a:t>
            </a:r>
            <a:br>
              <a:rPr lang="en-US" sz="2100" dirty="0"/>
            </a:br>
            <a:r>
              <a:rPr lang="en-US" sz="2100" dirty="0"/>
              <a:t>D. Stored relationship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Explanation) </a:t>
            </a:r>
            <a:r>
              <a:rPr lang="en-US" sz="2100" dirty="0"/>
              <a:t>A multivalued attribute may contain more than one value for a single entity. One property owner can have several phone numbers.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In a relational database, these values would normally be placed in a separate table rather than stored together in one column.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3838AF-EDA0-8F3C-3F1F-A7DD278A9313}"/>
              </a:ext>
            </a:extLst>
          </p:cNvPr>
          <p:cNvSpPr/>
          <p:nvPr/>
        </p:nvSpPr>
        <p:spPr>
          <a:xfrm>
            <a:off x="0" y="2624183"/>
            <a:ext cx="5046133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2A454-0841-0391-D6AE-C512ED4A7F3F}"/>
              </a:ext>
            </a:extLst>
          </p:cNvPr>
          <p:cNvSpPr txBox="1"/>
          <p:nvPr/>
        </p:nvSpPr>
        <p:spPr>
          <a:xfrm>
            <a:off x="8627534" y="1581621"/>
            <a:ext cx="3124200" cy="2465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</a:pPr>
            <a:r>
              <a:rPr lang="en-US" sz="2100" dirty="0"/>
              <a:t>OWNER_PHONE</a:t>
            </a:r>
          </a:p>
          <a:p>
            <a:pPr rtl="0">
              <a:lnSpc>
                <a:spcPct val="150000"/>
              </a:lnSpc>
            </a:pPr>
            <a:r>
              <a:rPr lang="en-US" sz="2100" dirty="0"/>
              <a:t>-----------------------</a:t>
            </a:r>
          </a:p>
          <a:p>
            <a:pPr rtl="0">
              <a:lnSpc>
                <a:spcPct val="150000"/>
              </a:lnSpc>
            </a:pPr>
            <a:r>
              <a:rPr lang="en-US" sz="2100" dirty="0" err="1"/>
              <a:t>OwnerID</a:t>
            </a:r>
            <a:r>
              <a:rPr lang="en-US" sz="2100" dirty="0"/>
              <a:t> | </a:t>
            </a:r>
            <a:r>
              <a:rPr lang="en-US" sz="2100" dirty="0" err="1"/>
              <a:t>PhoneNumber</a:t>
            </a:r>
            <a:endParaRPr lang="en-US" sz="2100" dirty="0"/>
          </a:p>
          <a:p>
            <a:pPr rtl="0">
              <a:lnSpc>
                <a:spcPct val="150000"/>
              </a:lnSpc>
            </a:pPr>
            <a:r>
              <a:rPr lang="en-US" sz="2100" dirty="0"/>
              <a:t>101          | 0412 345 678</a:t>
            </a:r>
          </a:p>
          <a:p>
            <a:pPr rtl="0">
              <a:lnSpc>
                <a:spcPct val="150000"/>
              </a:lnSpc>
            </a:pPr>
            <a:r>
              <a:rPr lang="en-US" sz="2100" dirty="0"/>
              <a:t>101          | 02 9123 4567</a:t>
            </a:r>
          </a:p>
        </p:txBody>
      </p:sp>
    </p:spTree>
    <p:extLst>
      <p:ext uri="{BB962C8B-B14F-4D97-AF65-F5344CB8AC3E}">
        <p14:creationId xmlns:p14="http://schemas.microsoft.com/office/powerpoint/2010/main" val="167120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16B1D-47FF-8BC4-E9D2-0C22F792F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13267E-F05A-B917-FC42-01B60A598124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B886D-DA05-F5C2-2E4B-D2522AA19891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1B306-A82A-B14F-238F-744D57DE290D}"/>
              </a:ext>
            </a:extLst>
          </p:cNvPr>
          <p:cNvSpPr txBox="1"/>
          <p:nvPr/>
        </p:nvSpPr>
        <p:spPr>
          <a:xfrm>
            <a:off x="0" y="440269"/>
            <a:ext cx="12033956" cy="5764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7: Derived attribute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 company stores an employee’s </a:t>
            </a:r>
            <a:r>
              <a:rPr lang="en-US" sz="2200" dirty="0" err="1"/>
              <a:t>DateOfBirth</a:t>
            </a:r>
            <a:r>
              <a:rPr lang="en-US" sz="2200" dirty="0"/>
              <a:t> and calculates the employee’s current age when required. What type of attribute is Age?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Composite attribute</a:t>
            </a:r>
            <a:br>
              <a:rPr lang="en-US" sz="2200" dirty="0"/>
            </a:br>
            <a:r>
              <a:rPr lang="en-US" sz="2200" dirty="0"/>
              <a:t>B. Multivalued attribute</a:t>
            </a:r>
            <a:br>
              <a:rPr lang="en-US" sz="2200" dirty="0"/>
            </a:br>
            <a:r>
              <a:rPr lang="en-US" sz="2200" dirty="0"/>
              <a:t>C. Derived attribute</a:t>
            </a:r>
            <a:br>
              <a:rPr lang="en-US" sz="2200" dirty="0"/>
            </a:br>
            <a:r>
              <a:rPr lang="en-US" sz="2200" dirty="0"/>
              <a:t>D. Key attribute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Explanation:</a:t>
            </a:r>
            <a:br>
              <a:rPr lang="en-US" sz="2200" dirty="0"/>
            </a:br>
            <a:r>
              <a:rPr lang="en-US" sz="2200" dirty="0"/>
              <a:t>A derived attribute is calculated from another stored value. Age can be calculated using </a:t>
            </a:r>
            <a:r>
              <a:rPr lang="en-US" sz="2200" dirty="0" err="1"/>
              <a:t>DateOfBirth</a:t>
            </a:r>
            <a:r>
              <a:rPr lang="en-US" sz="2200" dirty="0"/>
              <a:t> and the current date.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It is usually better to store </a:t>
            </a:r>
            <a:r>
              <a:rPr lang="en-US" sz="2200" dirty="0" err="1"/>
              <a:t>DateOfBirth</a:t>
            </a:r>
            <a:r>
              <a:rPr lang="en-US" sz="2200" dirty="0"/>
              <a:t> because age changes over time, while </a:t>
            </a:r>
            <a:r>
              <a:rPr lang="en-US" sz="2200" dirty="0" err="1"/>
              <a:t>DateOfBirth</a:t>
            </a:r>
            <a:r>
              <a:rPr lang="en-US" sz="2200" dirty="0"/>
              <a:t> remains fixed.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3BE28A-69C2-9BEA-9094-F5F24A6B3BB8}"/>
              </a:ext>
            </a:extLst>
          </p:cNvPr>
          <p:cNvSpPr/>
          <p:nvPr/>
        </p:nvSpPr>
        <p:spPr>
          <a:xfrm>
            <a:off x="0" y="3236243"/>
            <a:ext cx="5046133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0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A90C-6422-BDCD-FB24-8E87F20B1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7B210-0820-D988-A9FC-5CB58B21D929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3653D-D806-4952-B073-1399C999BCD9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D0495-B60B-D057-3CB6-1924B7758419}"/>
              </a:ext>
            </a:extLst>
          </p:cNvPr>
          <p:cNvSpPr txBox="1"/>
          <p:nvPr/>
        </p:nvSpPr>
        <p:spPr>
          <a:xfrm>
            <a:off x="0" y="440269"/>
            <a:ext cx="12033956" cy="627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8: Stored and derived attributes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An online retailer stores </a:t>
            </a:r>
            <a:r>
              <a:rPr lang="en-US" sz="2200" dirty="0" err="1"/>
              <a:t>UnitPrice</a:t>
            </a:r>
            <a:r>
              <a:rPr lang="en-US" sz="2200" dirty="0"/>
              <a:t> and Quantity. It calculates </a:t>
            </a:r>
            <a:r>
              <a:rPr lang="en-US" sz="2200" dirty="0" err="1"/>
              <a:t>OrderTotal</a:t>
            </a:r>
            <a:r>
              <a:rPr lang="en-US" sz="2200" dirty="0"/>
              <a:t> by multiplying these values. Which statement is correct?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</a:t>
            </a:r>
            <a:r>
              <a:rPr lang="en-US" sz="2200" dirty="0" err="1"/>
              <a:t>OrderTotal</a:t>
            </a:r>
            <a:r>
              <a:rPr lang="en-US" sz="2200" dirty="0"/>
              <a:t> is a key attribute.</a:t>
            </a:r>
            <a:br>
              <a:rPr lang="en-US" sz="2200" dirty="0"/>
            </a:br>
            <a:r>
              <a:rPr lang="en-US" sz="2200" dirty="0"/>
              <a:t>B. </a:t>
            </a:r>
            <a:r>
              <a:rPr lang="en-US" sz="2200" dirty="0" err="1"/>
              <a:t>OrderTotal</a:t>
            </a:r>
            <a:r>
              <a:rPr lang="en-US" sz="2200" dirty="0"/>
              <a:t> is a derived attribute.</a:t>
            </a:r>
            <a:br>
              <a:rPr lang="en-US" sz="2200" dirty="0"/>
            </a:br>
            <a:r>
              <a:rPr lang="en-US" sz="2200" dirty="0"/>
              <a:t>C. Quantity is a multivalued attribute.</a:t>
            </a:r>
            <a:br>
              <a:rPr lang="en-US" sz="2200" dirty="0"/>
            </a:br>
            <a:r>
              <a:rPr lang="en-US" sz="2200" dirty="0"/>
              <a:t>D. </a:t>
            </a:r>
            <a:r>
              <a:rPr lang="en-US" sz="2200" dirty="0" err="1"/>
              <a:t>UnitPrice</a:t>
            </a:r>
            <a:r>
              <a:rPr lang="en-US" sz="2200" dirty="0"/>
              <a:t> is an entity type.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Explanation) </a:t>
            </a:r>
            <a:r>
              <a:rPr lang="en-US" sz="2200" dirty="0" err="1"/>
              <a:t>OrderTotal</a:t>
            </a:r>
            <a:r>
              <a:rPr lang="en-US" sz="2200" dirty="0"/>
              <a:t> can be calculated as:</a:t>
            </a:r>
          </a:p>
          <a:p>
            <a:pPr rtl="0">
              <a:lnSpc>
                <a:spcPct val="150000"/>
              </a:lnSpc>
            </a:pPr>
            <a:r>
              <a:rPr lang="en-US" sz="2200" dirty="0" err="1"/>
              <a:t>OrderTotal</a:t>
            </a:r>
            <a:r>
              <a:rPr lang="en-US" sz="2200" dirty="0"/>
              <a:t> = </a:t>
            </a:r>
            <a:r>
              <a:rPr lang="en-US" sz="2200" dirty="0" err="1"/>
              <a:t>UnitPrice</a:t>
            </a:r>
            <a:r>
              <a:rPr lang="en-US" sz="2200" dirty="0"/>
              <a:t> × Quantity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For example, if a customer buys three items at $25 each:</a:t>
            </a:r>
          </a:p>
          <a:p>
            <a:pPr rtl="0">
              <a:lnSpc>
                <a:spcPct val="150000"/>
              </a:lnSpc>
            </a:pPr>
            <a:r>
              <a:rPr lang="en-US" sz="2200" dirty="0" err="1"/>
              <a:t>OrderTotal</a:t>
            </a:r>
            <a:r>
              <a:rPr lang="en-US" sz="2200" dirty="0"/>
              <a:t> = $25 × 3 = $75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The total is derived from other attributes.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50C8F8-1D46-C8EE-CDE6-D29675D57ECF}"/>
              </a:ext>
            </a:extLst>
          </p:cNvPr>
          <p:cNvSpPr/>
          <p:nvPr/>
        </p:nvSpPr>
        <p:spPr>
          <a:xfrm>
            <a:off x="0" y="2716954"/>
            <a:ext cx="5046133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4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FC24-5289-9879-DCB5-E83953EE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A8F06A-422F-0168-B8EA-AA7FA92D3332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5938A-08FD-820E-1E14-8BC1A692812B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8F02B-AD8E-87DD-3508-5C66ECBDF564}"/>
              </a:ext>
            </a:extLst>
          </p:cNvPr>
          <p:cNvSpPr txBox="1"/>
          <p:nvPr/>
        </p:nvSpPr>
        <p:spPr>
          <a:xfrm>
            <a:off x="0" y="440269"/>
            <a:ext cx="12192000" cy="613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9: Key attribute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Which statement best explains the purpose of a key attribute?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It stores several values for one entity.</a:t>
            </a:r>
            <a:br>
              <a:rPr lang="en-US" sz="2200" dirty="0"/>
            </a:br>
            <a:r>
              <a:rPr lang="en-US" sz="2200" dirty="0"/>
              <a:t>B. It provides a written description of an entity.</a:t>
            </a:r>
            <a:br>
              <a:rPr lang="en-US" sz="2200" dirty="0"/>
            </a:br>
            <a:r>
              <a:rPr lang="en-US" sz="2200" dirty="0"/>
              <a:t>C. It uniquely identifies each entity instance.</a:t>
            </a:r>
            <a:br>
              <a:rPr lang="en-US" sz="2200" dirty="0"/>
            </a:br>
            <a:r>
              <a:rPr lang="en-US" sz="2200" dirty="0"/>
              <a:t>D. It is always calculated from other attributes.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Explanation) </a:t>
            </a:r>
            <a:r>
              <a:rPr lang="en-US" sz="2100" dirty="0"/>
              <a:t>A key attribute distinguishes one entity from every other entity of the same type.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For example, two Holmes students may have the same name, but they should not have the same </a:t>
            </a:r>
            <a:r>
              <a:rPr lang="en-US" sz="2100" dirty="0" err="1"/>
              <a:t>StudentID</a:t>
            </a:r>
            <a:r>
              <a:rPr lang="en-US" sz="2100" dirty="0"/>
              <a:t>.</a:t>
            </a:r>
          </a:p>
          <a:p>
            <a:pPr rtl="0">
              <a:lnSpc>
                <a:spcPct val="150000"/>
              </a:lnSpc>
            </a:pPr>
            <a:r>
              <a:rPr lang="en-US" sz="2100" dirty="0" err="1"/>
              <a:t>StudentID</a:t>
            </a:r>
            <a:r>
              <a:rPr lang="en-US" sz="2100" dirty="0"/>
              <a:t> | </a:t>
            </a:r>
            <a:r>
              <a:rPr lang="en-US" sz="2100" dirty="0" err="1"/>
              <a:t>StudentName</a:t>
            </a:r>
            <a:endParaRPr lang="en-US" sz="2100" dirty="0"/>
          </a:p>
          <a:p>
            <a:pPr rtl="0">
              <a:lnSpc>
                <a:spcPct val="150000"/>
              </a:lnSpc>
            </a:pPr>
            <a:r>
              <a:rPr lang="en-US" sz="2100" dirty="0"/>
              <a:t>S1001        | Ali Khan</a:t>
            </a:r>
          </a:p>
          <a:p>
            <a:pPr rtl="0">
              <a:lnSpc>
                <a:spcPct val="150000"/>
              </a:lnSpc>
            </a:pPr>
            <a:r>
              <a:rPr lang="en-US" sz="2100" dirty="0"/>
              <a:t>S1058        | Ali Khan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The </a:t>
            </a:r>
            <a:r>
              <a:rPr lang="en-US" sz="2100" dirty="0" err="1"/>
              <a:t>StudentID</a:t>
            </a:r>
            <a:r>
              <a:rPr lang="en-US" sz="2100" dirty="0"/>
              <a:t> uniquely identifies each student.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A751E9-D204-5C8F-29D7-39AF881835B6}"/>
              </a:ext>
            </a:extLst>
          </p:cNvPr>
          <p:cNvSpPr/>
          <p:nvPr/>
        </p:nvSpPr>
        <p:spPr>
          <a:xfrm>
            <a:off x="0" y="2716954"/>
            <a:ext cx="5046133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4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A260E-34D8-EAC8-BBB7-88DE553A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D5BB6F-2628-4D65-A352-19658F72B04D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97520-3301-5F23-047E-E612259E6716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C714D-BBC4-CB07-5E59-0FE6404F3B59}"/>
              </a:ext>
            </a:extLst>
          </p:cNvPr>
          <p:cNvSpPr txBox="1"/>
          <p:nvPr/>
        </p:nvSpPr>
        <p:spPr>
          <a:xfrm>
            <a:off x="0" y="440269"/>
            <a:ext cx="12192000" cy="525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10: Selecting an appropriate key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Which attribute would normally be the most appropriate key for a VEHICLE entity in an Australian vehicle-registration database?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Vehicle </a:t>
            </a:r>
            <a:r>
              <a:rPr lang="en-US" sz="2200" dirty="0" err="1"/>
              <a:t>colour</a:t>
            </a:r>
            <a:br>
              <a:rPr lang="en-US" sz="2200" dirty="0"/>
            </a:br>
            <a:r>
              <a:rPr lang="en-US" sz="2200" dirty="0"/>
              <a:t>B. Owner’s suburb</a:t>
            </a:r>
            <a:br>
              <a:rPr lang="en-US" sz="2200" dirty="0"/>
            </a:br>
            <a:r>
              <a:rPr lang="en-US" sz="2200" dirty="0"/>
              <a:t>C. Vehicle Identification Number</a:t>
            </a:r>
            <a:br>
              <a:rPr lang="en-US" sz="2200" dirty="0"/>
            </a:br>
            <a:r>
              <a:rPr lang="en-US" sz="2200" dirty="0"/>
              <a:t>D. Vehicle model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Explanation:</a:t>
            </a:r>
            <a:br>
              <a:rPr lang="en-US" sz="2200" dirty="0"/>
            </a:br>
            <a:r>
              <a:rPr lang="en-US" sz="2200" dirty="0"/>
              <a:t>A suitable key must uniquely identify each vehicle. </a:t>
            </a:r>
            <a:r>
              <a:rPr lang="en-US" sz="2200" dirty="0" err="1"/>
              <a:t>Colour</a:t>
            </a:r>
            <a:r>
              <a:rPr lang="en-US" sz="2200" dirty="0"/>
              <a:t>, suburb and model can be repeated across many vehicles. A Vehicle Identification Number, or VIN, is intended to identify a particular vehicle.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C49E6C-EF8E-63C5-1FE8-142C4734BC6D}"/>
              </a:ext>
            </a:extLst>
          </p:cNvPr>
          <p:cNvSpPr/>
          <p:nvPr/>
        </p:nvSpPr>
        <p:spPr>
          <a:xfrm>
            <a:off x="0" y="3246057"/>
            <a:ext cx="5046133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4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910B-FB63-3931-BB59-72F7065ED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51E637-CCB0-BE39-2A4B-DDB683B99F69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9A15B-4EB1-C427-6721-857A2341D265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2521D-DD18-8815-E1DD-E162A68BFE2C}"/>
              </a:ext>
            </a:extLst>
          </p:cNvPr>
          <p:cNvSpPr txBox="1"/>
          <p:nvPr/>
        </p:nvSpPr>
        <p:spPr>
          <a:xfrm>
            <a:off x="0" y="440269"/>
            <a:ext cx="12192000" cy="5764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11: Attribute domain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In a university database, the </a:t>
            </a:r>
            <a:r>
              <a:rPr lang="en-US" sz="2200" dirty="0" err="1"/>
              <a:t>FinalMark</a:t>
            </a:r>
            <a:r>
              <a:rPr lang="en-US" sz="2200" dirty="0"/>
              <a:t> attribute must contain a number from 0 to 100. What does the range 0–100 represent?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The entity type</a:t>
            </a:r>
            <a:br>
              <a:rPr lang="en-US" sz="2200" dirty="0"/>
            </a:br>
            <a:r>
              <a:rPr lang="en-US" sz="2200" dirty="0"/>
              <a:t>B. The attribute’s domain</a:t>
            </a:r>
            <a:br>
              <a:rPr lang="en-US" sz="2200" dirty="0"/>
            </a:br>
            <a:r>
              <a:rPr lang="en-US" sz="2200" dirty="0"/>
              <a:t>C. A relationship</a:t>
            </a:r>
            <a:br>
              <a:rPr lang="en-US" sz="2200" dirty="0"/>
            </a:br>
            <a:r>
              <a:rPr lang="en-US" sz="2200" dirty="0"/>
              <a:t>D. A multivalued attribute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Explanation:</a:t>
            </a:r>
            <a:br>
              <a:rPr lang="en-US" sz="2200" dirty="0"/>
            </a:br>
            <a:r>
              <a:rPr lang="en-US" sz="2200" dirty="0"/>
              <a:t>A domain defines the permitted values for an attribute. For </a:t>
            </a:r>
            <a:r>
              <a:rPr lang="en-US" sz="2200" dirty="0" err="1"/>
              <a:t>FinalMark</a:t>
            </a:r>
            <a:r>
              <a:rPr lang="en-US" sz="2200" dirty="0"/>
              <a:t>, the valid domain is normally numeric values between 0 and 100.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Values such as 105, -4 or "Excellent" would not belong to that domain.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6B5C20-DA0F-B0AF-E4C7-1ACC487246C6}"/>
              </a:ext>
            </a:extLst>
          </p:cNvPr>
          <p:cNvSpPr/>
          <p:nvPr/>
        </p:nvSpPr>
        <p:spPr>
          <a:xfrm>
            <a:off x="11288" y="2704191"/>
            <a:ext cx="5046133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4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61FF8-6993-A05C-DE27-F21900897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7E0E1F-BC8E-F77D-A749-EB30D39EB37B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63AFE-ED08-5D8F-3D72-1F46173F9339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66E4E-CA0F-9325-25F4-575032099BFC}"/>
              </a:ext>
            </a:extLst>
          </p:cNvPr>
          <p:cNvSpPr txBox="1"/>
          <p:nvPr/>
        </p:nvSpPr>
        <p:spPr>
          <a:xfrm>
            <a:off x="0" y="440269"/>
            <a:ext cx="12192000" cy="525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12: Entity, attribute and value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Consider this information:</a:t>
            </a:r>
          </a:p>
          <a:p>
            <a:pPr rtl="0">
              <a:lnSpc>
                <a:spcPct val="150000"/>
              </a:lnSpc>
            </a:pPr>
            <a:r>
              <a:rPr lang="en-US" sz="2200" dirty="0" err="1"/>
              <a:t>StudentID</a:t>
            </a:r>
            <a:r>
              <a:rPr lang="en-US" sz="2200" dirty="0"/>
              <a:t>: S1025</a:t>
            </a:r>
          </a:p>
          <a:p>
            <a:pPr rtl="0">
              <a:lnSpc>
                <a:spcPct val="150000"/>
              </a:lnSpc>
            </a:pPr>
            <a:r>
              <a:rPr lang="en-US" sz="2200" dirty="0" err="1"/>
              <a:t>StudentName</a:t>
            </a:r>
            <a:r>
              <a:rPr lang="en-US" sz="2200" dirty="0"/>
              <a:t>: Priya Sharma</a:t>
            </a:r>
          </a:p>
          <a:p>
            <a:pPr rtl="0">
              <a:lnSpc>
                <a:spcPct val="150000"/>
              </a:lnSpc>
            </a:pPr>
            <a:r>
              <a:rPr lang="en-US" sz="2200" dirty="0"/>
              <a:t>Campus: Sydney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Which statement is correct?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</a:t>
            </a:r>
            <a:r>
              <a:rPr lang="en-US" sz="2200" dirty="0" err="1"/>
              <a:t>StudentID</a:t>
            </a:r>
            <a:r>
              <a:rPr lang="en-US" sz="2200" dirty="0"/>
              <a:t> is an entity and S1025 is an attribute.</a:t>
            </a:r>
            <a:br>
              <a:rPr lang="en-US" sz="2200" dirty="0"/>
            </a:br>
            <a:r>
              <a:rPr lang="en-US" sz="2200" dirty="0"/>
              <a:t>B. Priya Sharma is an entity type.</a:t>
            </a:r>
            <a:br>
              <a:rPr lang="en-US" sz="2200" dirty="0"/>
            </a:br>
            <a:r>
              <a:rPr lang="en-US" sz="2200" dirty="0"/>
              <a:t>C. Campus is an attribute and Sydney is its value.</a:t>
            </a:r>
            <a:br>
              <a:rPr lang="en-US" sz="2200" dirty="0"/>
            </a:br>
            <a:r>
              <a:rPr lang="en-US" sz="2200" dirty="0"/>
              <a:t>D. Sydney is a key attribute.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619E5F-A728-C0AA-F4D7-511E5344BB87}"/>
              </a:ext>
            </a:extLst>
          </p:cNvPr>
          <p:cNvSpPr/>
          <p:nvPr/>
        </p:nvSpPr>
        <p:spPr>
          <a:xfrm>
            <a:off x="0" y="4737577"/>
            <a:ext cx="5712178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CA2B7-9678-8301-47FE-3BF9894121AF}"/>
              </a:ext>
            </a:extLst>
          </p:cNvPr>
          <p:cNvSpPr txBox="1"/>
          <p:nvPr/>
        </p:nvSpPr>
        <p:spPr>
          <a:xfrm>
            <a:off x="6096000" y="1440321"/>
            <a:ext cx="6096000" cy="5118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/>
              <a:t>Explanation:</a:t>
            </a:r>
            <a:endParaRPr lang="en-US" sz="22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student is the entity.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StudentID</a:t>
            </a:r>
            <a:r>
              <a:rPr lang="en-US" sz="2200" dirty="0"/>
              <a:t>, </a:t>
            </a:r>
            <a:r>
              <a:rPr lang="en-US" sz="2200" dirty="0" err="1"/>
              <a:t>StudentName</a:t>
            </a:r>
            <a:r>
              <a:rPr lang="en-US" sz="2200" dirty="0"/>
              <a:t> and Campus are attributes.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S1025, Priya Sharma and Sydney are attribute values. 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/>
              <a:t>This distinction is important: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/>
              <a:t>Entity:       a particular student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/>
              <a:t>Attribute:    Campus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/>
              <a:t>Value:        Sydney</a:t>
            </a:r>
          </a:p>
        </p:txBody>
      </p:sp>
    </p:spTree>
    <p:extLst>
      <p:ext uri="{BB962C8B-B14F-4D97-AF65-F5344CB8AC3E}">
        <p14:creationId xmlns:p14="http://schemas.microsoft.com/office/powerpoint/2010/main" val="178346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D9E0-ACF2-D6EE-36F5-3172CBE8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DBE55-C73C-A67B-3498-558E4BA79FE7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FD772-0BE8-8A70-7F7A-25479D8C493F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333A0-4253-AC06-0654-096518362F13}"/>
              </a:ext>
            </a:extLst>
          </p:cNvPr>
          <p:cNvSpPr txBox="1"/>
          <p:nvPr/>
        </p:nvSpPr>
        <p:spPr>
          <a:xfrm>
            <a:off x="0" y="440269"/>
            <a:ext cx="12192000" cy="373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13: Weak entity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In a property-management database, an APARTMENT is identified using its </a:t>
            </a:r>
            <a:r>
              <a:rPr lang="en-US" sz="2200" dirty="0" err="1"/>
              <a:t>ApartmentNumber</a:t>
            </a:r>
            <a:r>
              <a:rPr lang="en-US" sz="2200" dirty="0"/>
              <a:t> together with the </a:t>
            </a:r>
            <a:r>
              <a:rPr lang="en-US" sz="2200" dirty="0" err="1"/>
              <a:t>BuildingID</a:t>
            </a:r>
            <a:r>
              <a:rPr lang="en-US" sz="2200" dirty="0"/>
              <a:t> of its building. Why may APARTMENT be considered a weak entity?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It has no attributes</a:t>
            </a:r>
            <a:br>
              <a:rPr lang="en-US" sz="2200" dirty="0"/>
            </a:br>
            <a:r>
              <a:rPr lang="en-US" sz="2200" dirty="0"/>
              <a:t>B. It cannot be stored in a database</a:t>
            </a:r>
            <a:br>
              <a:rPr lang="en-US" sz="2200" dirty="0"/>
            </a:br>
            <a:r>
              <a:rPr lang="en-US" sz="2200" dirty="0"/>
              <a:t>C. It depends on BUILDING for its complete identification</a:t>
            </a:r>
            <a:br>
              <a:rPr lang="en-US" sz="2200" dirty="0"/>
            </a:br>
            <a:r>
              <a:rPr lang="en-US" sz="2200" dirty="0"/>
              <a:t>D. It can participate only in a many-to-many relationship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C2CD6A-2799-7C2B-FBFC-1961BBAAA01A}"/>
              </a:ext>
            </a:extLst>
          </p:cNvPr>
          <p:cNvSpPr/>
          <p:nvPr/>
        </p:nvSpPr>
        <p:spPr>
          <a:xfrm>
            <a:off x="0" y="3238563"/>
            <a:ext cx="6547556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AEF09-D1F4-6462-74AC-7C8B9AEB011F}"/>
              </a:ext>
            </a:extLst>
          </p:cNvPr>
          <p:cNvSpPr txBox="1"/>
          <p:nvPr/>
        </p:nvSpPr>
        <p:spPr>
          <a:xfrm>
            <a:off x="6694310" y="2269067"/>
            <a:ext cx="5497689" cy="440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/>
              <a:t>A weak entity cannot be uniquely identified using only its own attributes. </a:t>
            </a:r>
            <a:r>
              <a:rPr lang="en-US" sz="2100" dirty="0" err="1"/>
              <a:t>ApartmentNumber</a:t>
            </a:r>
            <a:r>
              <a:rPr lang="en-US" sz="2100" dirty="0"/>
              <a:t> may be repeated across different buildings.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For example:</a:t>
            </a:r>
          </a:p>
          <a:p>
            <a:pPr rtl="0">
              <a:lnSpc>
                <a:spcPct val="150000"/>
              </a:lnSpc>
            </a:pPr>
            <a:r>
              <a:rPr lang="en-US" sz="2100" dirty="0" err="1"/>
              <a:t>BuildingID</a:t>
            </a:r>
            <a:r>
              <a:rPr lang="en-US" sz="2100" dirty="0"/>
              <a:t> | </a:t>
            </a:r>
            <a:r>
              <a:rPr lang="en-US" sz="2100" dirty="0" err="1"/>
              <a:t>ApartmentNumber</a:t>
            </a:r>
            <a:endParaRPr lang="en-US" sz="2100" dirty="0"/>
          </a:p>
          <a:p>
            <a:pPr rtl="0">
              <a:lnSpc>
                <a:spcPct val="150000"/>
              </a:lnSpc>
            </a:pPr>
            <a:r>
              <a:rPr lang="en-US" sz="2100" dirty="0"/>
              <a:t>B101          | 12</a:t>
            </a:r>
          </a:p>
          <a:p>
            <a:pPr rtl="0">
              <a:lnSpc>
                <a:spcPct val="150000"/>
              </a:lnSpc>
            </a:pPr>
            <a:r>
              <a:rPr lang="en-US" sz="2100" dirty="0"/>
              <a:t>B205          | 12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The complete identifier is:</a:t>
            </a:r>
          </a:p>
          <a:p>
            <a:pPr rtl="0">
              <a:lnSpc>
                <a:spcPct val="150000"/>
              </a:lnSpc>
            </a:pPr>
            <a:r>
              <a:rPr lang="en-US" sz="2100" dirty="0" err="1"/>
              <a:t>BuildingID</a:t>
            </a:r>
            <a:r>
              <a:rPr lang="en-US" sz="2100" dirty="0"/>
              <a:t> + </a:t>
            </a:r>
            <a:r>
              <a:rPr lang="en-US" sz="2100" dirty="0" err="1"/>
              <a:t>ApartmentNumber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12595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B7A5D-977B-0F46-B6A8-1B6ADCBD9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1790DC-D5C0-34FA-5F2D-1A25516B76FA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F7615-2520-1F00-6E04-FB06C766CC76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4FFF3C-82CD-4469-9226-DB9D13787B04}"/>
              </a:ext>
            </a:extLst>
          </p:cNvPr>
          <p:cNvSpPr txBox="1"/>
          <p:nvPr/>
        </p:nvSpPr>
        <p:spPr>
          <a:xfrm>
            <a:off x="0" y="440269"/>
            <a:ext cx="12192000" cy="4005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2: Partial key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In the previous example, </a:t>
            </a:r>
            <a:r>
              <a:rPr lang="en-US" sz="2400" dirty="0" err="1"/>
              <a:t>ApartmentNumber</a:t>
            </a:r>
            <a:r>
              <a:rPr lang="en-US" sz="2400" dirty="0"/>
              <a:t> distinguishes apartments within the same building but is not unique across all buildings. What is </a:t>
            </a:r>
            <a:r>
              <a:rPr lang="en-US" sz="2400" dirty="0" err="1"/>
              <a:t>ApartmentNumber</a:t>
            </a:r>
            <a:r>
              <a:rPr lang="en-US" sz="24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A. A derived attribute</a:t>
            </a:r>
            <a:br>
              <a:rPr lang="en-US" sz="2400" dirty="0"/>
            </a:br>
            <a:r>
              <a:rPr lang="en-US" sz="2400" dirty="0"/>
              <a:t>B. A partial key</a:t>
            </a:r>
            <a:br>
              <a:rPr lang="en-US" sz="2400" dirty="0"/>
            </a:br>
            <a:r>
              <a:rPr lang="en-US" sz="2400" dirty="0"/>
              <a:t>C. A multivalued attribute</a:t>
            </a:r>
            <a:br>
              <a:rPr lang="en-US" sz="2400" dirty="0"/>
            </a:br>
            <a:r>
              <a:rPr lang="en-US" sz="2400" dirty="0"/>
              <a:t>D. A relationship attribute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1AE248-BD16-973E-678C-E7A26B124872}"/>
              </a:ext>
            </a:extLst>
          </p:cNvPr>
          <p:cNvSpPr/>
          <p:nvPr/>
        </p:nvSpPr>
        <p:spPr>
          <a:xfrm>
            <a:off x="0" y="2929213"/>
            <a:ext cx="6547556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55FE2-6AB5-1BFB-151D-90584479F1F8}"/>
              </a:ext>
            </a:extLst>
          </p:cNvPr>
          <p:cNvSpPr txBox="1"/>
          <p:nvPr/>
        </p:nvSpPr>
        <p:spPr>
          <a:xfrm>
            <a:off x="6694310" y="2269067"/>
            <a:ext cx="5497689" cy="4610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Explanation:</a:t>
            </a:r>
            <a:br>
              <a:rPr lang="en-US" sz="2200" dirty="0"/>
            </a:br>
            <a:r>
              <a:rPr lang="en-US" sz="2200" dirty="0"/>
              <a:t>A partial key identifies a weak entity only within its owning entity. </a:t>
            </a:r>
            <a:r>
              <a:rPr lang="en-US" sz="2200" dirty="0" err="1"/>
              <a:t>ApartmentNumber</a:t>
            </a:r>
            <a:r>
              <a:rPr lang="en-US" sz="2200" dirty="0"/>
              <a:t> identifies an apartment within one building, but it cannot identify the apartment without </a:t>
            </a:r>
            <a:r>
              <a:rPr lang="en-US" sz="2200" dirty="0" err="1"/>
              <a:t>BuildingID</a:t>
            </a:r>
            <a:r>
              <a:rPr lang="en-US" sz="2200" dirty="0"/>
              <a:t>.</a:t>
            </a:r>
          </a:p>
          <a:p>
            <a:pPr rtl="0">
              <a:lnSpc>
                <a:spcPct val="150000"/>
              </a:lnSpc>
            </a:pPr>
            <a:r>
              <a:rPr lang="en-US" sz="2200" dirty="0"/>
              <a:t>Partial key: </a:t>
            </a:r>
            <a:r>
              <a:rPr lang="en-US" sz="2200" dirty="0" err="1"/>
              <a:t>ApartmentNumber</a:t>
            </a:r>
            <a:endParaRPr lang="en-US" sz="2200" dirty="0"/>
          </a:p>
          <a:p>
            <a:pPr rtl="0">
              <a:lnSpc>
                <a:spcPct val="150000"/>
              </a:lnSpc>
            </a:pPr>
            <a:r>
              <a:rPr lang="en-US" sz="2200" dirty="0"/>
              <a:t>Owner’s key: </a:t>
            </a:r>
            <a:r>
              <a:rPr lang="en-US" sz="2200" dirty="0" err="1"/>
              <a:t>BuildingID</a:t>
            </a:r>
            <a:endParaRPr lang="en-US" sz="2200" dirty="0"/>
          </a:p>
          <a:p>
            <a:pPr rtl="0">
              <a:lnSpc>
                <a:spcPct val="150000"/>
              </a:lnSpc>
            </a:pPr>
            <a:r>
              <a:rPr lang="en-US" sz="2200" dirty="0"/>
              <a:t>Complete key: </a:t>
            </a:r>
            <a:r>
              <a:rPr lang="en-US" sz="2200" dirty="0" err="1"/>
              <a:t>BuildingID</a:t>
            </a:r>
            <a:r>
              <a:rPr lang="en-US" sz="2200" dirty="0"/>
              <a:t> + </a:t>
            </a:r>
            <a:r>
              <a:rPr lang="en-US" sz="2200" dirty="0" err="1"/>
              <a:t>ApartmentNumber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1119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7AFB2-50F6-2A06-6995-B41A15CE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1F99FB-5AFB-394E-A23A-A5D8E5A85D6F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D39DE-1FC9-AB93-0AF2-855802AB31C5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78CF3-79E5-3565-7FDF-235A6542E1FD}"/>
              </a:ext>
            </a:extLst>
          </p:cNvPr>
          <p:cNvSpPr txBox="1"/>
          <p:nvPr/>
        </p:nvSpPr>
        <p:spPr>
          <a:xfrm>
            <a:off x="0" y="440269"/>
            <a:ext cx="12192000" cy="359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3: Identifying relationship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A database contains ORDER and weak entity ORDER_ITEM. Each order item must belong to an order. What is the relationship between them called?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A. Identifying relationship</a:t>
            </a:r>
            <a:br>
              <a:rPr lang="en-US" sz="2100" dirty="0"/>
            </a:br>
            <a:r>
              <a:rPr lang="en-US" sz="2100" dirty="0"/>
              <a:t>B. Recursive relationship</a:t>
            </a:r>
            <a:br>
              <a:rPr lang="en-US" sz="2100" dirty="0"/>
            </a:br>
            <a:r>
              <a:rPr lang="en-US" sz="2100" dirty="0"/>
              <a:t>C. Ternary relationship</a:t>
            </a:r>
            <a:br>
              <a:rPr lang="en-US" sz="2100" dirty="0"/>
            </a:br>
            <a:r>
              <a:rPr lang="en-US" sz="2100" dirty="0"/>
              <a:t>D. Optional relationship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5B32B2-E3E0-DCE3-B084-4D78F4738D2D}"/>
              </a:ext>
            </a:extLst>
          </p:cNvPr>
          <p:cNvSpPr/>
          <p:nvPr/>
        </p:nvSpPr>
        <p:spPr>
          <a:xfrm>
            <a:off x="0" y="2183917"/>
            <a:ext cx="3341511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7B0ED-6112-8706-FCA5-8F2FF14BF96B}"/>
              </a:ext>
            </a:extLst>
          </p:cNvPr>
          <p:cNvSpPr txBox="1"/>
          <p:nvPr/>
        </p:nvSpPr>
        <p:spPr>
          <a:xfrm>
            <a:off x="6694310" y="2269067"/>
            <a:ext cx="5497689" cy="410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Explanation:</a:t>
            </a:r>
            <a:br>
              <a:rPr lang="en-US" sz="2200" dirty="0"/>
            </a:br>
            <a:r>
              <a:rPr lang="en-US" sz="2200" dirty="0"/>
              <a:t>An identifying relationship connects a weak entity to its owner or strong entity. ORDER_ITEM depends on ORDER for both its existence and complete identification.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For example:</a:t>
            </a:r>
          </a:p>
          <a:p>
            <a:pPr rtl="0"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</a:rPr>
              <a:t>OrderID + </a:t>
            </a:r>
            <a:r>
              <a:rPr lang="en-US" sz="2200" dirty="0" err="1">
                <a:highlight>
                  <a:srgbClr val="FFFF00"/>
                </a:highlight>
              </a:rPr>
              <a:t>ItemNumber</a:t>
            </a:r>
            <a:endParaRPr lang="en-US" sz="2200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200" dirty="0"/>
              <a:t>may form the complete key of ORDER_ITEM.</a:t>
            </a:r>
          </a:p>
        </p:txBody>
      </p:sp>
    </p:spTree>
    <p:extLst>
      <p:ext uri="{BB962C8B-B14F-4D97-AF65-F5344CB8AC3E}">
        <p14:creationId xmlns:p14="http://schemas.microsoft.com/office/powerpoint/2010/main" val="80094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2B1A3-4CBB-885B-110B-21ADE74B1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F913DD-7EC0-8019-18EE-B47786F0345F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0097A-E1E7-AA7B-EA81-619F8FF1DF58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4AD79-22F4-6D24-63F1-20AE24F0F830}"/>
              </a:ext>
            </a:extLst>
          </p:cNvPr>
          <p:cNvSpPr txBox="1"/>
          <p:nvPr/>
        </p:nvSpPr>
        <p:spPr>
          <a:xfrm>
            <a:off x="0" y="440269"/>
            <a:ext cx="12192000" cy="322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4: Identification dependency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Which situation best demonstrates identification dependency?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A customer may have several phone numbers</a:t>
            </a:r>
            <a:br>
              <a:rPr lang="en-US" sz="2200" dirty="0"/>
            </a:br>
            <a:r>
              <a:rPr lang="en-US" sz="2200" dirty="0"/>
              <a:t>B. A product’s price changes over time</a:t>
            </a:r>
            <a:br>
              <a:rPr lang="en-US" sz="2200" dirty="0"/>
            </a:br>
            <a:r>
              <a:rPr lang="en-US" sz="2200" dirty="0"/>
              <a:t>C. A dependent is identified using </a:t>
            </a:r>
            <a:r>
              <a:rPr lang="en-US" sz="2200" dirty="0" err="1"/>
              <a:t>EmployeeID</a:t>
            </a:r>
            <a:r>
              <a:rPr lang="en-US" sz="2200" dirty="0"/>
              <a:t> and </a:t>
            </a:r>
            <a:r>
              <a:rPr lang="en-US" sz="2200" dirty="0" err="1"/>
              <a:t>DependentName</a:t>
            </a:r>
            <a:br>
              <a:rPr lang="en-US" sz="2200" dirty="0"/>
            </a:br>
            <a:r>
              <a:rPr lang="en-US" sz="2200" dirty="0"/>
              <a:t>D. An employee supervises another employee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4D69E9-C71B-1AAB-A752-D06AF036CC3E}"/>
              </a:ext>
            </a:extLst>
          </p:cNvPr>
          <p:cNvSpPr/>
          <p:nvPr/>
        </p:nvSpPr>
        <p:spPr>
          <a:xfrm>
            <a:off x="5644" y="2725783"/>
            <a:ext cx="7919156" cy="4238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9F3A4-07D2-4432-982D-7D636EDB3000}"/>
              </a:ext>
            </a:extLst>
          </p:cNvPr>
          <p:cNvSpPr txBox="1"/>
          <p:nvPr/>
        </p:nvSpPr>
        <p:spPr>
          <a:xfrm>
            <a:off x="0" y="3771129"/>
            <a:ext cx="12191999" cy="3086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Explanation) </a:t>
            </a:r>
            <a:r>
              <a:rPr lang="en-US" sz="2200" dirty="0"/>
              <a:t>A dependent may not have its own globally unique identifier. It is identified through the related employee.</a:t>
            </a:r>
          </a:p>
          <a:p>
            <a:pPr rtl="0">
              <a:lnSpc>
                <a:spcPct val="150000"/>
              </a:lnSpc>
            </a:pPr>
            <a:r>
              <a:rPr lang="en-US" sz="2200" dirty="0" err="1"/>
              <a:t>EmployeeID</a:t>
            </a:r>
            <a:r>
              <a:rPr lang="en-US" sz="2200" dirty="0"/>
              <a:t> | </a:t>
            </a:r>
            <a:r>
              <a:rPr lang="en-US" sz="2200" dirty="0" err="1"/>
              <a:t>DependentName</a:t>
            </a:r>
            <a:endParaRPr lang="en-US" sz="2200" dirty="0"/>
          </a:p>
          <a:p>
            <a:pPr rtl="0">
              <a:lnSpc>
                <a:spcPct val="150000"/>
              </a:lnSpc>
            </a:pPr>
            <a:r>
              <a:rPr lang="en-US" sz="2200" dirty="0"/>
              <a:t>E105             | Noah</a:t>
            </a:r>
          </a:p>
          <a:p>
            <a:pPr rtl="0">
              <a:lnSpc>
                <a:spcPct val="150000"/>
              </a:lnSpc>
            </a:pPr>
            <a:r>
              <a:rPr lang="en-US" sz="2200" dirty="0"/>
              <a:t>E212             | Noah</a:t>
            </a:r>
          </a:p>
          <a:p>
            <a:pPr>
              <a:lnSpc>
                <a:spcPct val="150000"/>
              </a:lnSpc>
            </a:pPr>
            <a:r>
              <a:rPr lang="en-US" sz="2200" dirty="0" err="1"/>
              <a:t>DependentName</a:t>
            </a:r>
            <a:r>
              <a:rPr lang="en-US" sz="2200" dirty="0"/>
              <a:t> alone is insufficient. The employee’s key must be included.</a:t>
            </a:r>
          </a:p>
        </p:txBody>
      </p:sp>
    </p:spTree>
    <p:extLst>
      <p:ext uri="{BB962C8B-B14F-4D97-AF65-F5344CB8AC3E}">
        <p14:creationId xmlns:p14="http://schemas.microsoft.com/office/powerpoint/2010/main" val="96716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0195-36D3-8FDE-F702-BBDC9FAF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622A0A-DEDB-96DD-05EA-BBDF244F5D28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6DE4B-D01D-D24B-9A6E-474D3B19A762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7F81E-26A9-E160-9E89-12938B0E53A3}"/>
              </a:ext>
            </a:extLst>
          </p:cNvPr>
          <p:cNvSpPr txBox="1"/>
          <p:nvPr/>
        </p:nvSpPr>
        <p:spPr>
          <a:xfrm>
            <a:off x="0" y="440269"/>
            <a:ext cx="12192000" cy="322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5: Cardinality ratio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What information does a cardinality ratio provide in an ER model?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The data type of every attribute</a:t>
            </a:r>
            <a:br>
              <a:rPr lang="en-US" sz="2200" dirty="0"/>
            </a:br>
            <a:r>
              <a:rPr lang="en-US" sz="2200" dirty="0"/>
              <a:t>B. The maximum number of entities that can participate on each side of a relationship</a:t>
            </a:r>
            <a:br>
              <a:rPr lang="en-US" sz="2200" dirty="0"/>
            </a:br>
            <a:r>
              <a:rPr lang="en-US" sz="2200" dirty="0"/>
              <a:t>C. The number of columns in a database table</a:t>
            </a:r>
            <a:br>
              <a:rPr lang="en-US" sz="2200" dirty="0"/>
            </a:br>
            <a:r>
              <a:rPr lang="en-US" sz="2200" dirty="0"/>
              <a:t>D. Whether an attribute is stored or calculated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A9B19C-AD0D-AAC5-0C2D-1650CC415823}"/>
              </a:ext>
            </a:extLst>
          </p:cNvPr>
          <p:cNvSpPr/>
          <p:nvPr/>
        </p:nvSpPr>
        <p:spPr>
          <a:xfrm>
            <a:off x="0" y="2206494"/>
            <a:ext cx="10001956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A68DA-3495-46C9-16EB-2E169FED225A}"/>
              </a:ext>
            </a:extLst>
          </p:cNvPr>
          <p:cNvSpPr txBox="1"/>
          <p:nvPr/>
        </p:nvSpPr>
        <p:spPr>
          <a:xfrm>
            <a:off x="0" y="3771129"/>
            <a:ext cx="12191999" cy="3086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Explanation:</a:t>
            </a:r>
            <a:br>
              <a:rPr lang="en-US" sz="2200" dirty="0"/>
            </a:br>
            <a:r>
              <a:rPr lang="en-US" sz="2200" dirty="0"/>
              <a:t>Cardinality describes relationship patterns such as:</a:t>
            </a:r>
          </a:p>
          <a:p>
            <a:pPr lvl="0">
              <a:lnSpc>
                <a:spcPct val="150000"/>
              </a:lnSpc>
            </a:pPr>
            <a:r>
              <a:rPr lang="en-US" sz="2200" dirty="0"/>
              <a:t>One-to-one (1:1) </a:t>
            </a:r>
          </a:p>
          <a:p>
            <a:pPr lvl="0">
              <a:lnSpc>
                <a:spcPct val="150000"/>
              </a:lnSpc>
            </a:pPr>
            <a:r>
              <a:rPr lang="en-US" sz="2200" dirty="0"/>
              <a:t>One-to-many (1:N) </a:t>
            </a:r>
          </a:p>
          <a:p>
            <a:pPr lvl="0">
              <a:lnSpc>
                <a:spcPct val="150000"/>
              </a:lnSpc>
            </a:pPr>
            <a:r>
              <a:rPr lang="en-US" sz="2200" dirty="0"/>
              <a:t>Many-to-many (M:N)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It tells us the maximum number of related entity instances.</a:t>
            </a:r>
          </a:p>
        </p:txBody>
      </p:sp>
    </p:spTree>
    <p:extLst>
      <p:ext uri="{BB962C8B-B14F-4D97-AF65-F5344CB8AC3E}">
        <p14:creationId xmlns:p14="http://schemas.microsoft.com/office/powerpoint/2010/main" val="308601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B965D-F815-9405-6580-52F247BD8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9FF815-04B2-01A1-E1B4-74438DD2C63A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A2CA4D-3521-D1E5-FEB8-A0B8C5ACF668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1969A6-C6F7-8BBF-DFBB-B6E35EB17C97}"/>
              </a:ext>
            </a:extLst>
          </p:cNvPr>
          <p:cNvSpPr txBox="1"/>
          <p:nvPr/>
        </p:nvSpPr>
        <p:spPr>
          <a:xfrm>
            <a:off x="0" y="440269"/>
            <a:ext cx="12192000" cy="373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6: One-to-one relationship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An Australian employee is allocated one secure building-access card, and each card is allocated to no more than one employee. What is the relationship’s cardinality?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One-to-one</a:t>
            </a:r>
            <a:br>
              <a:rPr lang="en-US" sz="2200" dirty="0"/>
            </a:br>
            <a:r>
              <a:rPr lang="en-US" sz="2200" dirty="0"/>
              <a:t>B. One-to-many</a:t>
            </a:r>
            <a:br>
              <a:rPr lang="en-US" sz="2200" dirty="0"/>
            </a:br>
            <a:r>
              <a:rPr lang="en-US" sz="2200" dirty="0"/>
              <a:t>C. Many-to-one only</a:t>
            </a:r>
            <a:br>
              <a:rPr lang="en-US" sz="2200" dirty="0"/>
            </a:br>
            <a:r>
              <a:rPr lang="en-US" sz="2200" dirty="0"/>
              <a:t>D. Many-to-many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47E316-B06E-CABB-BA6F-96A47CE8A2D0}"/>
              </a:ext>
            </a:extLst>
          </p:cNvPr>
          <p:cNvSpPr/>
          <p:nvPr/>
        </p:nvSpPr>
        <p:spPr>
          <a:xfrm>
            <a:off x="0" y="2206494"/>
            <a:ext cx="10001956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031A5F-03E8-5F4C-2B58-EAAADF674BD8}"/>
              </a:ext>
            </a:extLst>
          </p:cNvPr>
          <p:cNvSpPr txBox="1"/>
          <p:nvPr/>
        </p:nvSpPr>
        <p:spPr>
          <a:xfrm>
            <a:off x="1" y="4272255"/>
            <a:ext cx="12191999" cy="257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Explanation:</a:t>
            </a:r>
            <a:br>
              <a:rPr lang="en-US" sz="2200" dirty="0"/>
            </a:br>
            <a:r>
              <a:rPr lang="en-US" sz="2200" dirty="0"/>
              <a:t>One employee has no more than one card, and one card belongs to no more than one employee.</a:t>
            </a:r>
          </a:p>
          <a:p>
            <a:pPr rtl="0">
              <a:lnSpc>
                <a:spcPct val="150000"/>
              </a:lnSpc>
            </a:pPr>
            <a:r>
              <a:rPr lang="en-US" sz="2200" dirty="0"/>
              <a:t>EMPLOYEE 1 — 1 ACCESS_CARD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The word “no more than” concerns the maximum cardinality. Either side may still be optional depending on the business rules.</a:t>
            </a:r>
          </a:p>
        </p:txBody>
      </p:sp>
    </p:spTree>
    <p:extLst>
      <p:ext uri="{BB962C8B-B14F-4D97-AF65-F5344CB8AC3E}">
        <p14:creationId xmlns:p14="http://schemas.microsoft.com/office/powerpoint/2010/main" val="302306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7659-B9AD-6FED-593A-DD2BA042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6479E7-67D7-81C2-F863-E359BC7FDB96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07046-11B5-1BF4-63AE-C17980367BEC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EA564-3665-5A0E-17F7-C4A69EFFA4E9}"/>
              </a:ext>
            </a:extLst>
          </p:cNvPr>
          <p:cNvSpPr txBox="1"/>
          <p:nvPr/>
        </p:nvSpPr>
        <p:spPr>
          <a:xfrm>
            <a:off x="0" y="440269"/>
            <a:ext cx="12192000" cy="373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7: One-to-many relationship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One Australian university offers many units, but each unit is administered by one university. What is the relationship from UNIVERSITY to UNIT?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One-to-one</a:t>
            </a:r>
            <a:br>
              <a:rPr lang="en-US" sz="2200" dirty="0"/>
            </a:br>
            <a:r>
              <a:rPr lang="en-US" sz="2200" dirty="0"/>
              <a:t>B. One-to-many</a:t>
            </a:r>
            <a:br>
              <a:rPr lang="en-US" sz="2200" dirty="0"/>
            </a:br>
            <a:r>
              <a:rPr lang="en-US" sz="2200" dirty="0"/>
              <a:t>C. Many-to-many</a:t>
            </a:r>
            <a:br>
              <a:rPr lang="en-US" sz="2200" dirty="0"/>
            </a:br>
            <a:r>
              <a:rPr lang="en-US" sz="2200" dirty="0"/>
              <a:t>D. Unary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225402-361B-FA40-3E00-AA521A3421A5}"/>
              </a:ext>
            </a:extLst>
          </p:cNvPr>
          <p:cNvSpPr/>
          <p:nvPr/>
        </p:nvSpPr>
        <p:spPr>
          <a:xfrm>
            <a:off x="0" y="2761728"/>
            <a:ext cx="10001956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FCDF1-7B4D-E5BF-3037-7D1FDEEF9375}"/>
              </a:ext>
            </a:extLst>
          </p:cNvPr>
          <p:cNvSpPr txBox="1"/>
          <p:nvPr/>
        </p:nvSpPr>
        <p:spPr>
          <a:xfrm>
            <a:off x="1" y="4272255"/>
            <a:ext cx="12191999" cy="207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Explanation:</a:t>
            </a:r>
            <a:br>
              <a:rPr lang="en-US" sz="2200" dirty="0"/>
            </a:br>
            <a:r>
              <a:rPr lang="en-US" sz="2200" dirty="0"/>
              <a:t>One university may offer many units, while each unit belongs to one university.</a:t>
            </a:r>
          </a:p>
          <a:p>
            <a:pPr rtl="0">
              <a:lnSpc>
                <a:spcPct val="150000"/>
              </a:lnSpc>
            </a:pPr>
            <a:r>
              <a:rPr lang="en-US" sz="2200" dirty="0"/>
              <a:t>UNIVERSITY 1 — N UNIT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The university’s identifier would normally appear as a foreign key in the UNIT table.</a:t>
            </a:r>
          </a:p>
        </p:txBody>
      </p:sp>
    </p:spTree>
    <p:extLst>
      <p:ext uri="{BB962C8B-B14F-4D97-AF65-F5344CB8AC3E}">
        <p14:creationId xmlns:p14="http://schemas.microsoft.com/office/powerpoint/2010/main" val="282512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6D1C-3082-28F6-B260-C91CCBF8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0C0640-82F3-F19F-6C9E-C07FE78AD035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AE476-B827-D610-8CCF-960456FF5E94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7534D0-4223-98DA-1256-2201B49DA4D0}"/>
              </a:ext>
            </a:extLst>
          </p:cNvPr>
          <p:cNvSpPr txBox="1"/>
          <p:nvPr/>
        </p:nvSpPr>
        <p:spPr>
          <a:xfrm>
            <a:off x="0" y="440269"/>
            <a:ext cx="12192000" cy="373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8: Many-to-many relationship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Students can </a:t>
            </a:r>
            <a:r>
              <a:rPr lang="en-US" sz="2200" dirty="0" err="1"/>
              <a:t>enrol</a:t>
            </a:r>
            <a:r>
              <a:rPr lang="en-US" sz="2200" dirty="0"/>
              <a:t> in several units, and each unit can include many students. What is the conceptual cardinality between STUDENT and UNIT?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One-to-one</a:t>
            </a:r>
            <a:br>
              <a:rPr lang="en-US" sz="2200" dirty="0"/>
            </a:br>
            <a:r>
              <a:rPr lang="en-US" sz="2200" dirty="0"/>
              <a:t>B. One-to-many</a:t>
            </a:r>
            <a:br>
              <a:rPr lang="en-US" sz="2200" dirty="0"/>
            </a:br>
            <a:r>
              <a:rPr lang="en-US" sz="2200" dirty="0"/>
              <a:t>C. Many-to-many</a:t>
            </a:r>
            <a:br>
              <a:rPr lang="en-US" sz="2200" dirty="0"/>
            </a:br>
            <a:r>
              <a:rPr lang="en-US" sz="2200" dirty="0"/>
              <a:t>D. Ternary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0046B2-A5C9-F882-6EA7-ED50E2EFC93D}"/>
              </a:ext>
            </a:extLst>
          </p:cNvPr>
          <p:cNvSpPr/>
          <p:nvPr/>
        </p:nvSpPr>
        <p:spPr>
          <a:xfrm>
            <a:off x="0" y="3226047"/>
            <a:ext cx="2336800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6B60B-F7D8-4233-ABA8-A289A9B89087}"/>
              </a:ext>
            </a:extLst>
          </p:cNvPr>
          <p:cNvSpPr txBox="1"/>
          <p:nvPr/>
        </p:nvSpPr>
        <p:spPr>
          <a:xfrm>
            <a:off x="3700586" y="2201262"/>
            <a:ext cx="8491414" cy="488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/>
              <a:t>Explanation) </a:t>
            </a:r>
            <a:r>
              <a:rPr lang="en-US" sz="2100" dirty="0"/>
              <a:t>A student may </a:t>
            </a:r>
            <a:r>
              <a:rPr lang="en-US" sz="2100" dirty="0" err="1"/>
              <a:t>enrol</a:t>
            </a:r>
            <a:r>
              <a:rPr lang="en-US" sz="2100" dirty="0"/>
              <a:t> in many units, and a unit may have many students.</a:t>
            </a:r>
          </a:p>
          <a:p>
            <a:pPr rtl="0">
              <a:lnSpc>
                <a:spcPct val="150000"/>
              </a:lnSpc>
            </a:pPr>
            <a:r>
              <a:rPr lang="en-US" sz="2000" dirty="0"/>
              <a:t>STUDENT M — N UNIT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In a relational database, this is normally resolved using an associative entity:</a:t>
            </a:r>
          </a:p>
          <a:p>
            <a:pPr rtl="0"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</a:rPr>
              <a:t>ENROLMENT</a:t>
            </a:r>
          </a:p>
          <a:p>
            <a:pPr rtl="0"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</a:rPr>
              <a:t>---------------------------</a:t>
            </a:r>
          </a:p>
          <a:p>
            <a:pPr rtl="0">
              <a:lnSpc>
                <a:spcPct val="150000"/>
              </a:lnSpc>
            </a:pPr>
            <a:r>
              <a:rPr lang="en-US" sz="2000" dirty="0" err="1">
                <a:highlight>
                  <a:srgbClr val="FFFF00"/>
                </a:highlight>
              </a:rPr>
              <a:t>StudentID</a:t>
            </a:r>
            <a:endParaRPr lang="en-US" sz="2000" dirty="0">
              <a:highlight>
                <a:srgbClr val="FFFF00"/>
              </a:highlight>
            </a:endParaRPr>
          </a:p>
          <a:p>
            <a:pPr rtl="0">
              <a:lnSpc>
                <a:spcPct val="150000"/>
              </a:lnSpc>
            </a:pPr>
            <a:r>
              <a:rPr lang="en-US" sz="2000" dirty="0" err="1">
                <a:highlight>
                  <a:srgbClr val="FFFF00"/>
                </a:highlight>
              </a:rPr>
              <a:t>UnitCode</a:t>
            </a:r>
            <a:endParaRPr lang="en-US" sz="2000" dirty="0">
              <a:highlight>
                <a:srgbClr val="FFFF00"/>
              </a:highlight>
            </a:endParaRPr>
          </a:p>
          <a:p>
            <a:pPr rtl="0"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</a:rPr>
              <a:t>Semester</a:t>
            </a:r>
          </a:p>
          <a:p>
            <a:pPr rtl="0"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344015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EF1B3-97BB-96BB-8AEC-2D45246E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48EA78-893E-EE7D-8C15-DD6961E1FF4C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EA49A-4372-4AD3-3972-A79C067CE390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25FC7-2694-9428-BA6B-EF4530D89BF1}"/>
              </a:ext>
            </a:extLst>
          </p:cNvPr>
          <p:cNvSpPr txBox="1"/>
          <p:nvPr/>
        </p:nvSpPr>
        <p:spPr>
          <a:xfrm>
            <a:off x="0" y="440269"/>
            <a:ext cx="12192000" cy="322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9: Relationship degree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 relationship connects SUPPLIER, PRODUCT and WAREHOUSE. What is its degree?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Unary</a:t>
            </a:r>
            <a:br>
              <a:rPr lang="en-US" sz="2200" dirty="0"/>
            </a:br>
            <a:r>
              <a:rPr lang="en-US" sz="2200" dirty="0"/>
              <a:t>B. Binary</a:t>
            </a:r>
            <a:br>
              <a:rPr lang="en-US" sz="2200" dirty="0"/>
            </a:br>
            <a:r>
              <a:rPr lang="en-US" sz="2200" dirty="0"/>
              <a:t>C. Ternary</a:t>
            </a:r>
            <a:br>
              <a:rPr lang="en-US" sz="2200" dirty="0"/>
            </a:br>
            <a:r>
              <a:rPr lang="en-US" sz="2200" dirty="0"/>
              <a:t>D. Recursive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2792FB-9D08-B2B8-93CF-229E0E7572EB}"/>
              </a:ext>
            </a:extLst>
          </p:cNvPr>
          <p:cNvSpPr/>
          <p:nvPr/>
        </p:nvSpPr>
        <p:spPr>
          <a:xfrm>
            <a:off x="0" y="2695469"/>
            <a:ext cx="2336800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0E8A17-8FE8-27FD-FE25-0848DDEABE8A}"/>
              </a:ext>
            </a:extLst>
          </p:cNvPr>
          <p:cNvSpPr txBox="1"/>
          <p:nvPr/>
        </p:nvSpPr>
        <p:spPr>
          <a:xfrm>
            <a:off x="3700586" y="2201262"/>
            <a:ext cx="8491414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Explanation:</a:t>
            </a:r>
            <a:br>
              <a:rPr lang="en-US" sz="2400" dirty="0"/>
            </a:br>
            <a:r>
              <a:rPr lang="en-US" sz="2400" dirty="0"/>
              <a:t>The degree of a relationship is the number of participating entity types.</a:t>
            </a:r>
          </a:p>
          <a:p>
            <a:pPr marL="541338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One entity type: unary </a:t>
            </a:r>
          </a:p>
          <a:p>
            <a:pPr marL="541338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Two entity types: binary </a:t>
            </a:r>
          </a:p>
          <a:p>
            <a:pPr marL="541338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Three entity types: ternary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relationship involves three entity types, so it is ternary.</a:t>
            </a:r>
          </a:p>
        </p:txBody>
      </p:sp>
    </p:spTree>
    <p:extLst>
      <p:ext uri="{BB962C8B-B14F-4D97-AF65-F5344CB8AC3E}">
        <p14:creationId xmlns:p14="http://schemas.microsoft.com/office/powerpoint/2010/main" val="41278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F835E-7664-1688-5075-7D48B2B3C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22CD1E-F473-6B6D-63D3-60BEAEC0F233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6A124-4DB1-4329-07B2-BF27FD074BBA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FE531-89DF-019A-6C42-617EC21DB09F}"/>
              </a:ext>
            </a:extLst>
          </p:cNvPr>
          <p:cNvSpPr txBox="1"/>
          <p:nvPr/>
        </p:nvSpPr>
        <p:spPr>
          <a:xfrm>
            <a:off x="0" y="440269"/>
            <a:ext cx="12192000" cy="373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10: Binary relationship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In a medical-clinic database, PATIENT books an APPOINTMENT. What is the degree of the books relationship?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Unary</a:t>
            </a:r>
            <a:br>
              <a:rPr lang="en-US" sz="2200" dirty="0"/>
            </a:br>
            <a:r>
              <a:rPr lang="en-US" sz="2200" dirty="0"/>
              <a:t>B. Binary</a:t>
            </a:r>
            <a:br>
              <a:rPr lang="en-US" sz="2200" dirty="0"/>
            </a:br>
            <a:r>
              <a:rPr lang="en-US" sz="2200" dirty="0"/>
              <a:t>C. Ternary</a:t>
            </a:r>
            <a:br>
              <a:rPr lang="en-US" sz="2200" dirty="0"/>
            </a:br>
            <a:r>
              <a:rPr lang="en-US" sz="2200" dirty="0"/>
              <a:t>D. Quaternary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CD0575-A3C3-A585-5059-F9686950CF9F}"/>
              </a:ext>
            </a:extLst>
          </p:cNvPr>
          <p:cNvSpPr/>
          <p:nvPr/>
        </p:nvSpPr>
        <p:spPr>
          <a:xfrm>
            <a:off x="0" y="2695469"/>
            <a:ext cx="2336800" cy="380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5D15D-A8ED-27C9-AC40-E69BD6A08F09}"/>
              </a:ext>
            </a:extLst>
          </p:cNvPr>
          <p:cNvSpPr txBox="1"/>
          <p:nvPr/>
        </p:nvSpPr>
        <p:spPr>
          <a:xfrm>
            <a:off x="3700586" y="2201262"/>
            <a:ext cx="8491414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Explanation:</a:t>
            </a:r>
            <a:br>
              <a:rPr lang="en-US" sz="2400" dirty="0"/>
            </a:br>
            <a:r>
              <a:rPr lang="en-US" sz="2400" dirty="0"/>
              <a:t>A binary relationship involves two entity types. In this example, the participants are: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PATIENT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APPOINTMENT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number of individual patients or appointments does not determine the degree. The degree depends on the number of participating entity types.</a:t>
            </a:r>
          </a:p>
        </p:txBody>
      </p:sp>
    </p:spTree>
    <p:extLst>
      <p:ext uri="{BB962C8B-B14F-4D97-AF65-F5344CB8AC3E}">
        <p14:creationId xmlns:p14="http://schemas.microsoft.com/office/powerpoint/2010/main" val="53335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AE5EE-FB71-6ABC-CA30-C9C2C8E1A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318694-48E3-A619-6383-7E6CD58C3FC4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E9594-A9DB-2567-FA81-AF2B629F5F0E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D0E74-83B0-40AE-4036-A406D1C1050D}"/>
              </a:ext>
            </a:extLst>
          </p:cNvPr>
          <p:cNvSpPr txBox="1"/>
          <p:nvPr/>
        </p:nvSpPr>
        <p:spPr>
          <a:xfrm>
            <a:off x="0" y="440269"/>
            <a:ext cx="12192000" cy="373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11: Recursive relationship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An EMPLOYEE may supervise other employees in the same </a:t>
            </a:r>
            <a:r>
              <a:rPr lang="en-US" sz="2200" dirty="0" err="1"/>
              <a:t>organisation</a:t>
            </a:r>
            <a:r>
              <a:rPr lang="en-US" sz="2200" dirty="0"/>
              <a:t>. How should this relationship be classified?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Recursive relationship</a:t>
            </a:r>
            <a:br>
              <a:rPr lang="en-US" sz="2200" dirty="0"/>
            </a:br>
            <a:r>
              <a:rPr lang="en-US" sz="2200" dirty="0"/>
              <a:t>B. Ternary relationship</a:t>
            </a:r>
            <a:br>
              <a:rPr lang="en-US" sz="2200" dirty="0"/>
            </a:br>
            <a:r>
              <a:rPr lang="en-US" sz="2200" dirty="0"/>
              <a:t>C. Identifying relationship</a:t>
            </a:r>
            <a:br>
              <a:rPr lang="en-US" sz="2200" dirty="0"/>
            </a:br>
            <a:r>
              <a:rPr lang="en-US" sz="2200" dirty="0"/>
              <a:t>D. Relationship between two databases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0B430E-90EF-3D69-6719-AA013C2C12C0}"/>
              </a:ext>
            </a:extLst>
          </p:cNvPr>
          <p:cNvSpPr/>
          <p:nvPr/>
        </p:nvSpPr>
        <p:spPr>
          <a:xfrm>
            <a:off x="0" y="2201262"/>
            <a:ext cx="2946400" cy="4290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EF829-A915-1E66-BF49-D0073B9BEC31}"/>
              </a:ext>
            </a:extLst>
          </p:cNvPr>
          <p:cNvSpPr txBox="1"/>
          <p:nvPr/>
        </p:nvSpPr>
        <p:spPr>
          <a:xfrm>
            <a:off x="5012267" y="1968263"/>
            <a:ext cx="7179733" cy="488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/>
              <a:t>Explanation:</a:t>
            </a:r>
            <a:br>
              <a:rPr lang="en-US" sz="2100" dirty="0"/>
            </a:br>
            <a:r>
              <a:rPr lang="en-US" sz="2100" dirty="0"/>
              <a:t>A recursive relationship occurs when the same entity type participates more than once in different roles.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In this case, both participants are employees, but they have different roles:</a:t>
            </a:r>
          </a:p>
          <a:p>
            <a:pPr rtl="0">
              <a:lnSpc>
                <a:spcPct val="150000"/>
              </a:lnSpc>
            </a:pPr>
            <a:r>
              <a:rPr lang="en-US" sz="2100" dirty="0"/>
              <a:t>EMPLOYEE</a:t>
            </a:r>
          </a:p>
          <a:p>
            <a:pPr rtl="0">
              <a:lnSpc>
                <a:spcPct val="150000"/>
              </a:lnSpc>
            </a:pPr>
            <a:r>
              <a:rPr lang="en-US" sz="2100" dirty="0"/>
              <a:t>├ Supervisor role</a:t>
            </a:r>
          </a:p>
          <a:p>
            <a:pPr rtl="0">
              <a:lnSpc>
                <a:spcPct val="150000"/>
              </a:lnSpc>
            </a:pPr>
            <a:r>
              <a:rPr lang="en-US" sz="2100" dirty="0"/>
              <a:t> └─ Subordinate role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The relationship does not mean that an employee supervises themselves.</a:t>
            </a:r>
          </a:p>
        </p:txBody>
      </p:sp>
    </p:spTree>
    <p:extLst>
      <p:ext uri="{BB962C8B-B14F-4D97-AF65-F5344CB8AC3E}">
        <p14:creationId xmlns:p14="http://schemas.microsoft.com/office/powerpoint/2010/main" val="326396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D3559-C377-BC00-F9ED-C99508241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7ED578-5681-E11B-CE0C-57EA734AF0FD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BF4E6-851F-46FF-7358-57489979F9C9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C17311-3590-D54A-984F-4682A1FAC5FD}"/>
              </a:ext>
            </a:extLst>
          </p:cNvPr>
          <p:cNvSpPr txBox="1"/>
          <p:nvPr/>
        </p:nvSpPr>
        <p:spPr>
          <a:xfrm>
            <a:off x="0" y="440269"/>
            <a:ext cx="12192000" cy="373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12: Total participation of a weak entity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Every ORDER_ITEM must be connected to an ORDER, and an order item cannot exist independently. Which statement is correct?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ORDER_ITEM has optional participation in the identifying relationship</a:t>
            </a:r>
            <a:br>
              <a:rPr lang="en-US" sz="2200" dirty="0"/>
            </a:br>
            <a:r>
              <a:rPr lang="en-US" sz="2200" dirty="0"/>
              <a:t>B. ORDER_ITEM has total participation in the identifying relationship</a:t>
            </a:r>
            <a:br>
              <a:rPr lang="en-US" sz="2200" dirty="0"/>
            </a:br>
            <a:r>
              <a:rPr lang="en-US" sz="2200" dirty="0"/>
              <a:t>C. ORDER must be a multivalued attribute</a:t>
            </a:r>
            <a:br>
              <a:rPr lang="en-US" sz="2200" dirty="0"/>
            </a:br>
            <a:r>
              <a:rPr lang="en-US" sz="2200" dirty="0"/>
              <a:t>D. The relationship must be recursive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FA87E3-3D66-E521-9492-3E452FEDD50B}"/>
              </a:ext>
            </a:extLst>
          </p:cNvPr>
          <p:cNvSpPr/>
          <p:nvPr/>
        </p:nvSpPr>
        <p:spPr>
          <a:xfrm>
            <a:off x="-1" y="2201262"/>
            <a:ext cx="8444090" cy="4967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DB83F-B7F3-4898-318B-1045A2548319}"/>
              </a:ext>
            </a:extLst>
          </p:cNvPr>
          <p:cNvSpPr txBox="1"/>
          <p:nvPr/>
        </p:nvSpPr>
        <p:spPr>
          <a:xfrm>
            <a:off x="5012267" y="3771129"/>
            <a:ext cx="7179733" cy="3086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Explanation:</a:t>
            </a:r>
            <a:br>
              <a:rPr lang="en-US" sz="2200" dirty="0"/>
            </a:br>
            <a:r>
              <a:rPr lang="en-US" sz="2200" dirty="0"/>
              <a:t>Total participation means every instance of an entity must participate in the relationship.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An order item such as “Item 3” has no business meaning unless it belongs to a particular order. Therefore, every ORDER_ITEM must be connected to an ORDER.</a:t>
            </a:r>
          </a:p>
        </p:txBody>
      </p:sp>
    </p:spTree>
    <p:extLst>
      <p:ext uri="{BB962C8B-B14F-4D97-AF65-F5344CB8AC3E}">
        <p14:creationId xmlns:p14="http://schemas.microsoft.com/office/powerpoint/2010/main" val="40605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D730-2362-968F-3601-B9E307C0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C97FB-F07B-7BF8-2230-A1933BF6021B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96C57D-DB67-A541-78BF-B48B9A3A298B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82E892-F781-5973-BE60-98FB984234C5}"/>
              </a:ext>
            </a:extLst>
          </p:cNvPr>
          <p:cNvSpPr txBox="1"/>
          <p:nvPr/>
        </p:nvSpPr>
        <p:spPr>
          <a:xfrm>
            <a:off x="0" y="440269"/>
            <a:ext cx="12192000" cy="373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13: Minimum participation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In a library database, a member may register before borrowing any book. What is the minimum participation of MEMBER in the BORROWS relationship?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Zero</a:t>
            </a:r>
            <a:br>
              <a:rPr lang="en-US" sz="2200" dirty="0"/>
            </a:br>
            <a:r>
              <a:rPr lang="en-US" sz="2200" dirty="0"/>
              <a:t>B. One</a:t>
            </a:r>
            <a:br>
              <a:rPr lang="en-US" sz="2200" dirty="0"/>
            </a:br>
            <a:r>
              <a:rPr lang="en-US" sz="2200" dirty="0"/>
              <a:t>C. Many</a:t>
            </a:r>
            <a:br>
              <a:rPr lang="en-US" sz="2200" dirty="0"/>
            </a:br>
            <a:r>
              <a:rPr lang="en-US" sz="2200" dirty="0"/>
              <a:t>D. Exactly two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9CC1B2-F307-91FA-ABFA-DB4B4A72C9FF}"/>
              </a:ext>
            </a:extLst>
          </p:cNvPr>
          <p:cNvSpPr/>
          <p:nvPr/>
        </p:nvSpPr>
        <p:spPr>
          <a:xfrm>
            <a:off x="0" y="2178685"/>
            <a:ext cx="8444090" cy="4967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24EA5-D537-BAD6-7C55-A2132D150C5B}"/>
              </a:ext>
            </a:extLst>
          </p:cNvPr>
          <p:cNvSpPr txBox="1"/>
          <p:nvPr/>
        </p:nvSpPr>
        <p:spPr>
          <a:xfrm>
            <a:off x="5012267" y="3498939"/>
            <a:ext cx="7179733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Explanation:</a:t>
            </a:r>
            <a:br>
              <a:rPr lang="en-US" sz="2400" dirty="0"/>
            </a:br>
            <a:r>
              <a:rPr lang="en-US" sz="2400" dirty="0"/>
              <a:t>A newly registered member may not have borrowed anything yet. Therefore, participation in BORROWS is optional for MEMBER.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minimum is zero:</a:t>
            </a:r>
          </a:p>
          <a:p>
            <a:pPr rtl="0">
              <a:lnSpc>
                <a:spcPct val="150000"/>
              </a:lnSpc>
            </a:pPr>
            <a:r>
              <a:rPr lang="en-US" sz="2400" dirty="0"/>
              <a:t>MEMBER participation: 0..many</a:t>
            </a:r>
          </a:p>
        </p:txBody>
      </p:sp>
    </p:spTree>
    <p:extLst>
      <p:ext uri="{BB962C8B-B14F-4D97-AF65-F5344CB8AC3E}">
        <p14:creationId xmlns:p14="http://schemas.microsoft.com/office/powerpoint/2010/main" val="5716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06DB-6CA8-139F-9277-69BEED4B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29E7F-0B8E-6232-AA85-7DF230BEAD14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0A6FD6-DFCE-584D-B6C8-D9F296D0E2F0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6CF10-EDC6-7B53-B324-672E00812447}"/>
              </a:ext>
            </a:extLst>
          </p:cNvPr>
          <p:cNvSpPr txBox="1"/>
          <p:nvPr/>
        </p:nvSpPr>
        <p:spPr>
          <a:xfrm>
            <a:off x="0" y="440269"/>
            <a:ext cx="12192000" cy="373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14: Maximum participation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 branch manager manages only one bank branch, and each branch has only one manager. What is the maximum cardinality on both sides?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Many and many</a:t>
            </a:r>
            <a:br>
              <a:rPr lang="en-US" sz="2200" dirty="0"/>
            </a:br>
            <a:r>
              <a:rPr lang="en-US" sz="2200" dirty="0"/>
              <a:t>B. One and many</a:t>
            </a:r>
            <a:br>
              <a:rPr lang="en-US" sz="2200" dirty="0"/>
            </a:br>
            <a:r>
              <a:rPr lang="en-US" sz="2200" dirty="0"/>
              <a:t>C. One and one</a:t>
            </a:r>
            <a:br>
              <a:rPr lang="en-US" sz="2200" dirty="0"/>
            </a:br>
            <a:r>
              <a:rPr lang="en-US" sz="2200" dirty="0"/>
              <a:t>D. Zero and zero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8C9AB8-A225-7A64-3052-60B2F95C96D9}"/>
              </a:ext>
            </a:extLst>
          </p:cNvPr>
          <p:cNvSpPr/>
          <p:nvPr/>
        </p:nvSpPr>
        <p:spPr>
          <a:xfrm>
            <a:off x="0" y="3180609"/>
            <a:ext cx="4109156" cy="4967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0C408-7FF4-E1F1-1F6D-EF21DBA8D217}"/>
              </a:ext>
            </a:extLst>
          </p:cNvPr>
          <p:cNvSpPr txBox="1"/>
          <p:nvPr/>
        </p:nvSpPr>
        <p:spPr>
          <a:xfrm>
            <a:off x="5012267" y="2755467"/>
            <a:ext cx="7179733" cy="410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Explanation:</a:t>
            </a:r>
            <a:br>
              <a:rPr lang="en-US" sz="2200" dirty="0"/>
            </a:br>
            <a:r>
              <a:rPr lang="en-US" sz="2200" dirty="0"/>
              <a:t>The maximum number of related entities on both sides is one:</a:t>
            </a:r>
          </a:p>
          <a:p>
            <a:pPr rtl="0">
              <a:lnSpc>
                <a:spcPct val="150000"/>
              </a:lnSpc>
            </a:pPr>
            <a:r>
              <a:rPr lang="en-US" sz="2200" dirty="0"/>
              <a:t>MANAGER 1 — 1 BRANCH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However, maximum cardinality does not tell us whether participation is mandatory. Separate minimum-participation rules are needed to show whether a branch may temporarily have no manager.</a:t>
            </a:r>
          </a:p>
        </p:txBody>
      </p:sp>
    </p:spTree>
    <p:extLst>
      <p:ext uri="{BB962C8B-B14F-4D97-AF65-F5344CB8AC3E}">
        <p14:creationId xmlns:p14="http://schemas.microsoft.com/office/powerpoint/2010/main" val="11704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76B7E-4F37-893E-19E6-B607BB53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D91C25-B92D-9FBC-BCF7-5CE05B09952C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EBD28-16D7-3600-576C-14F2D1A4D864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9CCAE0-512D-FBE4-F360-9F06199159E6}"/>
              </a:ext>
            </a:extLst>
          </p:cNvPr>
          <p:cNvSpPr txBox="1"/>
          <p:nvPr/>
        </p:nvSpPr>
        <p:spPr>
          <a:xfrm>
            <a:off x="0" y="440269"/>
            <a:ext cx="12192000" cy="373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Question 15: Relationship attribute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 student </a:t>
            </a:r>
            <a:r>
              <a:rPr lang="en-US" sz="2200" dirty="0" err="1"/>
              <a:t>enrols</a:t>
            </a:r>
            <a:r>
              <a:rPr lang="en-US" sz="2200" dirty="0"/>
              <a:t> in a unit, and the database records the student’s final result for that enrolment. Where should </a:t>
            </a:r>
            <a:r>
              <a:rPr lang="en-US" sz="2200" dirty="0" err="1"/>
              <a:t>FinalResult</a:t>
            </a:r>
            <a:r>
              <a:rPr lang="en-US" sz="2200" dirty="0"/>
              <a:t> normally belong?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A. To the STUDENT entity only</a:t>
            </a:r>
            <a:br>
              <a:rPr lang="en-US" sz="2200" dirty="0"/>
            </a:br>
            <a:r>
              <a:rPr lang="en-US" sz="2200" dirty="0"/>
              <a:t>B. To the UNIT entity only</a:t>
            </a:r>
            <a:br>
              <a:rPr lang="en-US" sz="2200" dirty="0"/>
            </a:br>
            <a:r>
              <a:rPr lang="en-US" sz="2200" dirty="0"/>
              <a:t>C. To the ENROLMENT relationship or associative entity</a:t>
            </a:r>
            <a:br>
              <a:rPr lang="en-US" sz="2200" dirty="0"/>
            </a:br>
            <a:r>
              <a:rPr lang="en-US" sz="2200" dirty="0"/>
              <a:t>D. To the university’s address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60C03D-C9BB-969E-A406-DBDFE04137F2}"/>
              </a:ext>
            </a:extLst>
          </p:cNvPr>
          <p:cNvSpPr/>
          <p:nvPr/>
        </p:nvSpPr>
        <p:spPr>
          <a:xfrm>
            <a:off x="-1" y="3180609"/>
            <a:ext cx="6434667" cy="4967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84A6F-A9C6-BE54-BFC3-588864126783}"/>
              </a:ext>
            </a:extLst>
          </p:cNvPr>
          <p:cNvSpPr txBox="1"/>
          <p:nvPr/>
        </p:nvSpPr>
        <p:spPr>
          <a:xfrm>
            <a:off x="6626578" y="1968263"/>
            <a:ext cx="5565422" cy="488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/>
              <a:t>Explanation:</a:t>
            </a:r>
            <a:br>
              <a:rPr lang="en-US" sz="2100" dirty="0"/>
            </a:br>
            <a:r>
              <a:rPr lang="en-US" sz="2100" dirty="0"/>
              <a:t>A result is connected to a particular student taking a particular unit. It does not describe the student generally or the unit generally.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For example:</a:t>
            </a:r>
          </a:p>
          <a:p>
            <a:pPr rtl="0">
              <a:lnSpc>
                <a:spcPct val="150000"/>
              </a:lnSpc>
            </a:pPr>
            <a:r>
              <a:rPr lang="en-US" sz="2100" dirty="0" err="1"/>
              <a:t>StudentID</a:t>
            </a:r>
            <a:r>
              <a:rPr lang="en-US" sz="2100" dirty="0"/>
              <a:t> | </a:t>
            </a:r>
            <a:r>
              <a:rPr lang="en-US" sz="2100" dirty="0" err="1"/>
              <a:t>UnitCode</a:t>
            </a:r>
            <a:r>
              <a:rPr lang="en-US" sz="2100" dirty="0"/>
              <a:t> | </a:t>
            </a:r>
            <a:r>
              <a:rPr lang="en-US" sz="2100" dirty="0" err="1"/>
              <a:t>FinalResult</a:t>
            </a:r>
            <a:endParaRPr lang="en-US" sz="2100" dirty="0"/>
          </a:p>
          <a:p>
            <a:pPr rtl="0">
              <a:lnSpc>
                <a:spcPct val="150000"/>
              </a:lnSpc>
            </a:pPr>
            <a:r>
              <a:rPr lang="en-US" sz="2100" dirty="0"/>
              <a:t>S1001        | HI5033     | 78</a:t>
            </a:r>
          </a:p>
          <a:p>
            <a:pPr rtl="0">
              <a:lnSpc>
                <a:spcPct val="150000"/>
              </a:lnSpc>
            </a:pPr>
            <a:r>
              <a:rPr lang="en-US" sz="2100" dirty="0"/>
              <a:t>S1001        | HI5003     | 85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The same student may receive different results in different units.</a:t>
            </a:r>
          </a:p>
        </p:txBody>
      </p:sp>
    </p:spTree>
    <p:extLst>
      <p:ext uri="{BB962C8B-B14F-4D97-AF65-F5344CB8AC3E}">
        <p14:creationId xmlns:p14="http://schemas.microsoft.com/office/powerpoint/2010/main" val="229788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3031</Words>
  <Application>Microsoft Office PowerPoint</Application>
  <DocSecurity>0</DocSecurity>
  <PresentationFormat>Widescreen</PresentationFormat>
  <Paragraphs>269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Farshid Keivanian</cp:lastModifiedBy>
  <cp:revision>39</cp:revision>
  <dcterms:created xsi:type="dcterms:W3CDTF">2026-07-31T02:32:39Z</dcterms:created>
  <dcterms:modified xsi:type="dcterms:W3CDTF">2026-08-07T04:01:16Z</dcterms:modified>
</cp:coreProperties>
</file>